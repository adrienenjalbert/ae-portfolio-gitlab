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I read this brief less as an AI problem and more as an organisation problem. In a company this size the model is the easy part. What decides success is data you can trust, integration into the stack you already run, UX teams will actually adopt, and buy-in that survives shifting priorities. That is what this deck is built around.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spine of the whole submission. I have shipped AI features before, so I know the demo is not the hard bit. In a lean org with competing priorities, the risk is a clever tool nobody adopts. These four pillars, data, integration, UX and change management, are where I would put the work, and every later slide maps back to one of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orientation so you can follow the mapping: the deck answers the brief in its own order, each slide is badged with its question number, and I close with the four things that make this work in a large organisation. Feel free to jump to any question.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insight. The flat discount averages two opposite realities. First-purchase discounts are genuinely incremental and worth protecting. Repeat discounts are largely deadweight, we are paying loyal customers to do what they would do anyway. The trap is redemption: UK repeat has the highest redemption and almost the lowest incrementality, so a busy-looking promo is quietly losing money.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angle here: redemption is a vanity metric, so I map every segment on two axes, redemption (how many take it) against incrementality (how many actually needed it). The winners sit high regardless of redemption; the value leaks in the bottom-right, where UK Repeat redeems the most and needs it least. Then I back it with the maths: cost per incremental booking (promo divided by incrementality) shows repeat costs ~3x more, and deadweight (promo times one-minus-incrementality) shows ~70% of repeat spend is wasted. With more data I'd add iROAS, LTV:CAC, CUPED for variance and uplift modelling to find who's actually persuadable.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directly answers the 'incrementality is in both columns' question. The resolution is the mark of someone who's done real experimentation: I trust incrementality as a metric TYPE because it's causal, but a causal metric is only as trustworthy as the experiment that produced it. France and Italy had broken randomisation, so their incrementality is biased, not merely uncertain. And with no sample sizes I can't attach confidence. So I trust the concept, and I interrogate the measurement. I'd also flag the classic attribution traps: redemption is self-selected, last-click over-credits, and pooling markets can flip the result via Simpson's paradox.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'ask good questions before recommending' signal the brief rewards. The discipline is that every request is tied to a decision it would flip, not data for its own sake. CLV and margin decide whether marginal acquisition segments are worth it; sample size and holdout integrity decide what I'm even allowed to act on; traffic and device change targeting and eligibility.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Fewer, higher-quality experiments. Each protects the base while it learns and serves Finance's goal of spending less without losing bookings. The strongest signal here is what I refuse to test: France and Italy, because acting on flagged data is how you learn the wrong thing and waste a slot.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I would linger on because it signals I have actually shipped in a big org. The directional flag is a symptom of shaky experiment infrastructure. If we skip the data work and point a recommendation engine at it, we get exactly the Part 3 failure. So the first deliverable is not a model, it is trustworthy data and a clean holdout. That also happens to be the cheapest way to earn credibility.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anchored this on CRISP-DM on purpose, it's the framework I used for my Level 7 AI project at Indeed Flex. The point I'd make live: the reason most enterprise AI fails isn't the model, it's skipping business and data understanding, and never closing the feedback loop. So phases 1 and 2 are highlighted, the 'is it worth it / do we even need a model' gate sits at the front, humans own the Evaluation gate, and the whole thing is a cycle that compounds. It also cleanly covers the six required elements.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re-ranked call: build one thing for quality (the spec generator) and one for adoption (the dashboard). I moved the dashboard up deliberately, because in a big org a system nobody can see the value of doesn't get resourced, visibility is how you earn change management and buy-in. The learning brief and QA follow fast. The recommendation engine is last on purpose: it's the flashiest and it's exactly what blew up in Part 3, so it only earns autonomy once the data, guardrails and QA exist.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upgrade from a plain 'second brain' is that this system grades its own evidence. Every experiment is stored as a structured record with an evidence grade: A for a clean holdout down to D for a qualitative hunch. The middle layer, the evidence base, is the only thing that compounds, one living belief per market-segment-offer with its effect size, uncertainty and how fresh it is. Two agents work it: an Analytics agent closes the loop (grade a finished experiment, update the belief, flag contradictions, regenerate the dashboard and note), and a Spec agent opens the next one (pull the graded priors, draft a reviewable spec). The one rule that matters, and the thing that would have prevented the Part 3 German failure, is that a grade-D hunch can never overrule a grade-A holdout. Humans validate through a candidate-to-confirmed sign-off, and success is whether retrieved evidence actually changed a decision, not how many pages it holds.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Personas are the part most likely to be misused, so I'm deliberate: they generate hypotheses, they don't make decisions. Each is grounded in the segment data, France and Italy are explicitly low-trust because of the flag, and I bake in bias controls, tracking prediction vs reality, and clear rules for when to ignore it. That balance of automation and oversight is exactly what the brief asks for.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frame success as a maturity curve, not one number. Before we build, time saved is the hypothesis that justifies the investment, that's the business case. During the build I watch system quality: accuracy, experiment quality, QA catch rate. At launch the metric that matters is adoption, and adoption depends as much on UX, enablement and how we roll it out as on the model itself, which then shows up as stakeholder satisfaction. Only at six months do I judge revenue and ROI, and I'd net ROI against run-cost because these systems are genuinely expensive to operate. This mirrors how I measured my Indeed Flex project: adoption (queries/week) and ROI, not just accuracy.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Braze is an example of the lifecycle layer, the point is the shape: AI in the middle of the stack, not beside it. A marketer should get a recommendation inside the tool they already use to send campaigns, not in a separate dashboard they have to remember to open. I flag integration ownership early because that is the classic failure mode in big companies.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adoption argument and it is where a lot of AI initiatives fail. A chatbot puts the burden on the user to know what to ask. I'd flip it: the AI shows up already doing the job, in context, for a specific role. That is also a UX and design workload, writing the microcopy, fitting existing tools, which I'd resource deliberately rather than assume.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investigate each with a specific check, but the pattern matters more than the list: the engine failed quietly because the offer was mis-priced, aimed at the wrong segment, and optimised on correlation rather than incrementality. This is the evidence for the build order on the previous 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deliberately experiment-led and low-drama. I refuse the false cut-vs-keep choice. Instead: sample the risk with a holdout so we never bet the whole programme; pre-agree the decision rule up front so the result decides rather than whoever's most senior; and put both stakeholders on one live scorecard so we win by numbers, not opinion. It hits everything they're looking for, recognising uncertainty, reducing risk while learning, and communicating with both a finance and a commercial audience.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that most AI plans skip. In a lean org you do not get a blank cheque, you get a chance to prove something small. Each phase produces a win that unlocks the next and keeps dependencies minimal. The data clean-up is first precisely because it needs no engineering and instantly builds credibility with Finance and analysts.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single idea and make the ask concrete. I'm not pitching a moonshot, I'm pitching a testable assumption plus a learning loop, delivered in stages. The three things I'd need are small and specific, which is deliberate: it signals I know how to start in a constrained org and build from a first win.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640080"/>
            <a:ext cx="1554480" cy="1554480"/>
          </a:xfrm>
          <a:prstGeom prst="ellipse">
            <a:avLst/>
          </a:prstGeom>
          <a:solidFill>
            <a:srgbClr val="122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1737360"/>
            <a:ext cx="822960" cy="822960"/>
          </a:xfrm>
          <a:prstGeom prst="ellipse">
            <a:avLst/>
          </a:prstGeom>
          <a:solidFill>
            <a:srgbClr val="005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509760" y="5394960"/>
            <a:ext cx="1097280" cy="1097280"/>
          </a:xfrm>
          <a:prstGeom prst="ellipse">
            <a:avLst/>
          </a:prstGeom>
          <a:solidFill>
            <a:srgbClr val="122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417320"/>
            <a:ext cx="502920" cy="50292"/>
          </a:xfrm>
          <a:prstGeom prst="rect">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45920"/>
            <a:ext cx="7315200" cy="320040"/>
          </a:xfrm>
          <a:prstGeom prst="rect">
            <a:avLst/>
          </a:prstGeom>
          <a:noFill/>
        </p:spPr>
        <p:txBody>
          <a:bodyPr wrap="square" anchor="t" lIns="0" rIns="0" tIns="0" bIns="0">
            <a:spAutoFit/>
          </a:bodyPr>
          <a:lstStyle/>
          <a:p>
            <a:pPr algn="l">
              <a:lnSpc>
                <a:spcPct val="100000"/>
              </a:lnSpc>
            </a:pPr>
            <a:r>
              <a:rPr sz="1200" b="1" i="0">
                <a:solidFill>
                  <a:srgbClr val="34E0A1"/>
                </a:solidFill>
                <a:latin typeface="Avenir Next"/>
              </a:rPr>
              <a:t>INTERVIEW CASE STUDY  ·  INTERNATIONAL INCENTIVES</a:t>
            </a:r>
          </a:p>
        </p:txBody>
      </p:sp>
      <p:sp>
        <p:nvSpPr>
          <p:cNvPr id="8" name="TextBox 7"/>
          <p:cNvSpPr txBox="1"/>
          <p:nvPr/>
        </p:nvSpPr>
        <p:spPr>
          <a:xfrm>
            <a:off x="731520" y="2057400"/>
            <a:ext cx="9692640" cy="2377440"/>
          </a:xfrm>
          <a:prstGeom prst="rect">
            <a:avLst/>
          </a:prstGeom>
          <a:noFill/>
        </p:spPr>
        <p:txBody>
          <a:bodyPr wrap="square" anchor="t" lIns="0" rIns="0" tIns="0" bIns="0">
            <a:spAutoFit/>
          </a:bodyPr>
          <a:lstStyle/>
          <a:p>
            <a:pPr algn="l">
              <a:lnSpc>
                <a:spcPct val="102000"/>
              </a:lnSpc>
            </a:pPr>
            <a:r>
              <a:rPr sz="4400" b="1" i="0">
                <a:solidFill>
                  <a:srgbClr val="FFFFFF"/>
                </a:solidFill>
                <a:latin typeface="Avenir Next"/>
              </a:rPr>
              <a:t>Smarter incentives,</a:t>
            </a:r>
          </a:p>
          <a:p>
            <a:pPr algn="l">
              <a:lnSpc>
                <a:spcPct val="102000"/>
              </a:lnSpc>
            </a:pPr>
            <a:r>
              <a:rPr sz="4400" b="1" i="0">
                <a:solidFill>
                  <a:srgbClr val="FFFFFF"/>
                </a:solidFill>
                <a:latin typeface="Avenir Next"/>
              </a:rPr>
              <a:t>built to </a:t>
            </a:r>
            <a:r>
              <a:rPr sz="4400" b="1" i="0">
                <a:solidFill>
                  <a:srgbClr val="34E0A1"/>
                </a:solidFill>
                <a:latin typeface="Avenir Next"/>
              </a:rPr>
              <a:t>land</a:t>
            </a:r>
            <a:r>
              <a:rPr sz="4400" b="1" i="0">
                <a:solidFill>
                  <a:srgbClr val="FFFFFF"/>
                </a:solidFill>
                <a:latin typeface="Avenir Next"/>
              </a:rPr>
              <a:t> in a real organisation.</a:t>
            </a:r>
          </a:p>
        </p:txBody>
      </p:sp>
      <p:sp>
        <p:nvSpPr>
          <p:cNvPr id="9" name="TextBox 8"/>
          <p:cNvSpPr txBox="1"/>
          <p:nvPr/>
        </p:nvSpPr>
        <p:spPr>
          <a:xfrm>
            <a:off x="777240" y="4480560"/>
            <a:ext cx="8961120" cy="1280160"/>
          </a:xfrm>
          <a:prstGeom prst="rect">
            <a:avLst/>
          </a:prstGeom>
          <a:noFill/>
        </p:spPr>
        <p:txBody>
          <a:bodyPr wrap="square" anchor="t" lIns="0" rIns="0" tIns="0" bIns="0">
            <a:spAutoFit/>
          </a:bodyPr>
          <a:lstStyle/>
          <a:p>
            <a:pPr algn="l">
              <a:lnSpc>
                <a:spcPct val="112000"/>
              </a:lnSpc>
            </a:pPr>
            <a:r>
              <a:rPr sz="1700" b="0" i="0">
                <a:solidFill>
                  <a:srgbClr val="A7C3B8"/>
                </a:solidFill>
                <a:latin typeface="Helvetica Neue"/>
              </a:rPr>
              <a:t>Turning a slow, meeting-heavy experiment process into a lean AI operating system that spends less, learns faster, and ships value in weeks, not quarters.</a:t>
            </a:r>
          </a:p>
        </p:txBody>
      </p:sp>
      <p:sp>
        <p:nvSpPr>
          <p:cNvPr id="10" name="TextBox 9"/>
          <p:cNvSpPr txBox="1"/>
          <p:nvPr/>
        </p:nvSpPr>
        <p:spPr>
          <a:xfrm>
            <a:off x="777240" y="5806440"/>
            <a:ext cx="9144000" cy="365760"/>
          </a:xfrm>
          <a:prstGeom prst="rect">
            <a:avLst/>
          </a:prstGeom>
          <a:noFill/>
        </p:spPr>
        <p:txBody>
          <a:bodyPr wrap="square" anchor="t" lIns="0" rIns="0" tIns="0" bIns="0">
            <a:spAutoFit/>
          </a:bodyPr>
          <a:lstStyle/>
          <a:p>
            <a:pPr algn="l">
              <a:lnSpc>
                <a:spcPct val="100000"/>
              </a:lnSpc>
            </a:pPr>
            <a:r>
              <a:rPr sz="1250" b="1" i="0">
                <a:solidFill>
                  <a:srgbClr val="FFFFFF"/>
                </a:solidFill>
                <a:latin typeface="Avenir Next"/>
              </a:rPr>
              <a:t>AI Systems, Personalization &amp; Growth Manager</a:t>
            </a:r>
            <a:r>
              <a:rPr sz="1250" b="0" i="0">
                <a:solidFill>
                  <a:srgbClr val="A7C3B8"/>
                </a:solidFill>
                <a:latin typeface="Avenir Next"/>
              </a:rPr>
              <a:t>   ·   prepared for the Tripadvisor interview team</a:t>
            </a:r>
          </a:p>
        </p:txBody>
      </p:sp>
      <p:sp>
        <p:nvSpPr>
          <p:cNvPr id="11" name="TextBox 10"/>
          <p:cNvSpPr txBox="1"/>
          <p:nvPr/>
        </p:nvSpPr>
        <p:spPr>
          <a:xfrm>
            <a:off x="548640" y="6400800"/>
            <a:ext cx="7315200" cy="274320"/>
          </a:xfrm>
          <a:prstGeom prst="rect">
            <a:avLst/>
          </a:prstGeom>
          <a:noFill/>
        </p:spPr>
        <p:txBody>
          <a:bodyPr wrap="square" anchor="t" lIns="0" rIns="0" tIns="0" bIns="0">
            <a:spAutoFit/>
          </a:bodyPr>
          <a:lstStyle/>
          <a:p>
            <a:pPr algn="l">
              <a:lnSpc>
                <a:spcPct val="100000"/>
              </a:lnSpc>
            </a:pPr>
            <a:r>
              <a:rPr sz="900" b="0" i="0">
                <a:solidFill>
                  <a:srgbClr val="A7C3B8"/>
                </a:solidFill>
                <a:latin typeface="Helvetica Neue"/>
              </a:rPr>
              <a:t>Adrien Enjalbert  ·  AI Systems, Personalization &amp; Growth</a:t>
            </a:r>
          </a:p>
        </p:txBody>
      </p:sp>
      <p:sp>
        <p:nvSpPr>
          <p:cNvPr id="12" name="TextBox 11"/>
          <p:cNvSpPr txBox="1"/>
          <p:nvPr/>
        </p:nvSpPr>
        <p:spPr>
          <a:xfrm>
            <a:off x="10911535" y="6400800"/>
            <a:ext cx="731520" cy="274320"/>
          </a:xfrm>
          <a:prstGeom prst="rect">
            <a:avLst/>
          </a:prstGeom>
          <a:noFill/>
        </p:spPr>
        <p:txBody>
          <a:bodyPr wrap="square" anchor="t" lIns="0" rIns="0" tIns="0" bIns="0">
            <a:spAutoFit/>
          </a:bodyPr>
          <a:lstStyle/>
          <a:p>
            <a:pPr algn="r">
              <a:lnSpc>
                <a:spcPct val="100000"/>
              </a:lnSpc>
            </a:pPr>
            <a:r>
              <a:rPr sz="900" b="1" i="0">
                <a:solidFill>
                  <a:srgbClr val="A7C3B8"/>
                </a:solidFill>
                <a:latin typeface="Avenir Next"/>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685800"/>
            <a:ext cx="502920" cy="50292"/>
          </a:xfrm>
          <a:prstGeom prst="rect">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914400"/>
            <a:ext cx="7315200" cy="320040"/>
          </a:xfrm>
          <a:prstGeom prst="rect">
            <a:avLst/>
          </a:prstGeom>
          <a:noFill/>
        </p:spPr>
        <p:txBody>
          <a:bodyPr wrap="square" anchor="t" lIns="0" rIns="0" tIns="0" bIns="0">
            <a:spAutoFit/>
          </a:bodyPr>
          <a:lstStyle/>
          <a:p>
            <a:pPr algn="l">
              <a:lnSpc>
                <a:spcPct val="100000"/>
              </a:lnSpc>
            </a:pPr>
            <a:r>
              <a:rPr sz="1200" b="1" i="0">
                <a:solidFill>
                  <a:srgbClr val="34E0A1"/>
                </a:solidFill>
                <a:latin typeface="Avenir Next"/>
              </a:rPr>
              <a:t>THE REFRAME</a:t>
            </a:r>
          </a:p>
        </p:txBody>
      </p:sp>
      <p:sp>
        <p:nvSpPr>
          <p:cNvPr id="5" name="TextBox 4"/>
          <p:cNvSpPr txBox="1"/>
          <p:nvPr/>
        </p:nvSpPr>
        <p:spPr>
          <a:xfrm>
            <a:off x="731520" y="1234440"/>
            <a:ext cx="10607040" cy="1463040"/>
          </a:xfrm>
          <a:prstGeom prst="rect">
            <a:avLst/>
          </a:prstGeom>
          <a:noFill/>
        </p:spPr>
        <p:txBody>
          <a:bodyPr wrap="square" anchor="t" lIns="0" rIns="0" tIns="0" bIns="0">
            <a:spAutoFit/>
          </a:bodyPr>
          <a:lstStyle/>
          <a:p>
            <a:pPr algn="l">
              <a:lnSpc>
                <a:spcPct val="100000"/>
              </a:lnSpc>
            </a:pPr>
            <a:r>
              <a:rPr sz="3400" b="1" i="0">
                <a:solidFill>
                  <a:srgbClr val="FFFFFF"/>
                </a:solidFill>
                <a:latin typeface="Avenir Next"/>
              </a:rPr>
              <a:t>In a big company, the model is the easy </a:t>
            </a:r>
            <a:r>
              <a:rPr sz="3400" b="1" i="0">
                <a:solidFill>
                  <a:srgbClr val="34E0A1"/>
                </a:solidFill>
                <a:latin typeface="Avenir Next"/>
              </a:rPr>
              <a:t>10%</a:t>
            </a:r>
            <a:r>
              <a:rPr sz="3400" b="1" i="0">
                <a:solidFill>
                  <a:srgbClr val="FFFFFF"/>
                </a:solidFill>
                <a:latin typeface="Avenir Next"/>
              </a:rPr>
              <a:t>.</a:t>
            </a:r>
          </a:p>
        </p:txBody>
      </p:sp>
      <p:sp>
        <p:nvSpPr>
          <p:cNvPr id="6" name="TextBox 5"/>
          <p:cNvSpPr txBox="1"/>
          <p:nvPr/>
        </p:nvSpPr>
        <p:spPr>
          <a:xfrm>
            <a:off x="777240" y="2286000"/>
            <a:ext cx="10424160" cy="640080"/>
          </a:xfrm>
          <a:prstGeom prst="rect">
            <a:avLst/>
          </a:prstGeom>
          <a:noFill/>
        </p:spPr>
        <p:txBody>
          <a:bodyPr wrap="square" anchor="t" lIns="0" rIns="0" tIns="0" bIns="0">
            <a:spAutoFit/>
          </a:bodyPr>
          <a:lstStyle/>
          <a:p>
            <a:pPr algn="l">
              <a:lnSpc>
                <a:spcPct val="110000"/>
              </a:lnSpc>
            </a:pPr>
            <a:r>
              <a:rPr sz="1550" b="0" i="0">
                <a:solidFill>
                  <a:srgbClr val="A7C3B8"/>
                </a:solidFill>
                <a:latin typeface="Helvetica Neue"/>
              </a:rPr>
              <a:t>A recommendation engine is a weekend prototype. Getting it used, trusted, and safe across teams is the year of work. So I would spend my effort on the four things that actually block value.</a:t>
            </a:r>
          </a:p>
        </p:txBody>
      </p:sp>
      <p:sp>
        <p:nvSpPr>
          <p:cNvPr id="7" name="Rectangle 6"/>
          <p:cNvSpPr/>
          <p:nvPr/>
        </p:nvSpPr>
        <p:spPr>
          <a:xfrm>
            <a:off x="777240" y="3200400"/>
            <a:ext cx="10607040" cy="566928"/>
          </a:xfrm>
          <a:prstGeom prst="rect">
            <a:avLst/>
          </a:prstGeom>
          <a:solidFill>
            <a:srgbClr val="122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3200400"/>
            <a:ext cx="1060704" cy="566928"/>
          </a:xfrm>
          <a:prstGeom prst="rect">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255264"/>
            <a:ext cx="2743200" cy="457200"/>
          </a:xfrm>
          <a:prstGeom prst="rect">
            <a:avLst/>
          </a:prstGeom>
          <a:noFill/>
        </p:spPr>
        <p:txBody>
          <a:bodyPr wrap="square" anchor="ctr" lIns="0" rIns="0" tIns="0" bIns="0">
            <a:spAutoFit/>
          </a:bodyPr>
          <a:lstStyle/>
          <a:p>
            <a:pPr algn="l">
              <a:lnSpc>
                <a:spcPct val="100000"/>
              </a:lnSpc>
            </a:pPr>
            <a:r>
              <a:rPr sz="1100" b="1" i="0">
                <a:solidFill>
                  <a:srgbClr val="0A1512"/>
                </a:solidFill>
                <a:latin typeface="Avenir Next"/>
              </a:rPr>
              <a:t>MODEL  ·  10%</a:t>
            </a:r>
          </a:p>
        </p:txBody>
      </p:sp>
      <p:sp>
        <p:nvSpPr>
          <p:cNvPr id="10" name="TextBox 9"/>
          <p:cNvSpPr txBox="1"/>
          <p:nvPr/>
        </p:nvSpPr>
        <p:spPr>
          <a:xfrm>
            <a:off x="2743200" y="3255264"/>
            <a:ext cx="8412480" cy="457200"/>
          </a:xfrm>
          <a:prstGeom prst="rect">
            <a:avLst/>
          </a:prstGeom>
          <a:noFill/>
        </p:spPr>
        <p:txBody>
          <a:bodyPr wrap="square" anchor="ctr" lIns="0" rIns="0" tIns="0" bIns="0">
            <a:spAutoFit/>
          </a:bodyPr>
          <a:lstStyle/>
          <a:p>
            <a:pPr algn="l">
              <a:lnSpc>
                <a:spcPct val="100000"/>
              </a:lnSpc>
            </a:pPr>
            <a:r>
              <a:rPr sz="1100" b="1" i="0">
                <a:solidFill>
                  <a:srgbClr val="A7C3B8"/>
                </a:solidFill>
                <a:latin typeface="Avenir Next"/>
              </a:rPr>
              <a:t>THE 90% THAT DECIDES SUCCESS</a:t>
            </a:r>
          </a:p>
        </p:txBody>
      </p:sp>
      <p:sp>
        <p:nvSpPr>
          <p:cNvPr id="11" name="Rounded Rectangle 10"/>
          <p:cNvSpPr/>
          <p:nvPr/>
        </p:nvSpPr>
        <p:spPr>
          <a:xfrm>
            <a:off x="777240" y="4096512"/>
            <a:ext cx="2542032" cy="1883664"/>
          </a:xfrm>
          <a:prstGeom prst="roundRect">
            <a:avLst>
              <a:gd name="adj" fmla="val 6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33271" y="4352544"/>
            <a:ext cx="384048" cy="54864"/>
          </a:xfrm>
          <a:prstGeom prst="rect">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1" y="4517136"/>
            <a:ext cx="2084831" cy="548640"/>
          </a:xfrm>
          <a:prstGeom prst="rect">
            <a:avLst/>
          </a:prstGeom>
          <a:noFill/>
        </p:spPr>
        <p:txBody>
          <a:bodyPr wrap="square" anchor="t" lIns="0" rIns="0" tIns="0" bIns="0">
            <a:spAutoFit/>
          </a:bodyPr>
          <a:lstStyle/>
          <a:p>
            <a:pPr algn="l">
              <a:lnSpc>
                <a:spcPct val="98000"/>
              </a:lnSpc>
            </a:pPr>
            <a:r>
              <a:rPr sz="1500" b="1" i="0">
                <a:solidFill>
                  <a:srgbClr val="FFFFFF"/>
                </a:solidFill>
                <a:latin typeface="Avenir Next"/>
              </a:rPr>
              <a:t>Data &amp; ETL</a:t>
            </a:r>
          </a:p>
        </p:txBody>
      </p:sp>
      <p:sp>
        <p:nvSpPr>
          <p:cNvPr id="14" name="TextBox 13"/>
          <p:cNvSpPr txBox="1"/>
          <p:nvPr/>
        </p:nvSpPr>
        <p:spPr>
          <a:xfrm>
            <a:off x="1033271" y="5175504"/>
            <a:ext cx="2084831" cy="777240"/>
          </a:xfrm>
          <a:prstGeom prst="rect">
            <a:avLst/>
          </a:prstGeom>
          <a:noFill/>
        </p:spPr>
        <p:txBody>
          <a:bodyPr wrap="square" anchor="t" lIns="0" rIns="0" tIns="0" bIns="0">
            <a:spAutoFit/>
          </a:bodyPr>
          <a:lstStyle/>
          <a:p>
            <a:pPr algn="l">
              <a:lnSpc>
                <a:spcPct val="105000"/>
              </a:lnSpc>
            </a:pPr>
            <a:r>
              <a:rPr sz="1100" b="0" i="0">
                <a:solidFill>
                  <a:srgbClr val="A7C3B8"/>
                </a:solidFill>
                <a:latin typeface="Helvetica Neue"/>
              </a:rPr>
              <a:t>Investigate, clean and pipe the data so results can be trusted.</a:t>
            </a:r>
          </a:p>
        </p:txBody>
      </p:sp>
      <p:sp>
        <p:nvSpPr>
          <p:cNvPr id="15" name="Rounded Rectangle 14"/>
          <p:cNvSpPr/>
          <p:nvPr/>
        </p:nvSpPr>
        <p:spPr>
          <a:xfrm>
            <a:off x="3493008" y="4096512"/>
            <a:ext cx="2542032" cy="1883664"/>
          </a:xfrm>
          <a:prstGeom prst="roundRect">
            <a:avLst>
              <a:gd name="adj" fmla="val 6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749039" y="4352544"/>
            <a:ext cx="384048" cy="54864"/>
          </a:xfrm>
          <a:prstGeom prst="rect">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39" y="4517136"/>
            <a:ext cx="2084831" cy="548640"/>
          </a:xfrm>
          <a:prstGeom prst="rect">
            <a:avLst/>
          </a:prstGeom>
          <a:noFill/>
        </p:spPr>
        <p:txBody>
          <a:bodyPr wrap="square" anchor="t" lIns="0" rIns="0" tIns="0" bIns="0">
            <a:spAutoFit/>
          </a:bodyPr>
          <a:lstStyle/>
          <a:p>
            <a:pPr algn="l">
              <a:lnSpc>
                <a:spcPct val="98000"/>
              </a:lnSpc>
            </a:pPr>
            <a:r>
              <a:rPr sz="1500" b="1" i="0">
                <a:solidFill>
                  <a:srgbClr val="FFFFFF"/>
                </a:solidFill>
                <a:latin typeface="Avenir Next"/>
              </a:rPr>
              <a:t>Integration</a:t>
            </a:r>
          </a:p>
        </p:txBody>
      </p:sp>
      <p:sp>
        <p:nvSpPr>
          <p:cNvPr id="18" name="TextBox 17"/>
          <p:cNvSpPr txBox="1"/>
          <p:nvPr/>
        </p:nvSpPr>
        <p:spPr>
          <a:xfrm>
            <a:off x="3749039" y="5175504"/>
            <a:ext cx="2084831" cy="777240"/>
          </a:xfrm>
          <a:prstGeom prst="rect">
            <a:avLst/>
          </a:prstGeom>
          <a:noFill/>
        </p:spPr>
        <p:txBody>
          <a:bodyPr wrap="square" anchor="t" lIns="0" rIns="0" tIns="0" bIns="0">
            <a:spAutoFit/>
          </a:bodyPr>
          <a:lstStyle/>
          <a:p>
            <a:pPr algn="l">
              <a:lnSpc>
                <a:spcPct val="105000"/>
              </a:lnSpc>
            </a:pPr>
            <a:r>
              <a:rPr sz="1100" b="0" i="0">
                <a:solidFill>
                  <a:srgbClr val="A7C3B8"/>
                </a:solidFill>
                <a:latin typeface="Helvetica Neue"/>
              </a:rPr>
              <a:t>Plug into the warehouse, tracking and Braze, not a side tool.</a:t>
            </a:r>
          </a:p>
        </p:txBody>
      </p:sp>
      <p:sp>
        <p:nvSpPr>
          <p:cNvPr id="19" name="Rounded Rectangle 18"/>
          <p:cNvSpPr/>
          <p:nvPr/>
        </p:nvSpPr>
        <p:spPr>
          <a:xfrm>
            <a:off x="6208775" y="4096512"/>
            <a:ext cx="2542032" cy="1883664"/>
          </a:xfrm>
          <a:prstGeom prst="roundRect">
            <a:avLst>
              <a:gd name="adj" fmla="val 6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64807" y="4352544"/>
            <a:ext cx="384048" cy="54864"/>
          </a:xfrm>
          <a:prstGeom prst="rect">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4807" y="4517136"/>
            <a:ext cx="2084831" cy="548640"/>
          </a:xfrm>
          <a:prstGeom prst="rect">
            <a:avLst/>
          </a:prstGeom>
          <a:noFill/>
        </p:spPr>
        <p:txBody>
          <a:bodyPr wrap="square" anchor="t" lIns="0" rIns="0" tIns="0" bIns="0">
            <a:spAutoFit/>
          </a:bodyPr>
          <a:lstStyle/>
          <a:p>
            <a:pPr algn="l">
              <a:lnSpc>
                <a:spcPct val="98000"/>
              </a:lnSpc>
            </a:pPr>
            <a:r>
              <a:rPr sz="1500" b="1" i="0">
                <a:solidFill>
                  <a:srgbClr val="FFFFFF"/>
                </a:solidFill>
                <a:latin typeface="Avenir Next"/>
              </a:rPr>
              <a:t>UX &amp; adoption</a:t>
            </a:r>
          </a:p>
        </p:txBody>
      </p:sp>
      <p:sp>
        <p:nvSpPr>
          <p:cNvPr id="22" name="TextBox 21"/>
          <p:cNvSpPr txBox="1"/>
          <p:nvPr/>
        </p:nvSpPr>
        <p:spPr>
          <a:xfrm>
            <a:off x="6464807" y="5175504"/>
            <a:ext cx="2084831" cy="777240"/>
          </a:xfrm>
          <a:prstGeom prst="rect">
            <a:avLst/>
          </a:prstGeom>
          <a:noFill/>
        </p:spPr>
        <p:txBody>
          <a:bodyPr wrap="square" anchor="t" lIns="0" rIns="0" tIns="0" bIns="0">
            <a:spAutoFit/>
          </a:bodyPr>
          <a:lstStyle/>
          <a:p>
            <a:pPr algn="l">
              <a:lnSpc>
                <a:spcPct val="105000"/>
              </a:lnSpc>
            </a:pPr>
            <a:r>
              <a:rPr sz="1100" b="0" i="0">
                <a:solidFill>
                  <a:srgbClr val="A7C3B8"/>
                </a:solidFill>
                <a:latin typeface="Helvetica Neue"/>
              </a:rPr>
              <a:t>Embed AI where teams already work, so it gets used properly.</a:t>
            </a:r>
          </a:p>
        </p:txBody>
      </p:sp>
      <p:sp>
        <p:nvSpPr>
          <p:cNvPr id="23" name="Rounded Rectangle 22"/>
          <p:cNvSpPr/>
          <p:nvPr/>
        </p:nvSpPr>
        <p:spPr>
          <a:xfrm>
            <a:off x="8924544" y="4096512"/>
            <a:ext cx="2542032" cy="1883664"/>
          </a:xfrm>
          <a:prstGeom prst="roundRect">
            <a:avLst>
              <a:gd name="adj" fmla="val 6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80576" y="4352544"/>
            <a:ext cx="384048" cy="54864"/>
          </a:xfrm>
          <a:prstGeom prst="rect">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80576" y="4517136"/>
            <a:ext cx="2084831" cy="548640"/>
          </a:xfrm>
          <a:prstGeom prst="rect">
            <a:avLst/>
          </a:prstGeom>
          <a:noFill/>
        </p:spPr>
        <p:txBody>
          <a:bodyPr wrap="square" anchor="t" lIns="0" rIns="0" tIns="0" bIns="0">
            <a:spAutoFit/>
          </a:bodyPr>
          <a:lstStyle/>
          <a:p>
            <a:pPr algn="l">
              <a:lnSpc>
                <a:spcPct val="98000"/>
              </a:lnSpc>
            </a:pPr>
            <a:r>
              <a:rPr sz="1500" b="1" i="0">
                <a:solidFill>
                  <a:srgbClr val="FFFFFF"/>
                </a:solidFill>
                <a:latin typeface="Avenir Next"/>
              </a:rPr>
              <a:t>Change management</a:t>
            </a:r>
          </a:p>
        </p:txBody>
      </p:sp>
      <p:sp>
        <p:nvSpPr>
          <p:cNvPr id="26" name="TextBox 25"/>
          <p:cNvSpPr txBox="1"/>
          <p:nvPr/>
        </p:nvSpPr>
        <p:spPr>
          <a:xfrm>
            <a:off x="9180576" y="5175504"/>
            <a:ext cx="2084831" cy="777240"/>
          </a:xfrm>
          <a:prstGeom prst="rect">
            <a:avLst/>
          </a:prstGeom>
          <a:noFill/>
        </p:spPr>
        <p:txBody>
          <a:bodyPr wrap="square" anchor="t" lIns="0" rIns="0" tIns="0" bIns="0">
            <a:spAutoFit/>
          </a:bodyPr>
          <a:lstStyle/>
          <a:p>
            <a:pPr algn="l">
              <a:lnSpc>
                <a:spcPct val="105000"/>
              </a:lnSpc>
            </a:pPr>
            <a:r>
              <a:rPr sz="1100" b="0" i="0">
                <a:solidFill>
                  <a:srgbClr val="A7C3B8"/>
                </a:solidFill>
                <a:latin typeface="Helvetica Neue"/>
              </a:rPr>
              <a:t>Small wins and coalition-building to earn resource and buy-in.</a:t>
            </a:r>
          </a:p>
        </p:txBody>
      </p:sp>
      <p:sp>
        <p:nvSpPr>
          <p:cNvPr id="27" name="TextBox 26"/>
          <p:cNvSpPr txBox="1"/>
          <p:nvPr/>
        </p:nvSpPr>
        <p:spPr>
          <a:xfrm>
            <a:off x="548640" y="6400800"/>
            <a:ext cx="7315200" cy="274320"/>
          </a:xfrm>
          <a:prstGeom prst="rect">
            <a:avLst/>
          </a:prstGeom>
          <a:noFill/>
        </p:spPr>
        <p:txBody>
          <a:bodyPr wrap="square" anchor="t" lIns="0" rIns="0" tIns="0" bIns="0">
            <a:spAutoFit/>
          </a:bodyPr>
          <a:lstStyle/>
          <a:p>
            <a:pPr algn="l">
              <a:lnSpc>
                <a:spcPct val="100000"/>
              </a:lnSpc>
            </a:pPr>
            <a:r>
              <a:rPr sz="900" b="0" i="0">
                <a:solidFill>
                  <a:srgbClr val="A7C3B8"/>
                </a:solidFill>
                <a:latin typeface="Helvetica Neue"/>
              </a:rPr>
              <a:t>Adrien Enjalbert  ·  AI Systems, Personalization &amp; Growth</a:t>
            </a:r>
          </a:p>
        </p:txBody>
      </p:sp>
      <p:sp>
        <p:nvSpPr>
          <p:cNvPr id="28" name="TextBox 27"/>
          <p:cNvSpPr txBox="1"/>
          <p:nvPr/>
        </p:nvSpPr>
        <p:spPr>
          <a:xfrm>
            <a:off x="10911535" y="6400800"/>
            <a:ext cx="731520" cy="274320"/>
          </a:xfrm>
          <a:prstGeom prst="rect">
            <a:avLst/>
          </a:prstGeom>
          <a:noFill/>
        </p:spPr>
        <p:txBody>
          <a:bodyPr wrap="square" anchor="t" lIns="0" rIns="0" tIns="0" bIns="0">
            <a:spAutoFit/>
          </a:bodyPr>
          <a:lstStyle/>
          <a:p>
            <a:pPr algn="r">
              <a:lnSpc>
                <a:spcPct val="100000"/>
              </a:lnSpc>
            </a:pPr>
            <a:r>
              <a:rPr sz="900" b="1" i="0">
                <a:solidFill>
                  <a:srgbClr val="A7C3B8"/>
                </a:solidFill>
                <a:latin typeface="Avenir Next"/>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685800"/>
            <a:ext cx="502920" cy="50292"/>
          </a:xfrm>
          <a:prstGeom prst="rect">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914400"/>
            <a:ext cx="7315200" cy="320040"/>
          </a:xfrm>
          <a:prstGeom prst="rect">
            <a:avLst/>
          </a:prstGeom>
          <a:noFill/>
        </p:spPr>
        <p:txBody>
          <a:bodyPr wrap="square" anchor="t" lIns="0" rIns="0" tIns="0" bIns="0">
            <a:spAutoFit/>
          </a:bodyPr>
          <a:lstStyle/>
          <a:p>
            <a:pPr algn="l">
              <a:lnSpc>
                <a:spcPct val="100000"/>
              </a:lnSpc>
            </a:pPr>
            <a:r>
              <a:rPr sz="1200" b="1" i="0">
                <a:solidFill>
                  <a:srgbClr val="34E0A1"/>
                </a:solidFill>
                <a:latin typeface="Avenir Next"/>
              </a:rPr>
              <a:t>HOW TO READ THIS</a:t>
            </a:r>
          </a:p>
        </p:txBody>
      </p:sp>
      <p:sp>
        <p:nvSpPr>
          <p:cNvPr id="5" name="TextBox 4"/>
          <p:cNvSpPr txBox="1"/>
          <p:nvPr/>
        </p:nvSpPr>
        <p:spPr>
          <a:xfrm>
            <a:off x="731520" y="1234440"/>
            <a:ext cx="10881360" cy="914400"/>
          </a:xfrm>
          <a:prstGeom prst="rect">
            <a:avLst/>
          </a:prstGeom>
          <a:noFill/>
        </p:spPr>
        <p:txBody>
          <a:bodyPr wrap="square" anchor="t" lIns="0" rIns="0" tIns="0" bIns="0">
            <a:spAutoFit/>
          </a:bodyPr>
          <a:lstStyle/>
          <a:p>
            <a:pPr algn="l">
              <a:lnSpc>
                <a:spcPct val="100000"/>
              </a:lnSpc>
            </a:pPr>
            <a:r>
              <a:rPr sz="2800" b="1" i="0">
                <a:solidFill>
                  <a:srgbClr val="FFFFFF"/>
                </a:solidFill>
                <a:latin typeface="Avenir Next"/>
              </a:rPr>
              <a:t>Every question in the brief, answered and labelled.</a:t>
            </a:r>
          </a:p>
        </p:txBody>
      </p:sp>
      <p:sp>
        <p:nvSpPr>
          <p:cNvPr id="6" name="TextBox 5"/>
          <p:cNvSpPr txBox="1"/>
          <p:nvPr/>
        </p:nvSpPr>
        <p:spPr>
          <a:xfrm>
            <a:off x="777240" y="2194560"/>
            <a:ext cx="10424160" cy="457200"/>
          </a:xfrm>
          <a:prstGeom prst="rect">
            <a:avLst/>
          </a:prstGeom>
          <a:noFill/>
        </p:spPr>
        <p:txBody>
          <a:bodyPr wrap="square" anchor="t" lIns="0" rIns="0" tIns="0" bIns="0">
            <a:spAutoFit/>
          </a:bodyPr>
          <a:lstStyle/>
          <a:p>
            <a:pPr algn="l">
              <a:lnSpc>
                <a:spcPct val="105000"/>
              </a:lnSpc>
            </a:pPr>
            <a:r>
              <a:rPr sz="1300" b="0" i="0">
                <a:solidFill>
                  <a:srgbClr val="A7C3B8"/>
                </a:solidFill>
                <a:latin typeface="Helvetica Neue"/>
              </a:rPr>
              <a:t>Each slide carries a badge with the question it answers. Four green “in practice” slides sit next to the part they support, showing how it actually lands in a real org.</a:t>
            </a:r>
          </a:p>
        </p:txBody>
      </p:sp>
      <p:sp>
        <p:nvSpPr>
          <p:cNvPr id="7" name="Rounded Rectangle 6"/>
          <p:cNvSpPr/>
          <p:nvPr/>
        </p:nvSpPr>
        <p:spPr>
          <a:xfrm>
            <a:off x="777240" y="3017520"/>
            <a:ext cx="2651760" cy="2926080"/>
          </a:xfrm>
          <a:prstGeom prst="roundRect">
            <a:avLst>
              <a:gd name="adj" fmla="val 6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3" y="3236976"/>
            <a:ext cx="2286000" cy="320040"/>
          </a:xfrm>
          <a:prstGeom prst="rect">
            <a:avLst/>
          </a:prstGeom>
          <a:noFill/>
        </p:spPr>
        <p:txBody>
          <a:bodyPr wrap="square" anchor="t" lIns="0" rIns="0" tIns="0" bIns="0">
            <a:spAutoFit/>
          </a:bodyPr>
          <a:lstStyle/>
          <a:p>
            <a:pPr algn="l">
              <a:lnSpc>
                <a:spcPct val="100000"/>
              </a:lnSpc>
            </a:pPr>
            <a:r>
              <a:rPr sz="1200" b="1" i="0">
                <a:solidFill>
                  <a:srgbClr val="34E0A1"/>
                </a:solidFill>
                <a:latin typeface="Avenir Next"/>
              </a:rPr>
              <a:t>PART 1</a:t>
            </a:r>
          </a:p>
        </p:txBody>
      </p:sp>
      <p:sp>
        <p:nvSpPr>
          <p:cNvPr id="9" name="TextBox 8"/>
          <p:cNvSpPr txBox="1"/>
          <p:nvPr/>
        </p:nvSpPr>
        <p:spPr>
          <a:xfrm>
            <a:off x="1014983" y="3547872"/>
            <a:ext cx="2286000" cy="365760"/>
          </a:xfrm>
          <a:prstGeom prst="rect">
            <a:avLst/>
          </a:prstGeom>
          <a:noFill/>
        </p:spPr>
        <p:txBody>
          <a:bodyPr wrap="square" anchor="t" lIns="0" rIns="0" tIns="0" bIns="0">
            <a:spAutoFit/>
          </a:bodyPr>
          <a:lstStyle/>
          <a:p>
            <a:pPr algn="l">
              <a:lnSpc>
                <a:spcPct val="100000"/>
              </a:lnSpc>
            </a:pPr>
            <a:r>
              <a:rPr sz="1500" b="1" i="0">
                <a:solidFill>
                  <a:srgbClr val="FFFFFF"/>
                </a:solidFill>
                <a:latin typeface="Avenir Next"/>
              </a:rPr>
              <a:t>Data reasoning</a:t>
            </a:r>
          </a:p>
        </p:txBody>
      </p:sp>
      <p:sp>
        <p:nvSpPr>
          <p:cNvPr id="10" name="Rounded Rectangle 9"/>
          <p:cNvSpPr/>
          <p:nvPr/>
        </p:nvSpPr>
        <p:spPr>
          <a:xfrm>
            <a:off x="1014983" y="4069079"/>
            <a:ext cx="457200" cy="292608"/>
          </a:xfrm>
          <a:prstGeom prst="roundRect">
            <a:avLst>
              <a:gd name="adj" fmla="val 40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4983" y="4050791"/>
            <a:ext cx="457200" cy="292608"/>
          </a:xfrm>
          <a:prstGeom prst="rect">
            <a:avLst/>
          </a:prstGeom>
          <a:noFill/>
        </p:spPr>
        <p:txBody>
          <a:bodyPr wrap="square" anchor="ctr" lIns="0" rIns="0" tIns="0" bIns="0">
            <a:spAutoFit/>
          </a:bodyPr>
          <a:lstStyle/>
          <a:p>
            <a:pPr algn="ctr">
              <a:lnSpc>
                <a:spcPct val="100000"/>
              </a:lnSpc>
            </a:pPr>
            <a:r>
              <a:rPr sz="950" b="1" i="0">
                <a:solidFill>
                  <a:srgbClr val="0A1512"/>
                </a:solidFill>
                <a:latin typeface="Avenir Next"/>
              </a:rPr>
              <a:t>1.1</a:t>
            </a:r>
          </a:p>
        </p:txBody>
      </p:sp>
      <p:sp>
        <p:nvSpPr>
          <p:cNvPr id="12" name="TextBox 11"/>
          <p:cNvSpPr txBox="1"/>
          <p:nvPr/>
        </p:nvSpPr>
        <p:spPr>
          <a:xfrm>
            <a:off x="1563624" y="4032503"/>
            <a:ext cx="1691639" cy="384048"/>
          </a:xfrm>
          <a:prstGeom prst="rect">
            <a:avLst/>
          </a:prstGeom>
          <a:noFill/>
        </p:spPr>
        <p:txBody>
          <a:bodyPr wrap="square" anchor="ctr" lIns="0" rIns="0" tIns="0" bIns="0">
            <a:spAutoFit/>
          </a:bodyPr>
          <a:lstStyle/>
          <a:p>
            <a:pPr algn="l">
              <a:lnSpc>
                <a:spcPct val="98000"/>
              </a:lnSpc>
            </a:pPr>
            <a:r>
              <a:rPr sz="1030" b="0" i="0">
                <a:solidFill>
                  <a:srgbClr val="A7C3B8"/>
                </a:solidFill>
                <a:latin typeface="Helvetica Neue"/>
              </a:rPr>
              <a:t>Segments + deeper analysis</a:t>
            </a:r>
          </a:p>
        </p:txBody>
      </p:sp>
      <p:sp>
        <p:nvSpPr>
          <p:cNvPr id="13" name="Rounded Rectangle 12"/>
          <p:cNvSpPr/>
          <p:nvPr/>
        </p:nvSpPr>
        <p:spPr>
          <a:xfrm>
            <a:off x="1014983" y="4489703"/>
            <a:ext cx="457200" cy="292608"/>
          </a:xfrm>
          <a:prstGeom prst="roundRect">
            <a:avLst>
              <a:gd name="adj" fmla="val 40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4983" y="4471416"/>
            <a:ext cx="457200" cy="292608"/>
          </a:xfrm>
          <a:prstGeom prst="rect">
            <a:avLst/>
          </a:prstGeom>
          <a:noFill/>
        </p:spPr>
        <p:txBody>
          <a:bodyPr wrap="square" anchor="ctr" lIns="0" rIns="0" tIns="0" bIns="0">
            <a:spAutoFit/>
          </a:bodyPr>
          <a:lstStyle/>
          <a:p>
            <a:pPr algn="ctr">
              <a:lnSpc>
                <a:spcPct val="100000"/>
              </a:lnSpc>
            </a:pPr>
            <a:r>
              <a:rPr sz="950" b="1" i="0">
                <a:solidFill>
                  <a:srgbClr val="0A1512"/>
                </a:solidFill>
                <a:latin typeface="Avenir Next"/>
              </a:rPr>
              <a:t>1.1</a:t>
            </a:r>
          </a:p>
        </p:txBody>
      </p:sp>
      <p:sp>
        <p:nvSpPr>
          <p:cNvPr id="15" name="TextBox 14"/>
          <p:cNvSpPr txBox="1"/>
          <p:nvPr/>
        </p:nvSpPr>
        <p:spPr>
          <a:xfrm>
            <a:off x="1563624" y="4453127"/>
            <a:ext cx="1691639" cy="384048"/>
          </a:xfrm>
          <a:prstGeom prst="rect">
            <a:avLst/>
          </a:prstGeom>
          <a:noFill/>
        </p:spPr>
        <p:txBody>
          <a:bodyPr wrap="square" anchor="ctr" lIns="0" rIns="0" tIns="0" bIns="0">
            <a:spAutoFit/>
          </a:bodyPr>
          <a:lstStyle/>
          <a:p>
            <a:pPr algn="l">
              <a:lnSpc>
                <a:spcPct val="98000"/>
              </a:lnSpc>
            </a:pPr>
            <a:r>
              <a:rPr sz="1030" b="0" i="0">
                <a:solidFill>
                  <a:srgbClr val="A7C3B8"/>
                </a:solidFill>
                <a:latin typeface="Helvetica Neue"/>
              </a:rPr>
              <a:t>Metrics I trust vs question</a:t>
            </a:r>
          </a:p>
        </p:txBody>
      </p:sp>
      <p:sp>
        <p:nvSpPr>
          <p:cNvPr id="16" name="Rounded Rectangle 15"/>
          <p:cNvSpPr/>
          <p:nvPr/>
        </p:nvSpPr>
        <p:spPr>
          <a:xfrm>
            <a:off x="1014983" y="4910327"/>
            <a:ext cx="457200" cy="292608"/>
          </a:xfrm>
          <a:prstGeom prst="roundRect">
            <a:avLst>
              <a:gd name="adj" fmla="val 40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4983" y="4892040"/>
            <a:ext cx="457200" cy="292608"/>
          </a:xfrm>
          <a:prstGeom prst="rect">
            <a:avLst/>
          </a:prstGeom>
          <a:noFill/>
        </p:spPr>
        <p:txBody>
          <a:bodyPr wrap="square" anchor="ctr" lIns="0" rIns="0" tIns="0" bIns="0">
            <a:spAutoFit/>
          </a:bodyPr>
          <a:lstStyle/>
          <a:p>
            <a:pPr algn="ctr">
              <a:lnSpc>
                <a:spcPct val="100000"/>
              </a:lnSpc>
            </a:pPr>
            <a:r>
              <a:rPr sz="950" b="1" i="0">
                <a:solidFill>
                  <a:srgbClr val="0A1512"/>
                </a:solidFill>
                <a:latin typeface="Avenir Next"/>
              </a:rPr>
              <a:t>1.2</a:t>
            </a:r>
          </a:p>
        </p:txBody>
      </p:sp>
      <p:sp>
        <p:nvSpPr>
          <p:cNvPr id="18" name="TextBox 17"/>
          <p:cNvSpPr txBox="1"/>
          <p:nvPr/>
        </p:nvSpPr>
        <p:spPr>
          <a:xfrm>
            <a:off x="1563624" y="4873751"/>
            <a:ext cx="1691639" cy="384048"/>
          </a:xfrm>
          <a:prstGeom prst="rect">
            <a:avLst/>
          </a:prstGeom>
          <a:noFill/>
        </p:spPr>
        <p:txBody>
          <a:bodyPr wrap="square" anchor="ctr" lIns="0" rIns="0" tIns="0" bIns="0">
            <a:spAutoFit/>
          </a:bodyPr>
          <a:lstStyle/>
          <a:p>
            <a:pPr algn="l">
              <a:lnSpc>
                <a:spcPct val="98000"/>
              </a:lnSpc>
            </a:pPr>
            <a:r>
              <a:rPr sz="1030" b="0" i="0">
                <a:solidFill>
                  <a:srgbClr val="A7C3B8"/>
                </a:solidFill>
                <a:latin typeface="Helvetica Neue"/>
              </a:rPr>
              <a:t>Extra data I'd request</a:t>
            </a:r>
          </a:p>
        </p:txBody>
      </p:sp>
      <p:sp>
        <p:nvSpPr>
          <p:cNvPr id="19" name="Rounded Rectangle 18"/>
          <p:cNvSpPr/>
          <p:nvPr/>
        </p:nvSpPr>
        <p:spPr>
          <a:xfrm>
            <a:off x="1014983" y="5330951"/>
            <a:ext cx="457200" cy="292608"/>
          </a:xfrm>
          <a:prstGeom prst="roundRect">
            <a:avLst>
              <a:gd name="adj" fmla="val 40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3" y="5312664"/>
            <a:ext cx="457200" cy="292608"/>
          </a:xfrm>
          <a:prstGeom prst="rect">
            <a:avLst/>
          </a:prstGeom>
          <a:noFill/>
        </p:spPr>
        <p:txBody>
          <a:bodyPr wrap="square" anchor="ctr" lIns="0" rIns="0" tIns="0" bIns="0">
            <a:spAutoFit/>
          </a:bodyPr>
          <a:lstStyle/>
          <a:p>
            <a:pPr algn="ctr">
              <a:lnSpc>
                <a:spcPct val="100000"/>
              </a:lnSpc>
            </a:pPr>
            <a:r>
              <a:rPr sz="950" b="1" i="0">
                <a:solidFill>
                  <a:srgbClr val="0A1512"/>
                </a:solidFill>
                <a:latin typeface="Avenir Next"/>
              </a:rPr>
              <a:t>1.3</a:t>
            </a:r>
          </a:p>
        </p:txBody>
      </p:sp>
      <p:sp>
        <p:nvSpPr>
          <p:cNvPr id="21" name="TextBox 20"/>
          <p:cNvSpPr txBox="1"/>
          <p:nvPr/>
        </p:nvSpPr>
        <p:spPr>
          <a:xfrm>
            <a:off x="1563624" y="5294375"/>
            <a:ext cx="1691639" cy="384048"/>
          </a:xfrm>
          <a:prstGeom prst="rect">
            <a:avLst/>
          </a:prstGeom>
          <a:noFill/>
        </p:spPr>
        <p:txBody>
          <a:bodyPr wrap="square" anchor="ctr" lIns="0" rIns="0" tIns="0" bIns="0">
            <a:spAutoFit/>
          </a:bodyPr>
          <a:lstStyle/>
          <a:p>
            <a:pPr algn="l">
              <a:lnSpc>
                <a:spcPct val="98000"/>
              </a:lnSpc>
            </a:pPr>
            <a:r>
              <a:rPr sz="1030" b="0" i="0">
                <a:solidFill>
                  <a:srgbClr val="A7C3B8"/>
                </a:solidFill>
                <a:latin typeface="Helvetica Neue"/>
              </a:rPr>
              <a:t>The next three experiments</a:t>
            </a:r>
          </a:p>
        </p:txBody>
      </p:sp>
      <p:sp>
        <p:nvSpPr>
          <p:cNvPr id="22" name="Rounded Rectangle 21"/>
          <p:cNvSpPr/>
          <p:nvPr/>
        </p:nvSpPr>
        <p:spPr>
          <a:xfrm>
            <a:off x="3593592" y="3017520"/>
            <a:ext cx="2651760" cy="2926080"/>
          </a:xfrm>
          <a:prstGeom prst="roundRect">
            <a:avLst>
              <a:gd name="adj" fmla="val 6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31336" y="3236976"/>
            <a:ext cx="2286000" cy="320040"/>
          </a:xfrm>
          <a:prstGeom prst="rect">
            <a:avLst/>
          </a:prstGeom>
          <a:noFill/>
        </p:spPr>
        <p:txBody>
          <a:bodyPr wrap="square" anchor="t" lIns="0" rIns="0" tIns="0" bIns="0">
            <a:spAutoFit/>
          </a:bodyPr>
          <a:lstStyle/>
          <a:p>
            <a:pPr algn="l">
              <a:lnSpc>
                <a:spcPct val="100000"/>
              </a:lnSpc>
            </a:pPr>
            <a:r>
              <a:rPr sz="1200" b="1" i="0">
                <a:solidFill>
                  <a:srgbClr val="34E0A1"/>
                </a:solidFill>
                <a:latin typeface="Avenir Next"/>
              </a:rPr>
              <a:t>PART 2</a:t>
            </a:r>
          </a:p>
        </p:txBody>
      </p:sp>
      <p:sp>
        <p:nvSpPr>
          <p:cNvPr id="24" name="TextBox 23"/>
          <p:cNvSpPr txBox="1"/>
          <p:nvPr/>
        </p:nvSpPr>
        <p:spPr>
          <a:xfrm>
            <a:off x="3831336" y="3547872"/>
            <a:ext cx="2286000" cy="365760"/>
          </a:xfrm>
          <a:prstGeom prst="rect">
            <a:avLst/>
          </a:prstGeom>
          <a:noFill/>
        </p:spPr>
        <p:txBody>
          <a:bodyPr wrap="square" anchor="t" lIns="0" rIns="0" tIns="0" bIns="0">
            <a:spAutoFit/>
          </a:bodyPr>
          <a:lstStyle/>
          <a:p>
            <a:pPr algn="l">
              <a:lnSpc>
                <a:spcPct val="100000"/>
              </a:lnSpc>
            </a:pPr>
            <a:r>
              <a:rPr sz="1500" b="1" i="0">
                <a:solidFill>
                  <a:srgbClr val="FFFFFF"/>
                </a:solidFill>
                <a:latin typeface="Avenir Next"/>
              </a:rPr>
              <a:t>AI systems design</a:t>
            </a:r>
          </a:p>
        </p:txBody>
      </p:sp>
      <p:sp>
        <p:nvSpPr>
          <p:cNvPr id="25" name="Rounded Rectangle 24"/>
          <p:cNvSpPr/>
          <p:nvPr/>
        </p:nvSpPr>
        <p:spPr>
          <a:xfrm>
            <a:off x="3831336" y="4069079"/>
            <a:ext cx="457200" cy="292608"/>
          </a:xfrm>
          <a:prstGeom prst="roundRect">
            <a:avLst>
              <a:gd name="adj" fmla="val 40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31336" y="4050791"/>
            <a:ext cx="457200" cy="292608"/>
          </a:xfrm>
          <a:prstGeom prst="rect">
            <a:avLst/>
          </a:prstGeom>
          <a:noFill/>
        </p:spPr>
        <p:txBody>
          <a:bodyPr wrap="square" anchor="ctr" lIns="0" rIns="0" tIns="0" bIns="0">
            <a:spAutoFit/>
          </a:bodyPr>
          <a:lstStyle/>
          <a:p>
            <a:pPr algn="ctr">
              <a:lnSpc>
                <a:spcPct val="100000"/>
              </a:lnSpc>
            </a:pPr>
            <a:r>
              <a:rPr sz="950" b="1" i="0">
                <a:solidFill>
                  <a:srgbClr val="0A1512"/>
                </a:solidFill>
                <a:latin typeface="Avenir Next"/>
              </a:rPr>
              <a:t>2.1</a:t>
            </a:r>
          </a:p>
        </p:txBody>
      </p:sp>
      <p:sp>
        <p:nvSpPr>
          <p:cNvPr id="27" name="TextBox 26"/>
          <p:cNvSpPr txBox="1"/>
          <p:nvPr/>
        </p:nvSpPr>
        <p:spPr>
          <a:xfrm>
            <a:off x="4379976" y="4032503"/>
            <a:ext cx="1691639" cy="384048"/>
          </a:xfrm>
          <a:prstGeom prst="rect">
            <a:avLst/>
          </a:prstGeom>
          <a:noFill/>
        </p:spPr>
        <p:txBody>
          <a:bodyPr wrap="square" anchor="ctr" lIns="0" rIns="0" tIns="0" bIns="0">
            <a:spAutoFit/>
          </a:bodyPr>
          <a:lstStyle/>
          <a:p>
            <a:pPr algn="l">
              <a:lnSpc>
                <a:spcPct val="98000"/>
              </a:lnSpc>
            </a:pPr>
            <a:r>
              <a:rPr sz="1030" b="0" i="0">
                <a:solidFill>
                  <a:srgbClr val="A7C3B8"/>
                </a:solidFill>
                <a:latin typeface="Helvetica Neue"/>
              </a:rPr>
              <a:t>End-to-end workflow</a:t>
            </a:r>
          </a:p>
        </p:txBody>
      </p:sp>
      <p:sp>
        <p:nvSpPr>
          <p:cNvPr id="28" name="Rounded Rectangle 27"/>
          <p:cNvSpPr/>
          <p:nvPr/>
        </p:nvSpPr>
        <p:spPr>
          <a:xfrm>
            <a:off x="3831336" y="4489703"/>
            <a:ext cx="457200" cy="292608"/>
          </a:xfrm>
          <a:prstGeom prst="roundRect">
            <a:avLst>
              <a:gd name="adj" fmla="val 40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31336" y="4471416"/>
            <a:ext cx="457200" cy="292608"/>
          </a:xfrm>
          <a:prstGeom prst="rect">
            <a:avLst/>
          </a:prstGeom>
          <a:noFill/>
        </p:spPr>
        <p:txBody>
          <a:bodyPr wrap="square" anchor="ctr" lIns="0" rIns="0" tIns="0" bIns="0">
            <a:spAutoFit/>
          </a:bodyPr>
          <a:lstStyle/>
          <a:p>
            <a:pPr algn="ctr">
              <a:lnSpc>
                <a:spcPct val="100000"/>
              </a:lnSpc>
            </a:pPr>
            <a:r>
              <a:rPr sz="950" b="1" i="0">
                <a:solidFill>
                  <a:srgbClr val="0A1512"/>
                </a:solidFill>
                <a:latin typeface="Avenir Next"/>
              </a:rPr>
              <a:t>2.2</a:t>
            </a:r>
          </a:p>
        </p:txBody>
      </p:sp>
      <p:sp>
        <p:nvSpPr>
          <p:cNvPr id="30" name="TextBox 29"/>
          <p:cNvSpPr txBox="1"/>
          <p:nvPr/>
        </p:nvSpPr>
        <p:spPr>
          <a:xfrm>
            <a:off x="4379976" y="4453127"/>
            <a:ext cx="1691639" cy="384048"/>
          </a:xfrm>
          <a:prstGeom prst="rect">
            <a:avLst/>
          </a:prstGeom>
          <a:noFill/>
        </p:spPr>
        <p:txBody>
          <a:bodyPr wrap="square" anchor="ctr" lIns="0" rIns="0" tIns="0" bIns="0">
            <a:spAutoFit/>
          </a:bodyPr>
          <a:lstStyle/>
          <a:p>
            <a:pPr algn="l">
              <a:lnSpc>
                <a:spcPct val="98000"/>
              </a:lnSpc>
            </a:pPr>
            <a:r>
              <a:rPr sz="1030" b="0" i="0">
                <a:solidFill>
                  <a:srgbClr val="A7C3B8"/>
                </a:solidFill>
                <a:latin typeface="Helvetica Neue"/>
              </a:rPr>
              <a:t>Which two to build first</a:t>
            </a:r>
          </a:p>
        </p:txBody>
      </p:sp>
      <p:sp>
        <p:nvSpPr>
          <p:cNvPr id="31" name="Rounded Rectangle 30"/>
          <p:cNvSpPr/>
          <p:nvPr/>
        </p:nvSpPr>
        <p:spPr>
          <a:xfrm>
            <a:off x="3831336" y="4910327"/>
            <a:ext cx="457200" cy="292608"/>
          </a:xfrm>
          <a:prstGeom prst="roundRect">
            <a:avLst>
              <a:gd name="adj" fmla="val 40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31336" y="4892040"/>
            <a:ext cx="457200" cy="292608"/>
          </a:xfrm>
          <a:prstGeom prst="rect">
            <a:avLst/>
          </a:prstGeom>
          <a:noFill/>
        </p:spPr>
        <p:txBody>
          <a:bodyPr wrap="square" anchor="ctr" lIns="0" rIns="0" tIns="0" bIns="0">
            <a:spAutoFit/>
          </a:bodyPr>
          <a:lstStyle/>
          <a:p>
            <a:pPr algn="ctr">
              <a:lnSpc>
                <a:spcPct val="100000"/>
              </a:lnSpc>
            </a:pPr>
            <a:r>
              <a:rPr sz="950" b="1" i="0">
                <a:solidFill>
                  <a:srgbClr val="0A1512"/>
                </a:solidFill>
                <a:latin typeface="Avenir Next"/>
              </a:rPr>
              <a:t>2.3</a:t>
            </a:r>
          </a:p>
        </p:txBody>
      </p:sp>
      <p:sp>
        <p:nvSpPr>
          <p:cNvPr id="33" name="TextBox 32"/>
          <p:cNvSpPr txBox="1"/>
          <p:nvPr/>
        </p:nvSpPr>
        <p:spPr>
          <a:xfrm>
            <a:off x="4379976" y="4873751"/>
            <a:ext cx="1691639" cy="384048"/>
          </a:xfrm>
          <a:prstGeom prst="rect">
            <a:avLst/>
          </a:prstGeom>
          <a:noFill/>
        </p:spPr>
        <p:txBody>
          <a:bodyPr wrap="square" anchor="ctr" lIns="0" rIns="0" tIns="0" bIns="0">
            <a:spAutoFit/>
          </a:bodyPr>
          <a:lstStyle/>
          <a:p>
            <a:pPr algn="l">
              <a:lnSpc>
                <a:spcPct val="98000"/>
              </a:lnSpc>
            </a:pPr>
            <a:r>
              <a:rPr sz="1030" b="0" i="0">
                <a:solidFill>
                  <a:srgbClr val="A7C3B8"/>
                </a:solidFill>
                <a:latin typeface="Helvetica Neue"/>
              </a:rPr>
              <a:t>Knowledge management</a:t>
            </a:r>
          </a:p>
        </p:txBody>
      </p:sp>
      <p:sp>
        <p:nvSpPr>
          <p:cNvPr id="34" name="Rounded Rectangle 33"/>
          <p:cNvSpPr/>
          <p:nvPr/>
        </p:nvSpPr>
        <p:spPr>
          <a:xfrm>
            <a:off x="3831336" y="5330951"/>
            <a:ext cx="457200" cy="292608"/>
          </a:xfrm>
          <a:prstGeom prst="roundRect">
            <a:avLst>
              <a:gd name="adj" fmla="val 40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31336" y="5312664"/>
            <a:ext cx="457200" cy="292608"/>
          </a:xfrm>
          <a:prstGeom prst="rect">
            <a:avLst/>
          </a:prstGeom>
          <a:noFill/>
        </p:spPr>
        <p:txBody>
          <a:bodyPr wrap="square" anchor="ctr" lIns="0" rIns="0" tIns="0" bIns="0">
            <a:spAutoFit/>
          </a:bodyPr>
          <a:lstStyle/>
          <a:p>
            <a:pPr algn="ctr">
              <a:lnSpc>
                <a:spcPct val="100000"/>
              </a:lnSpc>
            </a:pPr>
            <a:r>
              <a:rPr sz="950" b="1" i="0">
                <a:solidFill>
                  <a:srgbClr val="0A1512"/>
                </a:solidFill>
                <a:latin typeface="Avenir Next"/>
              </a:rPr>
              <a:t>2.4</a:t>
            </a:r>
          </a:p>
        </p:txBody>
      </p:sp>
      <p:sp>
        <p:nvSpPr>
          <p:cNvPr id="36" name="TextBox 35"/>
          <p:cNvSpPr txBox="1"/>
          <p:nvPr/>
        </p:nvSpPr>
        <p:spPr>
          <a:xfrm>
            <a:off x="4379976" y="5294375"/>
            <a:ext cx="1691639" cy="384048"/>
          </a:xfrm>
          <a:prstGeom prst="rect">
            <a:avLst/>
          </a:prstGeom>
          <a:noFill/>
        </p:spPr>
        <p:txBody>
          <a:bodyPr wrap="square" anchor="ctr" lIns="0" rIns="0" tIns="0" bIns="0">
            <a:spAutoFit/>
          </a:bodyPr>
          <a:lstStyle/>
          <a:p>
            <a:pPr algn="l">
              <a:lnSpc>
                <a:spcPct val="98000"/>
              </a:lnSpc>
            </a:pPr>
            <a:r>
              <a:rPr sz="1030" b="0" i="0">
                <a:solidFill>
                  <a:srgbClr val="A7C3B8"/>
                </a:solidFill>
                <a:latin typeface="Helvetica Neue"/>
              </a:rPr>
              <a:t>AI personas</a:t>
            </a:r>
          </a:p>
        </p:txBody>
      </p:sp>
      <p:sp>
        <p:nvSpPr>
          <p:cNvPr id="37" name="Rounded Rectangle 36"/>
          <p:cNvSpPr/>
          <p:nvPr/>
        </p:nvSpPr>
        <p:spPr>
          <a:xfrm>
            <a:off x="3831336" y="5751575"/>
            <a:ext cx="457200" cy="292608"/>
          </a:xfrm>
          <a:prstGeom prst="roundRect">
            <a:avLst>
              <a:gd name="adj" fmla="val 40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31336" y="5733288"/>
            <a:ext cx="457200" cy="292608"/>
          </a:xfrm>
          <a:prstGeom prst="rect">
            <a:avLst/>
          </a:prstGeom>
          <a:noFill/>
        </p:spPr>
        <p:txBody>
          <a:bodyPr wrap="square" anchor="ctr" lIns="0" rIns="0" tIns="0" bIns="0">
            <a:spAutoFit/>
          </a:bodyPr>
          <a:lstStyle/>
          <a:p>
            <a:pPr algn="ctr">
              <a:lnSpc>
                <a:spcPct val="100000"/>
              </a:lnSpc>
            </a:pPr>
            <a:r>
              <a:rPr sz="950" b="1" i="0">
                <a:solidFill>
                  <a:srgbClr val="0A1512"/>
                </a:solidFill>
                <a:latin typeface="Avenir Next"/>
              </a:rPr>
              <a:t>2.5</a:t>
            </a:r>
          </a:p>
        </p:txBody>
      </p:sp>
      <p:sp>
        <p:nvSpPr>
          <p:cNvPr id="39" name="TextBox 38"/>
          <p:cNvSpPr txBox="1"/>
          <p:nvPr/>
        </p:nvSpPr>
        <p:spPr>
          <a:xfrm>
            <a:off x="4379976" y="5714999"/>
            <a:ext cx="1691639" cy="384048"/>
          </a:xfrm>
          <a:prstGeom prst="rect">
            <a:avLst/>
          </a:prstGeom>
          <a:noFill/>
        </p:spPr>
        <p:txBody>
          <a:bodyPr wrap="square" anchor="ctr" lIns="0" rIns="0" tIns="0" bIns="0">
            <a:spAutoFit/>
          </a:bodyPr>
          <a:lstStyle/>
          <a:p>
            <a:pPr algn="l">
              <a:lnSpc>
                <a:spcPct val="98000"/>
              </a:lnSpc>
            </a:pPr>
            <a:r>
              <a:rPr sz="1030" b="0" i="0">
                <a:solidFill>
                  <a:srgbClr val="A7C3B8"/>
                </a:solidFill>
                <a:latin typeface="Helvetica Neue"/>
              </a:rPr>
              <a:t>Measuring success</a:t>
            </a:r>
          </a:p>
        </p:txBody>
      </p:sp>
      <p:sp>
        <p:nvSpPr>
          <p:cNvPr id="40" name="Rounded Rectangle 39"/>
          <p:cNvSpPr/>
          <p:nvPr/>
        </p:nvSpPr>
        <p:spPr>
          <a:xfrm>
            <a:off x="6409944" y="3017520"/>
            <a:ext cx="2651760" cy="2926080"/>
          </a:xfrm>
          <a:prstGeom prst="roundRect">
            <a:avLst>
              <a:gd name="adj" fmla="val 6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47688" y="3236976"/>
            <a:ext cx="2286000" cy="320040"/>
          </a:xfrm>
          <a:prstGeom prst="rect">
            <a:avLst/>
          </a:prstGeom>
          <a:noFill/>
        </p:spPr>
        <p:txBody>
          <a:bodyPr wrap="square" anchor="t" lIns="0" rIns="0" tIns="0" bIns="0">
            <a:spAutoFit/>
          </a:bodyPr>
          <a:lstStyle/>
          <a:p>
            <a:pPr algn="l">
              <a:lnSpc>
                <a:spcPct val="100000"/>
              </a:lnSpc>
            </a:pPr>
            <a:r>
              <a:rPr sz="1200" b="1" i="0">
                <a:solidFill>
                  <a:srgbClr val="34E0A1"/>
                </a:solidFill>
                <a:latin typeface="Avenir Next"/>
              </a:rPr>
              <a:t>PART 3</a:t>
            </a:r>
          </a:p>
        </p:txBody>
      </p:sp>
      <p:sp>
        <p:nvSpPr>
          <p:cNvPr id="42" name="TextBox 41"/>
          <p:cNvSpPr txBox="1"/>
          <p:nvPr/>
        </p:nvSpPr>
        <p:spPr>
          <a:xfrm>
            <a:off x="6647688" y="3547872"/>
            <a:ext cx="2286000" cy="365760"/>
          </a:xfrm>
          <a:prstGeom prst="rect">
            <a:avLst/>
          </a:prstGeom>
          <a:noFill/>
        </p:spPr>
        <p:txBody>
          <a:bodyPr wrap="square" anchor="t" lIns="0" rIns="0" tIns="0" bIns="0">
            <a:spAutoFit/>
          </a:bodyPr>
          <a:lstStyle/>
          <a:p>
            <a:pPr algn="l">
              <a:lnSpc>
                <a:spcPct val="100000"/>
              </a:lnSpc>
            </a:pPr>
            <a:r>
              <a:rPr sz="1500" b="1" i="0">
                <a:solidFill>
                  <a:srgbClr val="FFFFFF"/>
                </a:solidFill>
                <a:latin typeface="Avenir Next"/>
              </a:rPr>
              <a:t>AI debugging</a:t>
            </a:r>
          </a:p>
        </p:txBody>
      </p:sp>
      <p:sp>
        <p:nvSpPr>
          <p:cNvPr id="43" name="Rounded Rectangle 42"/>
          <p:cNvSpPr/>
          <p:nvPr/>
        </p:nvSpPr>
        <p:spPr>
          <a:xfrm>
            <a:off x="6647688" y="4069079"/>
            <a:ext cx="457200" cy="292608"/>
          </a:xfrm>
          <a:prstGeom prst="roundRect">
            <a:avLst>
              <a:gd name="adj" fmla="val 40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47688" y="4050791"/>
            <a:ext cx="457200" cy="292608"/>
          </a:xfrm>
          <a:prstGeom prst="rect">
            <a:avLst/>
          </a:prstGeom>
          <a:noFill/>
        </p:spPr>
        <p:txBody>
          <a:bodyPr wrap="square" anchor="ctr" lIns="0" rIns="0" tIns="0" bIns="0">
            <a:spAutoFit/>
          </a:bodyPr>
          <a:lstStyle/>
          <a:p>
            <a:pPr algn="ctr">
              <a:lnSpc>
                <a:spcPct val="100000"/>
              </a:lnSpc>
            </a:pPr>
            <a:r>
              <a:rPr sz="950" b="1" i="0">
                <a:solidFill>
                  <a:srgbClr val="0A1512"/>
                </a:solidFill>
                <a:latin typeface="Avenir Next"/>
              </a:rPr>
              <a:t>P3</a:t>
            </a:r>
          </a:p>
        </p:txBody>
      </p:sp>
      <p:sp>
        <p:nvSpPr>
          <p:cNvPr id="45" name="TextBox 44"/>
          <p:cNvSpPr txBox="1"/>
          <p:nvPr/>
        </p:nvSpPr>
        <p:spPr>
          <a:xfrm>
            <a:off x="7196328" y="4032503"/>
            <a:ext cx="1691639" cy="384048"/>
          </a:xfrm>
          <a:prstGeom prst="rect">
            <a:avLst/>
          </a:prstGeom>
          <a:noFill/>
        </p:spPr>
        <p:txBody>
          <a:bodyPr wrap="square" anchor="ctr" lIns="0" rIns="0" tIns="0" bIns="0">
            <a:spAutoFit/>
          </a:bodyPr>
          <a:lstStyle/>
          <a:p>
            <a:pPr algn="l">
              <a:lnSpc>
                <a:spcPct val="98000"/>
              </a:lnSpc>
            </a:pPr>
            <a:r>
              <a:rPr sz="1030" b="0" i="0">
                <a:solidFill>
                  <a:srgbClr val="A7C3B8"/>
                </a:solidFill>
                <a:latin typeface="Helvetica Neue"/>
              </a:rPr>
              <a:t>5+ reasons the rec failed</a:t>
            </a:r>
          </a:p>
        </p:txBody>
      </p:sp>
      <p:sp>
        <p:nvSpPr>
          <p:cNvPr id="46" name="TextBox 45"/>
          <p:cNvSpPr txBox="1"/>
          <p:nvPr/>
        </p:nvSpPr>
        <p:spPr>
          <a:xfrm>
            <a:off x="7196328" y="4453127"/>
            <a:ext cx="1691639" cy="384048"/>
          </a:xfrm>
          <a:prstGeom prst="rect">
            <a:avLst/>
          </a:prstGeom>
          <a:noFill/>
        </p:spPr>
        <p:txBody>
          <a:bodyPr wrap="square" anchor="ctr" lIns="0" rIns="0" tIns="0" bIns="0">
            <a:spAutoFit/>
          </a:bodyPr>
          <a:lstStyle/>
          <a:p>
            <a:pPr algn="l">
              <a:lnSpc>
                <a:spcPct val="98000"/>
              </a:lnSpc>
            </a:pPr>
            <a:r>
              <a:rPr sz="1030" b="0" i="0">
                <a:solidFill>
                  <a:srgbClr val="A7C3B8"/>
                </a:solidFill>
                <a:latin typeface="Helvetica Neue"/>
              </a:rPr>
              <a:t>+ how I'd investigate each</a:t>
            </a:r>
          </a:p>
        </p:txBody>
      </p:sp>
      <p:sp>
        <p:nvSpPr>
          <p:cNvPr id="47" name="Rounded Rectangle 46"/>
          <p:cNvSpPr/>
          <p:nvPr/>
        </p:nvSpPr>
        <p:spPr>
          <a:xfrm>
            <a:off x="9226296" y="3017520"/>
            <a:ext cx="2651760" cy="2926080"/>
          </a:xfrm>
          <a:prstGeom prst="roundRect">
            <a:avLst>
              <a:gd name="adj" fmla="val 6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464040" y="3236976"/>
            <a:ext cx="2286000" cy="320040"/>
          </a:xfrm>
          <a:prstGeom prst="rect">
            <a:avLst/>
          </a:prstGeom>
          <a:noFill/>
        </p:spPr>
        <p:txBody>
          <a:bodyPr wrap="square" anchor="t" lIns="0" rIns="0" tIns="0" bIns="0">
            <a:spAutoFit/>
          </a:bodyPr>
          <a:lstStyle/>
          <a:p>
            <a:pPr algn="l">
              <a:lnSpc>
                <a:spcPct val="100000"/>
              </a:lnSpc>
            </a:pPr>
            <a:r>
              <a:rPr sz="1200" b="1" i="0">
                <a:solidFill>
                  <a:srgbClr val="34E0A1"/>
                </a:solidFill>
                <a:latin typeface="Avenir Next"/>
              </a:rPr>
              <a:t>PART 4</a:t>
            </a:r>
          </a:p>
        </p:txBody>
      </p:sp>
      <p:sp>
        <p:nvSpPr>
          <p:cNvPr id="49" name="TextBox 48"/>
          <p:cNvSpPr txBox="1"/>
          <p:nvPr/>
        </p:nvSpPr>
        <p:spPr>
          <a:xfrm>
            <a:off x="9464040" y="3547872"/>
            <a:ext cx="2286000" cy="365760"/>
          </a:xfrm>
          <a:prstGeom prst="rect">
            <a:avLst/>
          </a:prstGeom>
          <a:noFill/>
        </p:spPr>
        <p:txBody>
          <a:bodyPr wrap="square" anchor="t" lIns="0" rIns="0" tIns="0" bIns="0">
            <a:spAutoFit/>
          </a:bodyPr>
          <a:lstStyle/>
          <a:p>
            <a:pPr algn="l">
              <a:lnSpc>
                <a:spcPct val="100000"/>
              </a:lnSpc>
            </a:pPr>
            <a:r>
              <a:rPr sz="1500" b="1" i="0">
                <a:solidFill>
                  <a:srgbClr val="FFFFFF"/>
                </a:solidFill>
                <a:latin typeface="Avenir Next"/>
              </a:rPr>
              <a:t>Stakeholders</a:t>
            </a:r>
          </a:p>
        </p:txBody>
      </p:sp>
      <p:sp>
        <p:nvSpPr>
          <p:cNvPr id="50" name="Rounded Rectangle 49"/>
          <p:cNvSpPr/>
          <p:nvPr/>
        </p:nvSpPr>
        <p:spPr>
          <a:xfrm>
            <a:off x="9464040" y="4069079"/>
            <a:ext cx="457200" cy="292608"/>
          </a:xfrm>
          <a:prstGeom prst="roundRect">
            <a:avLst>
              <a:gd name="adj" fmla="val 40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464040" y="4050791"/>
            <a:ext cx="457200" cy="292608"/>
          </a:xfrm>
          <a:prstGeom prst="rect">
            <a:avLst/>
          </a:prstGeom>
          <a:noFill/>
        </p:spPr>
        <p:txBody>
          <a:bodyPr wrap="square" anchor="ctr" lIns="0" rIns="0" tIns="0" bIns="0">
            <a:spAutoFit/>
          </a:bodyPr>
          <a:lstStyle/>
          <a:p>
            <a:pPr algn="ctr">
              <a:lnSpc>
                <a:spcPct val="100000"/>
              </a:lnSpc>
            </a:pPr>
            <a:r>
              <a:rPr sz="950" b="1" i="0">
                <a:solidFill>
                  <a:srgbClr val="0A1512"/>
                </a:solidFill>
                <a:latin typeface="Avenir Next"/>
              </a:rPr>
              <a:t>P4</a:t>
            </a:r>
          </a:p>
        </p:txBody>
      </p:sp>
      <p:sp>
        <p:nvSpPr>
          <p:cNvPr id="52" name="TextBox 51"/>
          <p:cNvSpPr txBox="1"/>
          <p:nvPr/>
        </p:nvSpPr>
        <p:spPr>
          <a:xfrm>
            <a:off x="10012680" y="4032503"/>
            <a:ext cx="1691639" cy="384048"/>
          </a:xfrm>
          <a:prstGeom prst="rect">
            <a:avLst/>
          </a:prstGeom>
          <a:noFill/>
        </p:spPr>
        <p:txBody>
          <a:bodyPr wrap="square" anchor="ctr" lIns="0" rIns="0" tIns="0" bIns="0">
            <a:spAutoFit/>
          </a:bodyPr>
          <a:lstStyle/>
          <a:p>
            <a:pPr algn="l">
              <a:lnSpc>
                <a:spcPct val="98000"/>
              </a:lnSpc>
            </a:pPr>
            <a:r>
              <a:rPr sz="1030" b="0" i="0">
                <a:solidFill>
                  <a:srgbClr val="A7C3B8"/>
                </a:solidFill>
                <a:latin typeface="Helvetica Neue"/>
              </a:rPr>
              <a:t>Aligning Finance &amp; the Lead</a:t>
            </a:r>
          </a:p>
        </p:txBody>
      </p:sp>
      <p:sp>
        <p:nvSpPr>
          <p:cNvPr id="53" name="TextBox 52"/>
          <p:cNvSpPr txBox="1"/>
          <p:nvPr/>
        </p:nvSpPr>
        <p:spPr>
          <a:xfrm>
            <a:off x="10012680" y="4453127"/>
            <a:ext cx="1691639" cy="384048"/>
          </a:xfrm>
          <a:prstGeom prst="rect">
            <a:avLst/>
          </a:prstGeom>
          <a:noFill/>
        </p:spPr>
        <p:txBody>
          <a:bodyPr wrap="square" anchor="ctr" lIns="0" rIns="0" tIns="0" bIns="0">
            <a:spAutoFit/>
          </a:bodyPr>
          <a:lstStyle/>
          <a:p>
            <a:pPr algn="l">
              <a:lnSpc>
                <a:spcPct val="98000"/>
              </a:lnSpc>
            </a:pPr>
            <a:r>
              <a:rPr sz="1030" b="0" i="0">
                <a:solidFill>
                  <a:srgbClr val="A7C3B8"/>
                </a:solidFill>
                <a:latin typeface="Helvetica Neue"/>
              </a:rPr>
              <a:t>~300-word response</a:t>
            </a:r>
          </a:p>
        </p:txBody>
      </p:sp>
      <p:sp>
        <p:nvSpPr>
          <p:cNvPr id="54" name="Rounded Rectangle 53"/>
          <p:cNvSpPr/>
          <p:nvPr/>
        </p:nvSpPr>
        <p:spPr>
          <a:xfrm>
            <a:off x="9464040" y="4910327"/>
            <a:ext cx="457200" cy="292608"/>
          </a:xfrm>
          <a:prstGeom prst="roundRect">
            <a:avLst>
              <a:gd name="adj" fmla="val 40000"/>
            </a:avLst>
          </a:prstGeom>
          <a:solidFill>
            <a:srgbClr val="0E1F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464040" y="4892040"/>
            <a:ext cx="457200" cy="292608"/>
          </a:xfrm>
          <a:prstGeom prst="rect">
            <a:avLst/>
          </a:prstGeom>
          <a:noFill/>
        </p:spPr>
        <p:txBody>
          <a:bodyPr wrap="square" anchor="ctr" lIns="0" rIns="0" tIns="0" bIns="0">
            <a:spAutoFit/>
          </a:bodyPr>
          <a:lstStyle/>
          <a:p>
            <a:pPr algn="ctr">
              <a:lnSpc>
                <a:spcPct val="100000"/>
              </a:lnSpc>
            </a:pPr>
            <a:r>
              <a:rPr sz="1100" b="1" i="0">
                <a:solidFill>
                  <a:srgbClr val="34E0A1"/>
                </a:solidFill>
                <a:latin typeface="Avenir Next"/>
              </a:rPr>
              <a:t>→</a:t>
            </a:r>
          </a:p>
        </p:txBody>
      </p:sp>
      <p:sp>
        <p:nvSpPr>
          <p:cNvPr id="56" name="TextBox 55"/>
          <p:cNvSpPr txBox="1"/>
          <p:nvPr/>
        </p:nvSpPr>
        <p:spPr>
          <a:xfrm>
            <a:off x="10012680" y="4873751"/>
            <a:ext cx="1691639" cy="384048"/>
          </a:xfrm>
          <a:prstGeom prst="rect">
            <a:avLst/>
          </a:prstGeom>
          <a:noFill/>
        </p:spPr>
        <p:txBody>
          <a:bodyPr wrap="square" anchor="ctr" lIns="0" rIns="0" tIns="0" bIns="0">
            <a:spAutoFit/>
          </a:bodyPr>
          <a:lstStyle/>
          <a:p>
            <a:pPr algn="l">
              <a:lnSpc>
                <a:spcPct val="98000"/>
              </a:lnSpc>
            </a:pPr>
            <a:r>
              <a:rPr sz="1030" b="0" i="0">
                <a:solidFill>
                  <a:srgbClr val="A7C3B8"/>
                </a:solidFill>
                <a:latin typeface="Helvetica Neue"/>
              </a:rPr>
              <a:t>In practice: change mgmt</a:t>
            </a:r>
          </a:p>
        </p:txBody>
      </p:sp>
      <p:sp>
        <p:nvSpPr>
          <p:cNvPr id="57" name="TextBox 56"/>
          <p:cNvSpPr txBox="1"/>
          <p:nvPr/>
        </p:nvSpPr>
        <p:spPr>
          <a:xfrm>
            <a:off x="548640" y="6400800"/>
            <a:ext cx="7315200" cy="274320"/>
          </a:xfrm>
          <a:prstGeom prst="rect">
            <a:avLst/>
          </a:prstGeom>
          <a:noFill/>
        </p:spPr>
        <p:txBody>
          <a:bodyPr wrap="square" anchor="t" lIns="0" rIns="0" tIns="0" bIns="0">
            <a:spAutoFit/>
          </a:bodyPr>
          <a:lstStyle/>
          <a:p>
            <a:pPr algn="l">
              <a:lnSpc>
                <a:spcPct val="100000"/>
              </a:lnSpc>
            </a:pPr>
            <a:r>
              <a:rPr sz="900" b="0" i="0">
                <a:solidFill>
                  <a:srgbClr val="A7C3B8"/>
                </a:solidFill>
                <a:latin typeface="Helvetica Neue"/>
              </a:rPr>
              <a:t>Adrien Enjalbert  ·  AI Systems, Personalization &amp; Growth</a:t>
            </a:r>
          </a:p>
        </p:txBody>
      </p:sp>
      <p:sp>
        <p:nvSpPr>
          <p:cNvPr id="58" name="TextBox 57"/>
          <p:cNvSpPr txBox="1"/>
          <p:nvPr/>
        </p:nvSpPr>
        <p:spPr>
          <a:xfrm>
            <a:off x="10911535" y="6400800"/>
            <a:ext cx="731520" cy="274320"/>
          </a:xfrm>
          <a:prstGeom prst="rect">
            <a:avLst/>
          </a:prstGeom>
          <a:noFill/>
        </p:spPr>
        <p:txBody>
          <a:bodyPr wrap="square" anchor="t" lIns="0" rIns="0" tIns="0" bIns="0">
            <a:spAutoFit/>
          </a:bodyPr>
          <a:lstStyle/>
          <a:p>
            <a:pPr algn="r">
              <a:lnSpc>
                <a:spcPct val="100000"/>
              </a:lnSpc>
            </a:pPr>
            <a:r>
              <a:rPr sz="900" b="1" i="0">
                <a:solidFill>
                  <a:srgbClr val="A7C3B8"/>
                </a:solidFill>
                <a:latin typeface="Avenir Next"/>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566928"/>
            <a:ext cx="749808" cy="420624"/>
          </a:xfrm>
          <a:prstGeom prst="roundRect">
            <a:avLst>
              <a:gd name="adj" fmla="val 50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548640"/>
            <a:ext cx="749808" cy="420624"/>
          </a:xfrm>
          <a:prstGeom prst="rect">
            <a:avLst/>
          </a:prstGeom>
          <a:noFill/>
        </p:spPr>
        <p:txBody>
          <a:bodyPr wrap="square" anchor="ctr" lIns="0" rIns="0" tIns="0" bIns="0">
            <a:spAutoFit/>
          </a:bodyPr>
          <a:lstStyle/>
          <a:p>
            <a:pPr algn="ctr">
              <a:lnSpc>
                <a:spcPct val="100000"/>
              </a:lnSpc>
            </a:pPr>
            <a:r>
              <a:rPr sz="1400" b="1" i="0">
                <a:solidFill>
                  <a:srgbClr val="0A1512"/>
                </a:solidFill>
                <a:latin typeface="Avenir Next"/>
              </a:rPr>
              <a:t>1.1</a:t>
            </a:r>
          </a:p>
        </p:txBody>
      </p:sp>
      <p:sp>
        <p:nvSpPr>
          <p:cNvPr id="5" name="TextBox 4"/>
          <p:cNvSpPr txBox="1"/>
          <p:nvPr/>
        </p:nvSpPr>
        <p:spPr>
          <a:xfrm>
            <a:off x="1728216" y="548640"/>
            <a:ext cx="10058400" cy="457200"/>
          </a:xfrm>
          <a:prstGeom prst="rect">
            <a:avLst/>
          </a:prstGeom>
          <a:noFill/>
        </p:spPr>
        <p:txBody>
          <a:bodyPr wrap="square" anchor="ctr" lIns="0" rIns="0" tIns="0" bIns="0">
            <a:spAutoFit/>
          </a:bodyPr>
          <a:lstStyle/>
          <a:p>
            <a:pPr algn="l">
              <a:lnSpc>
                <a:spcPct val="100000"/>
              </a:lnSpc>
            </a:pPr>
            <a:r>
              <a:rPr sz="900" b="1" i="0">
                <a:solidFill>
                  <a:srgbClr val="A7BDB2"/>
                </a:solidFill>
                <a:latin typeface="Avenir Next"/>
              </a:rPr>
              <a:t>ANSWERING  </a:t>
            </a:r>
            <a:r>
              <a:rPr sz="1250" b="1" i="0">
                <a:solidFill>
                  <a:srgbClr val="13221C"/>
                </a:solidFill>
                <a:latin typeface="Avenir Next"/>
              </a:rPr>
              <a:t>Which segments create or destroy value?</a:t>
            </a:r>
          </a:p>
        </p:txBody>
      </p:sp>
      <p:sp>
        <p:nvSpPr>
          <p:cNvPr id="6" name="TextBox 5"/>
          <p:cNvSpPr txBox="1"/>
          <p:nvPr/>
        </p:nvSpPr>
        <p:spPr>
          <a:xfrm>
            <a:off x="731520" y="1188720"/>
            <a:ext cx="10789920" cy="1097280"/>
          </a:xfrm>
          <a:prstGeom prst="rect">
            <a:avLst/>
          </a:prstGeom>
          <a:noFill/>
        </p:spPr>
        <p:txBody>
          <a:bodyPr wrap="square" anchor="t" lIns="0" rIns="0" tIns="0" bIns="0">
            <a:spAutoFit/>
          </a:bodyPr>
          <a:lstStyle/>
          <a:p>
            <a:pPr algn="l">
              <a:lnSpc>
                <a:spcPct val="100000"/>
              </a:lnSpc>
            </a:pPr>
            <a:r>
              <a:rPr sz="3000" b="1" i="0">
                <a:solidFill>
                  <a:srgbClr val="13221C"/>
                </a:solidFill>
                <a:latin typeface="Avenir Next"/>
              </a:rPr>
              <a:t>One flat rule is hiding two different businesses.</a:t>
            </a:r>
          </a:p>
        </p:txBody>
      </p:sp>
      <p:sp>
        <p:nvSpPr>
          <p:cNvPr id="7" name="TextBox 6"/>
          <p:cNvSpPr txBox="1"/>
          <p:nvPr/>
        </p:nvSpPr>
        <p:spPr>
          <a:xfrm>
            <a:off x="777240" y="2148840"/>
            <a:ext cx="5486400" cy="914400"/>
          </a:xfrm>
          <a:prstGeom prst="rect">
            <a:avLst/>
          </a:prstGeom>
          <a:noFill/>
        </p:spPr>
        <p:txBody>
          <a:bodyPr wrap="square" anchor="t" lIns="0" rIns="0" tIns="0" bIns="0">
            <a:spAutoFit/>
          </a:bodyPr>
          <a:lstStyle/>
          <a:p>
            <a:pPr algn="l">
              <a:lnSpc>
                <a:spcPct val="110000"/>
              </a:lnSpc>
            </a:pPr>
            <a:r>
              <a:rPr sz="1350" b="0" i="0">
                <a:solidFill>
                  <a:srgbClr val="53635C"/>
                </a:solidFill>
                <a:latin typeface="Helvetica Neue"/>
              </a:rPr>
              <a:t>Read by incrementality, the pattern is clear: the newer the customer, the more the discount actually causes the booking. We pay the same 15% to people who need convincing and to people who were already coming.</a:t>
            </a:r>
          </a:p>
        </p:txBody>
      </p:sp>
      <p:pic>
        <p:nvPicPr>
          <p:cNvPr id="8" name="Picture 7" descr="chart_incr.png"/>
          <p:cNvPicPr>
            <a:picLocks noChangeAspect="1"/>
          </p:cNvPicPr>
          <p:nvPr/>
        </p:nvPicPr>
        <p:blipFill>
          <a:blip r:embed="rId2"/>
          <a:stretch>
            <a:fillRect/>
          </a:stretch>
        </p:blipFill>
        <p:spPr>
          <a:xfrm>
            <a:off x="640080" y="3108960"/>
            <a:ext cx="7132320" cy="3220205"/>
          </a:xfrm>
          <a:prstGeom prst="rect">
            <a:avLst/>
          </a:prstGeom>
        </p:spPr>
      </p:pic>
      <p:sp>
        <p:nvSpPr>
          <p:cNvPr id="9" name="Rounded Rectangle 8"/>
          <p:cNvSpPr/>
          <p:nvPr/>
        </p:nvSpPr>
        <p:spPr>
          <a:xfrm>
            <a:off x="8549640" y="2103120"/>
            <a:ext cx="3063240" cy="141732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549640" y="2103120"/>
            <a:ext cx="73152" cy="1417320"/>
          </a:xfrm>
          <a:prstGeom prst="rect">
            <a:avLst/>
          </a:prstGeom>
          <a:solidFill>
            <a:srgbClr val="14B0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05672" y="2286000"/>
            <a:ext cx="2606040" cy="365760"/>
          </a:xfrm>
          <a:prstGeom prst="rect">
            <a:avLst/>
          </a:prstGeom>
          <a:noFill/>
        </p:spPr>
        <p:txBody>
          <a:bodyPr wrap="square" anchor="t" lIns="0" rIns="0" tIns="0" bIns="0">
            <a:spAutoFit/>
          </a:bodyPr>
          <a:lstStyle/>
          <a:p>
            <a:pPr algn="l">
              <a:lnSpc>
                <a:spcPct val="100000"/>
              </a:lnSpc>
            </a:pPr>
            <a:r>
              <a:rPr sz="1050" b="1" i="0">
                <a:solidFill>
                  <a:srgbClr val="14B083"/>
                </a:solidFill>
                <a:latin typeface="Avenir Next"/>
              </a:rPr>
              <a:t>VALUE CREATED</a:t>
            </a:r>
          </a:p>
        </p:txBody>
      </p:sp>
      <p:sp>
        <p:nvSpPr>
          <p:cNvPr id="12" name="TextBox 11"/>
          <p:cNvSpPr txBox="1"/>
          <p:nvPr/>
        </p:nvSpPr>
        <p:spPr>
          <a:xfrm>
            <a:off x="8805672" y="2615184"/>
            <a:ext cx="2606040" cy="822960"/>
          </a:xfrm>
          <a:prstGeom prst="rect">
            <a:avLst/>
          </a:prstGeom>
          <a:noFill/>
        </p:spPr>
        <p:txBody>
          <a:bodyPr wrap="square" anchor="t" lIns="0" rIns="0" tIns="0" bIns="0">
            <a:spAutoFit/>
          </a:bodyPr>
          <a:lstStyle/>
          <a:p>
            <a:pPr algn="l">
              <a:lnSpc>
                <a:spcPct val="105000"/>
              </a:lnSpc>
            </a:pPr>
            <a:r>
              <a:rPr sz="1200" b="1" i="0">
                <a:solidFill>
                  <a:srgbClr val="13221C"/>
                </a:solidFill>
                <a:latin typeface="Helvetica Neue"/>
              </a:rPr>
              <a:t>First purchase</a:t>
            </a:r>
            <a:r>
              <a:rPr sz="1200" b="0" i="0">
                <a:solidFill>
                  <a:srgbClr val="53635C"/>
                </a:solidFill>
                <a:latin typeface="Helvetica Neue"/>
              </a:rPr>
              <a:t>: UK 71%, DE 63% incremental. New customers we genuinely win.</a:t>
            </a:r>
          </a:p>
        </p:txBody>
      </p:sp>
      <p:sp>
        <p:nvSpPr>
          <p:cNvPr id="13" name="Rounded Rectangle 12"/>
          <p:cNvSpPr/>
          <p:nvPr/>
        </p:nvSpPr>
        <p:spPr>
          <a:xfrm>
            <a:off x="8549640" y="3703320"/>
            <a:ext cx="3063240" cy="141732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549640" y="3703320"/>
            <a:ext cx="73152" cy="1417320"/>
          </a:xfrm>
          <a:prstGeom prst="rect">
            <a:avLst/>
          </a:prstGeom>
          <a:solidFill>
            <a:srgbClr val="F0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05672" y="3886200"/>
            <a:ext cx="2606040" cy="365760"/>
          </a:xfrm>
          <a:prstGeom prst="rect">
            <a:avLst/>
          </a:prstGeom>
          <a:noFill/>
        </p:spPr>
        <p:txBody>
          <a:bodyPr wrap="square" anchor="t" lIns="0" rIns="0" tIns="0" bIns="0">
            <a:spAutoFit/>
          </a:bodyPr>
          <a:lstStyle/>
          <a:p>
            <a:pPr algn="l">
              <a:lnSpc>
                <a:spcPct val="100000"/>
              </a:lnSpc>
            </a:pPr>
            <a:r>
              <a:rPr sz="1050" b="1" i="0">
                <a:solidFill>
                  <a:srgbClr val="F05B5B"/>
                </a:solidFill>
                <a:latin typeface="Avenir Next"/>
              </a:rPr>
              <a:t>VALUE DESTROYED</a:t>
            </a:r>
          </a:p>
        </p:txBody>
      </p:sp>
      <p:sp>
        <p:nvSpPr>
          <p:cNvPr id="16" name="TextBox 15"/>
          <p:cNvSpPr txBox="1"/>
          <p:nvPr/>
        </p:nvSpPr>
        <p:spPr>
          <a:xfrm>
            <a:off x="8805672" y="4215384"/>
            <a:ext cx="2606040" cy="822960"/>
          </a:xfrm>
          <a:prstGeom prst="rect">
            <a:avLst/>
          </a:prstGeom>
          <a:noFill/>
        </p:spPr>
        <p:txBody>
          <a:bodyPr wrap="square" anchor="t" lIns="0" rIns="0" tIns="0" bIns="0">
            <a:spAutoFit/>
          </a:bodyPr>
          <a:lstStyle/>
          <a:p>
            <a:pPr algn="l">
              <a:lnSpc>
                <a:spcPct val="105000"/>
              </a:lnSpc>
            </a:pPr>
            <a:r>
              <a:rPr sz="1200" b="1" i="0">
                <a:solidFill>
                  <a:srgbClr val="13221C"/>
                </a:solidFill>
                <a:latin typeface="Helvetica Neue"/>
              </a:rPr>
              <a:t>Repeat buyers</a:t>
            </a:r>
            <a:r>
              <a:rPr sz="1200" b="0" i="0">
                <a:solidFill>
                  <a:srgbClr val="53635C"/>
                </a:solidFill>
                <a:latin typeface="Helvetica Neue"/>
              </a:rPr>
              <a:t>: DE 28%, UK 31%. We subsidise people who would book anyway.</a:t>
            </a:r>
          </a:p>
        </p:txBody>
      </p:sp>
      <p:sp>
        <p:nvSpPr>
          <p:cNvPr id="17" name="TextBox 16"/>
          <p:cNvSpPr txBox="1"/>
          <p:nvPr/>
        </p:nvSpPr>
        <p:spPr>
          <a:xfrm>
            <a:off x="8549640" y="5257800"/>
            <a:ext cx="3063240" cy="731520"/>
          </a:xfrm>
          <a:prstGeom prst="rect">
            <a:avLst/>
          </a:prstGeom>
          <a:noFill/>
        </p:spPr>
        <p:txBody>
          <a:bodyPr wrap="square" anchor="t" lIns="0" rIns="0" tIns="0" bIns="0">
            <a:spAutoFit/>
          </a:bodyPr>
          <a:lstStyle/>
          <a:p>
            <a:pPr algn="l">
              <a:lnSpc>
                <a:spcPct val="105000"/>
              </a:lnSpc>
            </a:pPr>
            <a:r>
              <a:rPr sz="1150" b="1" i="0">
                <a:solidFill>
                  <a:srgbClr val="13221C"/>
                </a:solidFill>
                <a:latin typeface="Helvetica Neue"/>
              </a:rPr>
              <a:t>The metric that matters is incrementality, not redemption. </a:t>
            </a:r>
            <a:r>
              <a:rPr sz="1150" b="0" i="0">
                <a:solidFill>
                  <a:srgbClr val="53635C"/>
                </a:solidFill>
                <a:latin typeface="Helvetica Neue"/>
              </a:rPr>
              <a:t>UK repeat redeems the most and is nearly the least incremental.</a:t>
            </a:r>
          </a:p>
        </p:txBody>
      </p:sp>
      <p:sp>
        <p:nvSpPr>
          <p:cNvPr id="18" name="TextBox 17"/>
          <p:cNvSpPr txBox="1"/>
          <p:nvPr/>
        </p:nvSpPr>
        <p:spPr>
          <a:xfrm>
            <a:off x="548640" y="6400800"/>
            <a:ext cx="7315200" cy="274320"/>
          </a:xfrm>
          <a:prstGeom prst="rect">
            <a:avLst/>
          </a:prstGeom>
          <a:noFill/>
        </p:spPr>
        <p:txBody>
          <a:bodyPr wrap="square" anchor="t" lIns="0" rIns="0" tIns="0" bIns="0">
            <a:spAutoFit/>
          </a:bodyPr>
          <a:lstStyle/>
          <a:p>
            <a:pPr algn="l">
              <a:lnSpc>
                <a:spcPct val="100000"/>
              </a:lnSpc>
            </a:pPr>
            <a:r>
              <a:rPr sz="900" b="0" i="0">
                <a:solidFill>
                  <a:srgbClr val="53635C"/>
                </a:solidFill>
                <a:latin typeface="Helvetica Neue"/>
              </a:rPr>
              <a:t>Adrien Enjalbert  ·  AI Systems, Personalization &amp; Growth</a:t>
            </a:r>
          </a:p>
        </p:txBody>
      </p:sp>
      <p:sp>
        <p:nvSpPr>
          <p:cNvPr id="19" name="TextBox 18"/>
          <p:cNvSpPr txBox="1"/>
          <p:nvPr/>
        </p:nvSpPr>
        <p:spPr>
          <a:xfrm>
            <a:off x="10911535" y="6400800"/>
            <a:ext cx="731520" cy="274320"/>
          </a:xfrm>
          <a:prstGeom prst="rect">
            <a:avLst/>
          </a:prstGeom>
          <a:noFill/>
        </p:spPr>
        <p:txBody>
          <a:bodyPr wrap="square" anchor="t" lIns="0" rIns="0" tIns="0" bIns="0">
            <a:spAutoFit/>
          </a:bodyPr>
          <a:lstStyle/>
          <a:p>
            <a:pPr algn="r">
              <a:lnSpc>
                <a:spcPct val="100000"/>
              </a:lnSpc>
            </a:pPr>
            <a:r>
              <a:rPr sz="900" b="1" i="0">
                <a:solidFill>
                  <a:srgbClr val="53635C"/>
                </a:solidFill>
                <a:latin typeface="Avenir Next"/>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566928"/>
            <a:ext cx="749808" cy="420624"/>
          </a:xfrm>
          <a:prstGeom prst="roundRect">
            <a:avLst>
              <a:gd name="adj" fmla="val 50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548640"/>
            <a:ext cx="749808" cy="420624"/>
          </a:xfrm>
          <a:prstGeom prst="rect">
            <a:avLst/>
          </a:prstGeom>
          <a:noFill/>
        </p:spPr>
        <p:txBody>
          <a:bodyPr wrap="square" anchor="ctr" lIns="0" rIns="0" tIns="0" bIns="0">
            <a:spAutoFit/>
          </a:bodyPr>
          <a:lstStyle/>
          <a:p>
            <a:pPr algn="ctr">
              <a:lnSpc>
                <a:spcPct val="100000"/>
              </a:lnSpc>
            </a:pPr>
            <a:r>
              <a:rPr sz="1400" b="1" i="0">
                <a:solidFill>
                  <a:srgbClr val="0A1512"/>
                </a:solidFill>
                <a:latin typeface="Avenir Next"/>
              </a:rPr>
              <a:t>1.1</a:t>
            </a:r>
          </a:p>
        </p:txBody>
      </p:sp>
      <p:sp>
        <p:nvSpPr>
          <p:cNvPr id="5" name="TextBox 4"/>
          <p:cNvSpPr txBox="1"/>
          <p:nvPr/>
        </p:nvSpPr>
        <p:spPr>
          <a:xfrm>
            <a:off x="1728216" y="548640"/>
            <a:ext cx="10058400" cy="457200"/>
          </a:xfrm>
          <a:prstGeom prst="rect">
            <a:avLst/>
          </a:prstGeom>
          <a:noFill/>
        </p:spPr>
        <p:txBody>
          <a:bodyPr wrap="square" anchor="ctr" lIns="0" rIns="0" tIns="0" bIns="0">
            <a:spAutoFit/>
          </a:bodyPr>
          <a:lstStyle/>
          <a:p>
            <a:pPr algn="l">
              <a:lnSpc>
                <a:spcPct val="100000"/>
              </a:lnSpc>
            </a:pPr>
            <a:r>
              <a:rPr sz="900" b="1" i="0">
                <a:solidFill>
                  <a:srgbClr val="A7BDB2"/>
                </a:solidFill>
                <a:latin typeface="Avenir Next"/>
              </a:rPr>
              <a:t>ANSWERING  </a:t>
            </a:r>
            <a:r>
              <a:rPr sz="1250" b="1" i="0">
                <a:solidFill>
                  <a:srgbClr val="13221C"/>
                </a:solidFill>
                <a:latin typeface="Avenir Next"/>
              </a:rPr>
              <a:t>Going deeper: what advanced analysis reveals.</a:t>
            </a:r>
          </a:p>
        </p:txBody>
      </p:sp>
      <p:sp>
        <p:nvSpPr>
          <p:cNvPr id="6" name="TextBox 5"/>
          <p:cNvSpPr txBox="1"/>
          <p:nvPr/>
        </p:nvSpPr>
        <p:spPr>
          <a:xfrm>
            <a:off x="731520" y="1188720"/>
            <a:ext cx="10881360" cy="914400"/>
          </a:xfrm>
          <a:prstGeom prst="rect">
            <a:avLst/>
          </a:prstGeom>
          <a:noFill/>
        </p:spPr>
        <p:txBody>
          <a:bodyPr wrap="square" anchor="t" lIns="0" rIns="0" tIns="0" bIns="0">
            <a:spAutoFit/>
          </a:bodyPr>
          <a:lstStyle/>
          <a:p>
            <a:pPr algn="l">
              <a:lnSpc>
                <a:spcPct val="100000"/>
              </a:lnSpc>
            </a:pPr>
            <a:r>
              <a:rPr sz="2600" b="1" i="0">
                <a:solidFill>
                  <a:srgbClr val="13221C"/>
                </a:solidFill>
                <a:latin typeface="Avenir Next"/>
              </a:rPr>
              <a:t>Redemption is a vanity metric. Map it against value.</a:t>
            </a:r>
          </a:p>
        </p:txBody>
      </p:sp>
      <p:sp>
        <p:nvSpPr>
          <p:cNvPr id="7" name="TextBox 6"/>
          <p:cNvSpPr txBox="1"/>
          <p:nvPr/>
        </p:nvSpPr>
        <p:spPr>
          <a:xfrm>
            <a:off x="777240" y="2084831"/>
            <a:ext cx="10607040" cy="502920"/>
          </a:xfrm>
          <a:prstGeom prst="rect">
            <a:avLst/>
          </a:prstGeom>
          <a:noFill/>
        </p:spPr>
        <p:txBody>
          <a:bodyPr wrap="square" anchor="t" lIns="0" rIns="0" tIns="0" bIns="0">
            <a:spAutoFit/>
          </a:bodyPr>
          <a:lstStyle/>
          <a:p>
            <a:pPr algn="l">
              <a:lnSpc>
                <a:spcPct val="105000"/>
              </a:lnSpc>
            </a:pPr>
            <a:r>
              <a:rPr sz="1250" b="1" i="0">
                <a:solidFill>
                  <a:srgbClr val="13221C"/>
                </a:solidFill>
                <a:latin typeface="Helvetica Neue"/>
              </a:rPr>
              <a:t>Plot every segment two ways: </a:t>
            </a:r>
            <a:r>
              <a:rPr sz="1250" b="0" i="0">
                <a:solidFill>
                  <a:srgbClr val="53635C"/>
                </a:solidFill>
                <a:latin typeface="Helvetica Neue"/>
              </a:rPr>
              <a:t>how many take the discount (redemption) vs how many actually needed it (incrementality). Winners sit high; the money leaks bottom-right.</a:t>
            </a:r>
          </a:p>
        </p:txBody>
      </p:sp>
      <p:pic>
        <p:nvPicPr>
          <p:cNvPr id="8" name="Picture 7" descr="chart_valuemap.png"/>
          <p:cNvPicPr>
            <a:picLocks noChangeAspect="1"/>
          </p:cNvPicPr>
          <p:nvPr/>
        </p:nvPicPr>
        <p:blipFill>
          <a:blip r:embed="rId2"/>
          <a:stretch>
            <a:fillRect/>
          </a:stretch>
        </p:blipFill>
        <p:spPr>
          <a:xfrm>
            <a:off x="502920" y="2697480"/>
            <a:ext cx="6446520" cy="3737113"/>
          </a:xfrm>
          <a:prstGeom prst="rect">
            <a:avLst/>
          </a:prstGeom>
        </p:spPr>
      </p:pic>
      <p:sp>
        <p:nvSpPr>
          <p:cNvPr id="9" name="Rounded Rectangle 8"/>
          <p:cNvSpPr/>
          <p:nvPr/>
        </p:nvSpPr>
        <p:spPr>
          <a:xfrm>
            <a:off x="7223760" y="2697480"/>
            <a:ext cx="4206240" cy="160020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2697480"/>
            <a:ext cx="73152" cy="1600200"/>
          </a:xfrm>
          <a:prstGeom prst="rect">
            <a:avLst/>
          </a:prstGeom>
          <a:solidFill>
            <a:srgbClr val="F0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79792" y="2871216"/>
            <a:ext cx="3749039" cy="365760"/>
          </a:xfrm>
          <a:prstGeom prst="rect">
            <a:avLst/>
          </a:prstGeom>
          <a:noFill/>
        </p:spPr>
        <p:txBody>
          <a:bodyPr wrap="square" anchor="t" lIns="0" rIns="0" tIns="0" bIns="0">
            <a:spAutoFit/>
          </a:bodyPr>
          <a:lstStyle/>
          <a:p>
            <a:pPr algn="l">
              <a:lnSpc>
                <a:spcPct val="100000"/>
              </a:lnSpc>
            </a:pPr>
            <a:r>
              <a:rPr sz="1050" b="1" i="0">
                <a:solidFill>
                  <a:srgbClr val="F05B5B"/>
                </a:solidFill>
                <a:latin typeface="Avenir Next"/>
              </a:rPr>
              <a:t>THE ANGLE</a:t>
            </a:r>
          </a:p>
        </p:txBody>
      </p:sp>
      <p:sp>
        <p:nvSpPr>
          <p:cNvPr id="12" name="TextBox 11"/>
          <p:cNvSpPr txBox="1"/>
          <p:nvPr/>
        </p:nvSpPr>
        <p:spPr>
          <a:xfrm>
            <a:off x="7479792" y="3236976"/>
            <a:ext cx="3703320" cy="1005840"/>
          </a:xfrm>
          <a:prstGeom prst="rect">
            <a:avLst/>
          </a:prstGeom>
          <a:noFill/>
        </p:spPr>
        <p:txBody>
          <a:bodyPr wrap="square" anchor="t" lIns="0" rIns="0" tIns="0" bIns="0">
            <a:spAutoFit/>
          </a:bodyPr>
          <a:lstStyle/>
          <a:p>
            <a:pPr algn="l">
              <a:lnSpc>
                <a:spcPct val="108000"/>
              </a:lnSpc>
            </a:pPr>
            <a:r>
              <a:rPr sz="1150" b="1" i="0">
                <a:solidFill>
                  <a:srgbClr val="13221C"/>
                </a:solidFill>
                <a:latin typeface="Helvetica Neue"/>
              </a:rPr>
              <a:t>High redemption looks like success. </a:t>
            </a:r>
            <a:r>
              <a:rPr sz="1150" b="0" i="0">
                <a:solidFill>
                  <a:srgbClr val="53635C"/>
                </a:solidFill>
                <a:latin typeface="Helvetica Neue"/>
              </a:rPr>
              <a:t>But UK Repeat redeems the MOST (21%) and is nearly the least incremental (31%). That's spend, not growth, hiding as a busy promo.</a:t>
            </a:r>
          </a:p>
        </p:txBody>
      </p:sp>
      <p:sp>
        <p:nvSpPr>
          <p:cNvPr id="13" name="Rounded Rectangle 12"/>
          <p:cNvSpPr/>
          <p:nvPr/>
        </p:nvSpPr>
        <p:spPr>
          <a:xfrm>
            <a:off x="7223760" y="4480560"/>
            <a:ext cx="4206240" cy="1371600"/>
          </a:xfrm>
          <a:prstGeom prst="roundRect">
            <a:avLst>
              <a:gd name="adj" fmla="val 6000"/>
            </a:avLst>
          </a:prstGeom>
          <a:solidFill>
            <a:srgbClr val="F5F8F5"/>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79792" y="4645152"/>
            <a:ext cx="3749039" cy="365760"/>
          </a:xfrm>
          <a:prstGeom prst="rect">
            <a:avLst/>
          </a:prstGeom>
          <a:noFill/>
        </p:spPr>
        <p:txBody>
          <a:bodyPr wrap="square" anchor="t" lIns="0" rIns="0" tIns="0" bIns="0">
            <a:spAutoFit/>
          </a:bodyPr>
          <a:lstStyle/>
          <a:p>
            <a:pPr algn="l">
              <a:lnSpc>
                <a:spcPct val="100000"/>
              </a:lnSpc>
            </a:pPr>
            <a:r>
              <a:rPr sz="1050" b="1" i="0">
                <a:solidFill>
                  <a:srgbClr val="00976E"/>
                </a:solidFill>
                <a:latin typeface="Avenir Next"/>
              </a:rPr>
              <a:t>THE MATHS BEHIND IT</a:t>
            </a:r>
          </a:p>
        </p:txBody>
      </p:sp>
      <p:sp>
        <p:nvSpPr>
          <p:cNvPr id="15" name="TextBox 14"/>
          <p:cNvSpPr txBox="1"/>
          <p:nvPr/>
        </p:nvSpPr>
        <p:spPr>
          <a:xfrm>
            <a:off x="7479792" y="5010912"/>
            <a:ext cx="3703320" cy="868680"/>
          </a:xfrm>
          <a:prstGeom prst="rect">
            <a:avLst/>
          </a:prstGeom>
          <a:noFill/>
        </p:spPr>
        <p:txBody>
          <a:bodyPr wrap="square" anchor="t" lIns="0" rIns="0" tIns="0" bIns="0">
            <a:spAutoFit/>
          </a:bodyPr>
          <a:lstStyle/>
          <a:p>
            <a:pPr algn="l">
              <a:lnSpc>
                <a:spcPct val="112000"/>
              </a:lnSpc>
            </a:pPr>
            <a:r>
              <a:rPr sz="1050" b="1" i="0">
                <a:solidFill>
                  <a:srgbClr val="13221C"/>
                </a:solidFill>
                <a:latin typeface="Helvetica Neue"/>
              </a:rPr>
              <a:t>Cost / incremental booking</a:t>
            </a:r>
            <a:r>
              <a:rPr sz="1050" b="0" i="0">
                <a:solidFill>
                  <a:srgbClr val="53635C"/>
                </a:solidFill>
                <a:latin typeface="Helvetica Neue"/>
              </a:rPr>
              <a:t> = promo ÷ incrementality → repeat costs ~3× more.</a:t>
            </a:r>
          </a:p>
          <a:p>
            <a:pPr algn="l">
              <a:lnSpc>
                <a:spcPct val="112000"/>
              </a:lnSpc>
            </a:pPr>
            <a:r>
              <a:rPr sz="1050" b="1" i="0">
                <a:solidFill>
                  <a:srgbClr val="13221C"/>
                </a:solidFill>
                <a:latin typeface="Helvetica Neue"/>
              </a:rPr>
              <a:t>Deadweight</a:t>
            </a:r>
            <a:r>
              <a:rPr sz="1050" b="0" i="0">
                <a:solidFill>
                  <a:srgbClr val="53635C"/>
                </a:solidFill>
                <a:latin typeface="Helvetica Neue"/>
              </a:rPr>
              <a:t> = promo × (1−incr) → ~70% of repeat spend wasted.</a:t>
            </a:r>
          </a:p>
        </p:txBody>
      </p:sp>
      <p:sp>
        <p:nvSpPr>
          <p:cNvPr id="16" name="TextBox 15"/>
          <p:cNvSpPr txBox="1"/>
          <p:nvPr/>
        </p:nvSpPr>
        <p:spPr>
          <a:xfrm>
            <a:off x="7223760" y="5943600"/>
            <a:ext cx="4206240" cy="365760"/>
          </a:xfrm>
          <a:prstGeom prst="rect">
            <a:avLst/>
          </a:prstGeom>
          <a:noFill/>
        </p:spPr>
        <p:txBody>
          <a:bodyPr wrap="square" anchor="t" lIns="0" rIns="0" tIns="0" bIns="0">
            <a:spAutoFit/>
          </a:bodyPr>
          <a:lstStyle/>
          <a:p>
            <a:pPr algn="l">
              <a:lnSpc>
                <a:spcPct val="100000"/>
              </a:lnSpc>
            </a:pPr>
            <a:r>
              <a:rPr sz="950" b="1" i="0">
                <a:solidFill>
                  <a:srgbClr val="00543D"/>
                </a:solidFill>
                <a:latin typeface="Helvetica Neue"/>
              </a:rPr>
              <a:t>Next, with more data: </a:t>
            </a:r>
            <a:r>
              <a:rPr sz="950" b="0" i="0">
                <a:solidFill>
                  <a:srgbClr val="53635C"/>
                </a:solidFill>
                <a:latin typeface="Helvetica Neue"/>
              </a:rPr>
              <a:t>iROAS &amp; LTV:CAC per segment, CUPED, uplift modelling.</a:t>
            </a:r>
          </a:p>
        </p:txBody>
      </p:sp>
      <p:sp>
        <p:nvSpPr>
          <p:cNvPr id="17" name="TextBox 16"/>
          <p:cNvSpPr txBox="1"/>
          <p:nvPr/>
        </p:nvSpPr>
        <p:spPr>
          <a:xfrm>
            <a:off x="548640" y="6400800"/>
            <a:ext cx="7315200" cy="274320"/>
          </a:xfrm>
          <a:prstGeom prst="rect">
            <a:avLst/>
          </a:prstGeom>
          <a:noFill/>
        </p:spPr>
        <p:txBody>
          <a:bodyPr wrap="square" anchor="t" lIns="0" rIns="0" tIns="0" bIns="0">
            <a:spAutoFit/>
          </a:bodyPr>
          <a:lstStyle/>
          <a:p>
            <a:pPr algn="l">
              <a:lnSpc>
                <a:spcPct val="100000"/>
              </a:lnSpc>
            </a:pPr>
            <a:r>
              <a:rPr sz="900" b="0" i="0">
                <a:solidFill>
                  <a:srgbClr val="53635C"/>
                </a:solidFill>
                <a:latin typeface="Helvetica Neue"/>
              </a:rPr>
              <a:t>Adrien Enjalbert  ·  AI Systems, Personalization &amp; Growth</a:t>
            </a:r>
          </a:p>
        </p:txBody>
      </p:sp>
      <p:sp>
        <p:nvSpPr>
          <p:cNvPr id="18" name="TextBox 17"/>
          <p:cNvSpPr txBox="1"/>
          <p:nvPr/>
        </p:nvSpPr>
        <p:spPr>
          <a:xfrm>
            <a:off x="10911535" y="6400800"/>
            <a:ext cx="731520" cy="274320"/>
          </a:xfrm>
          <a:prstGeom prst="rect">
            <a:avLst/>
          </a:prstGeom>
          <a:noFill/>
        </p:spPr>
        <p:txBody>
          <a:bodyPr wrap="square" anchor="t" lIns="0" rIns="0" tIns="0" bIns="0">
            <a:spAutoFit/>
          </a:bodyPr>
          <a:lstStyle/>
          <a:p>
            <a:pPr algn="r">
              <a:lnSpc>
                <a:spcPct val="100000"/>
              </a:lnSpc>
            </a:pPr>
            <a:r>
              <a:rPr sz="900" b="1" i="0">
                <a:solidFill>
                  <a:srgbClr val="53635C"/>
                </a:solidFill>
                <a:latin typeface="Avenir Next"/>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566928"/>
            <a:ext cx="749808" cy="420624"/>
          </a:xfrm>
          <a:prstGeom prst="roundRect">
            <a:avLst>
              <a:gd name="adj" fmla="val 50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548640"/>
            <a:ext cx="749808" cy="420624"/>
          </a:xfrm>
          <a:prstGeom prst="rect">
            <a:avLst/>
          </a:prstGeom>
          <a:noFill/>
        </p:spPr>
        <p:txBody>
          <a:bodyPr wrap="square" anchor="ctr" lIns="0" rIns="0" tIns="0" bIns="0">
            <a:spAutoFit/>
          </a:bodyPr>
          <a:lstStyle/>
          <a:p>
            <a:pPr algn="ctr">
              <a:lnSpc>
                <a:spcPct val="100000"/>
              </a:lnSpc>
            </a:pPr>
            <a:r>
              <a:rPr sz="1400" b="1" i="0">
                <a:solidFill>
                  <a:srgbClr val="0A1512"/>
                </a:solidFill>
                <a:latin typeface="Avenir Next"/>
              </a:rPr>
              <a:t>1.1</a:t>
            </a:r>
          </a:p>
        </p:txBody>
      </p:sp>
      <p:sp>
        <p:nvSpPr>
          <p:cNvPr id="5" name="TextBox 4"/>
          <p:cNvSpPr txBox="1"/>
          <p:nvPr/>
        </p:nvSpPr>
        <p:spPr>
          <a:xfrm>
            <a:off x="1728216" y="548640"/>
            <a:ext cx="10058400" cy="457200"/>
          </a:xfrm>
          <a:prstGeom prst="rect">
            <a:avLst/>
          </a:prstGeom>
          <a:noFill/>
        </p:spPr>
        <p:txBody>
          <a:bodyPr wrap="square" anchor="ctr" lIns="0" rIns="0" tIns="0" bIns="0">
            <a:spAutoFit/>
          </a:bodyPr>
          <a:lstStyle/>
          <a:p>
            <a:pPr algn="l">
              <a:lnSpc>
                <a:spcPct val="100000"/>
              </a:lnSpc>
            </a:pPr>
            <a:r>
              <a:rPr sz="900" b="1" i="0">
                <a:solidFill>
                  <a:srgbClr val="A7BDB2"/>
                </a:solidFill>
                <a:latin typeface="Avenir Next"/>
              </a:rPr>
              <a:t>ANSWERING  </a:t>
            </a:r>
            <a:r>
              <a:rPr sz="1250" b="1" i="0">
                <a:solidFill>
                  <a:srgbClr val="13221C"/>
                </a:solidFill>
                <a:latin typeface="Avenir Next"/>
              </a:rPr>
              <a:t>Which metrics do you trust, and which would you question?</a:t>
            </a:r>
          </a:p>
        </p:txBody>
      </p:sp>
      <p:sp>
        <p:nvSpPr>
          <p:cNvPr id="6" name="TextBox 5"/>
          <p:cNvSpPr txBox="1"/>
          <p:nvPr/>
        </p:nvSpPr>
        <p:spPr>
          <a:xfrm>
            <a:off x="731520" y="1188720"/>
            <a:ext cx="10789920" cy="914400"/>
          </a:xfrm>
          <a:prstGeom prst="rect">
            <a:avLst/>
          </a:prstGeom>
          <a:noFill/>
        </p:spPr>
        <p:txBody>
          <a:bodyPr wrap="square" anchor="t" lIns="0" rIns="0" tIns="0" bIns="0">
            <a:spAutoFit/>
          </a:bodyPr>
          <a:lstStyle/>
          <a:p>
            <a:pPr algn="l">
              <a:lnSpc>
                <a:spcPct val="100000"/>
              </a:lnSpc>
            </a:pPr>
            <a:r>
              <a:rPr sz="2900" b="1" i="0">
                <a:solidFill>
                  <a:srgbClr val="13221C"/>
                </a:solidFill>
                <a:latin typeface="Avenir Next"/>
              </a:rPr>
              <a:t>I trust the metric. I question the measurement.</a:t>
            </a:r>
          </a:p>
        </p:txBody>
      </p:sp>
      <p:sp>
        <p:nvSpPr>
          <p:cNvPr id="7" name="TextBox 6"/>
          <p:cNvSpPr txBox="1"/>
          <p:nvPr/>
        </p:nvSpPr>
        <p:spPr>
          <a:xfrm>
            <a:off x="777240" y="2029968"/>
            <a:ext cx="10515600" cy="457200"/>
          </a:xfrm>
          <a:prstGeom prst="rect">
            <a:avLst/>
          </a:prstGeom>
          <a:noFill/>
        </p:spPr>
        <p:txBody>
          <a:bodyPr wrap="square" anchor="t" lIns="0" rIns="0" tIns="0" bIns="0">
            <a:spAutoFit/>
          </a:bodyPr>
          <a:lstStyle/>
          <a:p>
            <a:pPr algn="l">
              <a:lnSpc>
                <a:spcPct val="105000"/>
              </a:lnSpc>
            </a:pPr>
            <a:r>
              <a:rPr sz="1250" b="1" i="0">
                <a:solidFill>
                  <a:srgbClr val="13221C"/>
                </a:solidFill>
                <a:latin typeface="Helvetica Neue"/>
              </a:rPr>
              <a:t>The apparent contradiction resolved: </a:t>
            </a:r>
            <a:r>
              <a:rPr sz="1250" b="0" i="0">
                <a:solidFill>
                  <a:srgbClr val="53635C"/>
                </a:solidFill>
                <a:latin typeface="Helvetica Neue"/>
              </a:rPr>
              <a:t>incrementality is the right metric (it's causal). But a metric is only as good as the experiment behind it, and two of these were built on broken experiments.</a:t>
            </a:r>
          </a:p>
        </p:txBody>
      </p:sp>
      <p:sp>
        <p:nvSpPr>
          <p:cNvPr id="8" name="Rounded Rectangle 7"/>
          <p:cNvSpPr/>
          <p:nvPr/>
        </p:nvSpPr>
        <p:spPr>
          <a:xfrm>
            <a:off x="777240" y="2697480"/>
            <a:ext cx="5257800" cy="352044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697480"/>
            <a:ext cx="5257800" cy="82296"/>
          </a:xfrm>
          <a:prstGeom prst="rect">
            <a:avLst/>
          </a:prstGeom>
          <a:solidFill>
            <a:srgbClr val="14B0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971800"/>
            <a:ext cx="4754880" cy="365760"/>
          </a:xfrm>
          <a:prstGeom prst="rect">
            <a:avLst/>
          </a:prstGeom>
          <a:noFill/>
        </p:spPr>
        <p:txBody>
          <a:bodyPr wrap="square" anchor="t" lIns="0" rIns="0" tIns="0" bIns="0">
            <a:spAutoFit/>
          </a:bodyPr>
          <a:lstStyle/>
          <a:p>
            <a:pPr algn="l">
              <a:lnSpc>
                <a:spcPct val="100000"/>
              </a:lnSpc>
            </a:pPr>
            <a:r>
              <a:rPr sz="1200" b="1" i="0">
                <a:solidFill>
                  <a:srgbClr val="14B083"/>
                </a:solidFill>
                <a:latin typeface="Avenir Next"/>
              </a:rPr>
              <a:t>TRUST — THE METRIC TYPE</a:t>
            </a:r>
          </a:p>
        </p:txBody>
      </p:sp>
      <p:sp>
        <p:nvSpPr>
          <p:cNvPr id="11" name="TextBox 10"/>
          <p:cNvSpPr txBox="1"/>
          <p:nvPr/>
        </p:nvSpPr>
        <p:spPr>
          <a:xfrm>
            <a:off x="1051560" y="3429000"/>
            <a:ext cx="4800600" cy="2743200"/>
          </a:xfrm>
          <a:prstGeom prst="rect">
            <a:avLst/>
          </a:prstGeom>
          <a:noFill/>
        </p:spPr>
        <p:txBody>
          <a:bodyPr wrap="square" anchor="t" lIns="0" rIns="0" tIns="0" bIns="0">
            <a:spAutoFit/>
          </a:bodyPr>
          <a:lstStyle/>
          <a:p>
            <a:pPr algn="l">
              <a:lnSpc>
                <a:spcPct val="106000"/>
              </a:lnSpc>
            </a:pPr>
            <a:r>
              <a:rPr sz="1200" b="1" i="0">
                <a:solidFill>
                  <a:srgbClr val="13221C"/>
                </a:solidFill>
                <a:latin typeface="Helvetica Neue"/>
              </a:rPr>
              <a:t>Incrementality is causal. </a:t>
            </a:r>
            <a:r>
              <a:rPr sz="1200" b="0" i="0">
                <a:solidFill>
                  <a:srgbClr val="53635C"/>
                </a:solidFill>
                <a:latin typeface="Helvetica Neue"/>
              </a:rPr>
              <a:t>A holdout gives the counterfactual (what people do with no offer), so it isolates cause, not correlation.</a:t>
            </a:r>
          </a:p>
          <a:p>
            <a:pPr algn="l">
              <a:lnSpc>
                <a:spcPct val="106000"/>
              </a:lnSpc>
            </a:pPr>
            <a:r>
              <a:rPr sz="1200" b="1" i="0">
                <a:solidFill>
                  <a:srgbClr val="13221C"/>
                </a:solidFill>
                <a:latin typeface="Helvetica Neue"/>
              </a:rPr>
              <a:t>It beats redemption &amp; CVR lift. </a:t>
            </a:r>
            <a:r>
              <a:rPr sz="1200" b="0" i="0">
                <a:solidFill>
                  <a:srgbClr val="53635C"/>
                </a:solidFill>
                <a:latin typeface="Helvetica Neue"/>
              </a:rPr>
              <a:t>Those are observational: they count what happened, not what we caused. Incrementality nets out the free-riders.</a:t>
            </a:r>
          </a:p>
          <a:p>
            <a:pPr algn="l">
              <a:lnSpc>
                <a:spcPct val="106000"/>
              </a:lnSpc>
            </a:pPr>
            <a:r>
              <a:rPr sz="1200" b="1" i="0">
                <a:solidFill>
                  <a:srgbClr val="13221C"/>
                </a:solidFill>
                <a:latin typeface="Helvetica Neue"/>
              </a:rPr>
              <a:t>Where the holdout is clean (UK, DE), </a:t>
            </a:r>
            <a:r>
              <a:rPr sz="1200" b="0" i="0">
                <a:solidFill>
                  <a:srgbClr val="53635C"/>
                </a:solidFill>
                <a:latin typeface="Helvetica Neue"/>
              </a:rPr>
              <a:t>I'd act on it, it's the one number that separates real growth from subsidised habit.</a:t>
            </a:r>
          </a:p>
        </p:txBody>
      </p:sp>
      <p:sp>
        <p:nvSpPr>
          <p:cNvPr id="12" name="Rounded Rectangle 11"/>
          <p:cNvSpPr/>
          <p:nvPr/>
        </p:nvSpPr>
        <p:spPr>
          <a:xfrm>
            <a:off x="6172200" y="2697480"/>
            <a:ext cx="5257800" cy="352044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2697480"/>
            <a:ext cx="5257800" cy="82296"/>
          </a:xfrm>
          <a:prstGeom prst="rect">
            <a:avLst/>
          </a:prstGeom>
          <a:solidFill>
            <a:srgbClr val="F0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971800"/>
            <a:ext cx="4754880" cy="365760"/>
          </a:xfrm>
          <a:prstGeom prst="rect">
            <a:avLst/>
          </a:prstGeom>
          <a:noFill/>
        </p:spPr>
        <p:txBody>
          <a:bodyPr wrap="square" anchor="t" lIns="0" rIns="0" tIns="0" bIns="0">
            <a:spAutoFit/>
          </a:bodyPr>
          <a:lstStyle/>
          <a:p>
            <a:pPr algn="l">
              <a:lnSpc>
                <a:spcPct val="100000"/>
              </a:lnSpc>
            </a:pPr>
            <a:r>
              <a:rPr sz="1200" b="1" i="0">
                <a:solidFill>
                  <a:srgbClr val="F05B5B"/>
                </a:solidFill>
                <a:latin typeface="Avenir Next"/>
              </a:rPr>
              <a:t>QUESTION — THE MEASUREMENT</a:t>
            </a:r>
          </a:p>
        </p:txBody>
      </p:sp>
      <p:sp>
        <p:nvSpPr>
          <p:cNvPr id="15" name="TextBox 14"/>
          <p:cNvSpPr txBox="1"/>
          <p:nvPr/>
        </p:nvSpPr>
        <p:spPr>
          <a:xfrm>
            <a:off x="6446520" y="3429000"/>
            <a:ext cx="4800600" cy="2743200"/>
          </a:xfrm>
          <a:prstGeom prst="rect">
            <a:avLst/>
          </a:prstGeom>
          <a:noFill/>
        </p:spPr>
        <p:txBody>
          <a:bodyPr wrap="square" anchor="t" lIns="0" rIns="0" tIns="0" bIns="0">
            <a:spAutoFit/>
          </a:bodyPr>
          <a:lstStyle/>
          <a:p>
            <a:pPr algn="l">
              <a:lnSpc>
                <a:spcPct val="106000"/>
              </a:lnSpc>
            </a:pPr>
            <a:r>
              <a:rPr sz="1200" b="1" i="0">
                <a:solidFill>
                  <a:srgbClr val="13221C"/>
                </a:solidFill>
                <a:latin typeface="Helvetica Neue"/>
              </a:rPr>
              <a:t>FR &amp; IT incrementality (the same metric). </a:t>
            </a:r>
            <a:r>
              <a:rPr sz="1200" b="0" i="0">
                <a:solidFill>
                  <a:srgbClr val="53635C"/>
                </a:solidFill>
                <a:latin typeface="Helvetica Neue"/>
              </a:rPr>
              <a:t>Targeting issues broke randomisation, so the estimate is biased, not just noisy. Directional only.</a:t>
            </a:r>
          </a:p>
          <a:p>
            <a:pPr algn="l">
              <a:lnSpc>
                <a:spcPct val="106000"/>
              </a:lnSpc>
            </a:pPr>
            <a:r>
              <a:rPr sz="1200" b="1" i="0">
                <a:solidFill>
                  <a:srgbClr val="13221C"/>
                </a:solidFill>
                <a:latin typeface="Helvetica Neue"/>
              </a:rPr>
              <a:t>No sample size or confidence interval. </a:t>
            </a:r>
            <a:r>
              <a:rPr sz="1200" b="0" i="0">
                <a:solidFill>
                  <a:srgbClr val="53635C"/>
                </a:solidFill>
                <a:latin typeface="Helvetica Neue"/>
              </a:rPr>
              <a:t>Can't separate signal from noise; a 71% on a tiny cell isn't the same as 71% on 10k.</a:t>
            </a:r>
          </a:p>
          <a:p>
            <a:pPr algn="l">
              <a:lnSpc>
                <a:spcPct val="106000"/>
              </a:lnSpc>
            </a:pPr>
            <a:r>
              <a:rPr sz="1200" b="1" i="0">
                <a:solidFill>
                  <a:srgbClr val="13221C"/>
                </a:solidFill>
                <a:latin typeface="Helvetica Neue"/>
              </a:rPr>
              <a:t>Attribution traps. </a:t>
            </a:r>
            <a:r>
              <a:rPr sz="1200" b="0" i="0">
                <a:solidFill>
                  <a:srgbClr val="53635C"/>
                </a:solidFill>
                <a:latin typeface="Helvetica Neue"/>
              </a:rPr>
              <a:t>Redemption is self-selected; last-click over-credits the offer; pooling markets risks Simpson's paradox.</a:t>
            </a:r>
          </a:p>
        </p:txBody>
      </p:sp>
      <p:sp>
        <p:nvSpPr>
          <p:cNvPr id="16" name="TextBox 15"/>
          <p:cNvSpPr txBox="1"/>
          <p:nvPr/>
        </p:nvSpPr>
        <p:spPr>
          <a:xfrm>
            <a:off x="548640" y="6400800"/>
            <a:ext cx="7315200" cy="274320"/>
          </a:xfrm>
          <a:prstGeom prst="rect">
            <a:avLst/>
          </a:prstGeom>
          <a:noFill/>
        </p:spPr>
        <p:txBody>
          <a:bodyPr wrap="square" anchor="t" lIns="0" rIns="0" tIns="0" bIns="0">
            <a:spAutoFit/>
          </a:bodyPr>
          <a:lstStyle/>
          <a:p>
            <a:pPr algn="l">
              <a:lnSpc>
                <a:spcPct val="100000"/>
              </a:lnSpc>
            </a:pPr>
            <a:r>
              <a:rPr sz="900" b="0" i="0">
                <a:solidFill>
                  <a:srgbClr val="53635C"/>
                </a:solidFill>
                <a:latin typeface="Helvetica Neue"/>
              </a:rPr>
              <a:t>Adrien Enjalbert  ·  AI Systems, Personalization &amp; Growth</a:t>
            </a:r>
          </a:p>
        </p:txBody>
      </p:sp>
      <p:sp>
        <p:nvSpPr>
          <p:cNvPr id="17" name="TextBox 16"/>
          <p:cNvSpPr txBox="1"/>
          <p:nvPr/>
        </p:nvSpPr>
        <p:spPr>
          <a:xfrm>
            <a:off x="10911535" y="6400800"/>
            <a:ext cx="731520" cy="274320"/>
          </a:xfrm>
          <a:prstGeom prst="rect">
            <a:avLst/>
          </a:prstGeom>
          <a:noFill/>
        </p:spPr>
        <p:txBody>
          <a:bodyPr wrap="square" anchor="t" lIns="0" rIns="0" tIns="0" bIns="0">
            <a:spAutoFit/>
          </a:bodyPr>
          <a:lstStyle/>
          <a:p>
            <a:pPr algn="r">
              <a:lnSpc>
                <a:spcPct val="100000"/>
              </a:lnSpc>
            </a:pPr>
            <a:r>
              <a:rPr sz="900" b="1" i="0">
                <a:solidFill>
                  <a:srgbClr val="53635C"/>
                </a:solidFill>
                <a:latin typeface="Avenir Next"/>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566928"/>
            <a:ext cx="749808" cy="420624"/>
          </a:xfrm>
          <a:prstGeom prst="roundRect">
            <a:avLst>
              <a:gd name="adj" fmla="val 50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548640"/>
            <a:ext cx="749808" cy="420624"/>
          </a:xfrm>
          <a:prstGeom prst="rect">
            <a:avLst/>
          </a:prstGeom>
          <a:noFill/>
        </p:spPr>
        <p:txBody>
          <a:bodyPr wrap="square" anchor="ctr" lIns="0" rIns="0" tIns="0" bIns="0">
            <a:spAutoFit/>
          </a:bodyPr>
          <a:lstStyle/>
          <a:p>
            <a:pPr algn="ctr">
              <a:lnSpc>
                <a:spcPct val="100000"/>
              </a:lnSpc>
            </a:pPr>
            <a:r>
              <a:rPr sz="1400" b="1" i="0">
                <a:solidFill>
                  <a:srgbClr val="0A1512"/>
                </a:solidFill>
                <a:latin typeface="Avenir Next"/>
              </a:rPr>
              <a:t>1.2</a:t>
            </a:r>
          </a:p>
        </p:txBody>
      </p:sp>
      <p:sp>
        <p:nvSpPr>
          <p:cNvPr id="5" name="TextBox 4"/>
          <p:cNvSpPr txBox="1"/>
          <p:nvPr/>
        </p:nvSpPr>
        <p:spPr>
          <a:xfrm>
            <a:off x="1728216" y="548640"/>
            <a:ext cx="10058400" cy="457200"/>
          </a:xfrm>
          <a:prstGeom prst="rect">
            <a:avLst/>
          </a:prstGeom>
          <a:noFill/>
        </p:spPr>
        <p:txBody>
          <a:bodyPr wrap="square" anchor="ctr" lIns="0" rIns="0" tIns="0" bIns="0">
            <a:spAutoFit/>
          </a:bodyPr>
          <a:lstStyle/>
          <a:p>
            <a:pPr algn="l">
              <a:lnSpc>
                <a:spcPct val="100000"/>
              </a:lnSpc>
            </a:pPr>
            <a:r>
              <a:rPr sz="900" b="1" i="0">
                <a:solidFill>
                  <a:srgbClr val="A7BDB2"/>
                </a:solidFill>
                <a:latin typeface="Avenir Next"/>
              </a:rPr>
              <a:t>ANSWERING  </a:t>
            </a:r>
            <a:r>
              <a:rPr sz="1250" b="1" i="0">
                <a:solidFill>
                  <a:srgbClr val="13221C"/>
                </a:solidFill>
                <a:latin typeface="Avenir Next"/>
              </a:rPr>
              <a:t>What additional information would you request?</a:t>
            </a:r>
          </a:p>
        </p:txBody>
      </p:sp>
      <p:sp>
        <p:nvSpPr>
          <p:cNvPr id="6" name="TextBox 5"/>
          <p:cNvSpPr txBox="1"/>
          <p:nvPr/>
        </p:nvSpPr>
        <p:spPr>
          <a:xfrm>
            <a:off x="731520" y="1188720"/>
            <a:ext cx="10881360" cy="914400"/>
          </a:xfrm>
          <a:prstGeom prst="rect">
            <a:avLst/>
          </a:prstGeom>
          <a:noFill/>
        </p:spPr>
        <p:txBody>
          <a:bodyPr wrap="square" anchor="t" lIns="0" rIns="0" tIns="0" bIns="0">
            <a:spAutoFit/>
          </a:bodyPr>
          <a:lstStyle/>
          <a:p>
            <a:pPr algn="l">
              <a:lnSpc>
                <a:spcPct val="100000"/>
              </a:lnSpc>
            </a:pPr>
            <a:r>
              <a:rPr sz="2800" b="1" i="0">
                <a:solidFill>
                  <a:srgbClr val="13221C"/>
                </a:solidFill>
                <a:latin typeface="Avenir Next"/>
              </a:rPr>
              <a:t>Six things I'd ask for, and how each changes the call.</a:t>
            </a:r>
          </a:p>
        </p:txBody>
      </p:sp>
      <p:sp>
        <p:nvSpPr>
          <p:cNvPr id="7" name="TextBox 6"/>
          <p:cNvSpPr txBox="1"/>
          <p:nvPr/>
        </p:nvSpPr>
        <p:spPr>
          <a:xfrm>
            <a:off x="777240" y="2103120"/>
            <a:ext cx="10424160" cy="457200"/>
          </a:xfrm>
          <a:prstGeom prst="rect">
            <a:avLst/>
          </a:prstGeom>
          <a:noFill/>
        </p:spPr>
        <p:txBody>
          <a:bodyPr wrap="square" anchor="t" lIns="0" rIns="0" tIns="0" bIns="0">
            <a:spAutoFit/>
          </a:bodyPr>
          <a:lstStyle/>
          <a:p>
            <a:pPr algn="l">
              <a:lnSpc>
                <a:spcPct val="105000"/>
              </a:lnSpc>
            </a:pPr>
            <a:r>
              <a:rPr sz="1300" b="0" i="0">
                <a:solidFill>
                  <a:srgbClr val="53635C"/>
                </a:solidFill>
                <a:latin typeface="Helvetica Neue"/>
              </a:rPr>
              <a:t>I wouldn't finalise on this table alone. Each of these moves a specific decision, not just adds detail. If a data point can't change what I do, I don't wait for it.</a:t>
            </a:r>
          </a:p>
        </p:txBody>
      </p:sp>
      <p:sp>
        <p:nvSpPr>
          <p:cNvPr id="8" name="Rounded Rectangle 7"/>
          <p:cNvSpPr/>
          <p:nvPr/>
        </p:nvSpPr>
        <p:spPr>
          <a:xfrm>
            <a:off x="777240" y="2697480"/>
            <a:ext cx="3429000" cy="173736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697480"/>
            <a:ext cx="73152" cy="1737360"/>
          </a:xfrm>
          <a:prstGeom prst="rect">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2880360"/>
            <a:ext cx="2971800" cy="365760"/>
          </a:xfrm>
          <a:prstGeom prst="rect">
            <a:avLst/>
          </a:prstGeom>
          <a:noFill/>
        </p:spPr>
        <p:txBody>
          <a:bodyPr wrap="square" anchor="t" lIns="0" rIns="0" tIns="0" bIns="0">
            <a:spAutoFit/>
          </a:bodyPr>
          <a:lstStyle/>
          <a:p>
            <a:pPr algn="l">
              <a:lnSpc>
                <a:spcPct val="100000"/>
              </a:lnSpc>
            </a:pPr>
            <a:r>
              <a:rPr sz="1450" b="1" i="0">
                <a:solidFill>
                  <a:srgbClr val="13221C"/>
                </a:solidFill>
                <a:latin typeface="Avenir Next"/>
              </a:rPr>
              <a:t>Customer lifetime value</a:t>
            </a:r>
          </a:p>
        </p:txBody>
      </p:sp>
      <p:sp>
        <p:nvSpPr>
          <p:cNvPr id="11" name="TextBox 10"/>
          <p:cNvSpPr txBox="1"/>
          <p:nvPr/>
        </p:nvSpPr>
        <p:spPr>
          <a:xfrm>
            <a:off x="1033271" y="3246120"/>
            <a:ext cx="2971800" cy="457200"/>
          </a:xfrm>
          <a:prstGeom prst="rect">
            <a:avLst/>
          </a:prstGeom>
          <a:noFill/>
        </p:spPr>
        <p:txBody>
          <a:bodyPr wrap="square" anchor="t" lIns="0" rIns="0" tIns="0" bIns="0">
            <a:spAutoFit/>
          </a:bodyPr>
          <a:lstStyle/>
          <a:p>
            <a:pPr algn="l">
              <a:lnSpc>
                <a:spcPct val="102000"/>
              </a:lnSpc>
            </a:pPr>
            <a:r>
              <a:rPr sz="1100" b="0" i="1">
                <a:solidFill>
                  <a:srgbClr val="53635C"/>
                </a:solidFill>
                <a:latin typeface="Helvetica Neue"/>
              </a:rPr>
              <a:t>First-booking value is a snapshot; LTV is the prize.</a:t>
            </a:r>
          </a:p>
        </p:txBody>
      </p:sp>
      <p:sp>
        <p:nvSpPr>
          <p:cNvPr id="12" name="TextBox 11"/>
          <p:cNvSpPr txBox="1"/>
          <p:nvPr/>
        </p:nvSpPr>
        <p:spPr>
          <a:xfrm>
            <a:off x="1033271" y="3721608"/>
            <a:ext cx="2971800" cy="685800"/>
          </a:xfrm>
          <a:prstGeom prst="rect">
            <a:avLst/>
          </a:prstGeom>
          <a:noFill/>
        </p:spPr>
        <p:txBody>
          <a:bodyPr wrap="square" anchor="t" lIns="0" rIns="0" tIns="0" bIns="0">
            <a:spAutoFit/>
          </a:bodyPr>
          <a:lstStyle/>
          <a:p>
            <a:pPr algn="l">
              <a:lnSpc>
                <a:spcPct val="104000"/>
              </a:lnSpc>
            </a:pPr>
            <a:r>
              <a:rPr sz="1100" b="1" i="0">
                <a:solidFill>
                  <a:srgbClr val="00543D"/>
                </a:solidFill>
                <a:latin typeface="Helvetica Neue"/>
              </a:rPr>
              <a:t>Changes: </a:t>
            </a:r>
            <a:r>
              <a:rPr sz="1100" b="0" i="0">
                <a:solidFill>
                  <a:srgbClr val="53635C"/>
                </a:solidFill>
                <a:latin typeface="Helvetica Neue"/>
              </a:rPr>
              <a:t>A high-LTV first customer justifies a deeper discount, it's LTV:CAC, not first-order profit. Could flip 'marginal' ES/IT/FR into worth winning.</a:t>
            </a:r>
          </a:p>
        </p:txBody>
      </p:sp>
      <p:sp>
        <p:nvSpPr>
          <p:cNvPr id="13" name="Rounded Rectangle 12"/>
          <p:cNvSpPr/>
          <p:nvPr/>
        </p:nvSpPr>
        <p:spPr>
          <a:xfrm>
            <a:off x="4389120" y="2697480"/>
            <a:ext cx="3429000" cy="173736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2697480"/>
            <a:ext cx="73152" cy="1737360"/>
          </a:xfrm>
          <a:prstGeom prst="rect">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5152" y="2880360"/>
            <a:ext cx="2971800" cy="365760"/>
          </a:xfrm>
          <a:prstGeom prst="rect">
            <a:avLst/>
          </a:prstGeom>
          <a:noFill/>
        </p:spPr>
        <p:txBody>
          <a:bodyPr wrap="square" anchor="t" lIns="0" rIns="0" tIns="0" bIns="0">
            <a:spAutoFit/>
          </a:bodyPr>
          <a:lstStyle/>
          <a:p>
            <a:pPr algn="l">
              <a:lnSpc>
                <a:spcPct val="100000"/>
              </a:lnSpc>
            </a:pPr>
            <a:r>
              <a:rPr sz="1450" b="1" i="0">
                <a:solidFill>
                  <a:srgbClr val="13221C"/>
                </a:solidFill>
                <a:latin typeface="Avenir Next"/>
              </a:rPr>
              <a:t>Contribution margin</a:t>
            </a:r>
          </a:p>
        </p:txBody>
      </p:sp>
      <p:sp>
        <p:nvSpPr>
          <p:cNvPr id="16" name="TextBox 15"/>
          <p:cNvSpPr txBox="1"/>
          <p:nvPr/>
        </p:nvSpPr>
        <p:spPr>
          <a:xfrm>
            <a:off x="4645152" y="3246120"/>
            <a:ext cx="2971800" cy="457200"/>
          </a:xfrm>
          <a:prstGeom prst="rect">
            <a:avLst/>
          </a:prstGeom>
          <a:noFill/>
        </p:spPr>
        <p:txBody>
          <a:bodyPr wrap="square" anchor="t" lIns="0" rIns="0" tIns="0" bIns="0">
            <a:spAutoFit/>
          </a:bodyPr>
          <a:lstStyle/>
          <a:p>
            <a:pPr algn="l">
              <a:lnSpc>
                <a:spcPct val="102000"/>
              </a:lnSpc>
            </a:pPr>
            <a:r>
              <a:rPr sz="1100" b="0" i="1">
                <a:solidFill>
                  <a:srgbClr val="53635C"/>
                </a:solidFill>
                <a:latin typeface="Helvetica Neue"/>
              </a:rPr>
              <a:t>Promo cost is clear; the profit it eats isn't.</a:t>
            </a:r>
          </a:p>
        </p:txBody>
      </p:sp>
      <p:sp>
        <p:nvSpPr>
          <p:cNvPr id="17" name="TextBox 16"/>
          <p:cNvSpPr txBox="1"/>
          <p:nvPr/>
        </p:nvSpPr>
        <p:spPr>
          <a:xfrm>
            <a:off x="4645152" y="3721608"/>
            <a:ext cx="2971800" cy="685800"/>
          </a:xfrm>
          <a:prstGeom prst="rect">
            <a:avLst/>
          </a:prstGeom>
          <a:noFill/>
        </p:spPr>
        <p:txBody>
          <a:bodyPr wrap="square" anchor="t" lIns="0" rIns="0" tIns="0" bIns="0">
            <a:spAutoFit/>
          </a:bodyPr>
          <a:lstStyle/>
          <a:p>
            <a:pPr algn="l">
              <a:lnSpc>
                <a:spcPct val="104000"/>
              </a:lnSpc>
            </a:pPr>
            <a:r>
              <a:rPr sz="1100" b="1" i="0">
                <a:solidFill>
                  <a:srgbClr val="00543D"/>
                </a:solidFill>
                <a:latin typeface="Helvetica Neue"/>
              </a:rPr>
              <a:t>Changes: </a:t>
            </a:r>
            <a:r>
              <a:rPr sz="1100" b="0" i="0">
                <a:solidFill>
                  <a:srgbClr val="53635C"/>
                </a:solidFill>
                <a:latin typeface="Helvetica Neue"/>
              </a:rPr>
              <a:t>Sets the real breakeven discount depth, and whether a “negative” verdict is mild or severe.</a:t>
            </a:r>
          </a:p>
        </p:txBody>
      </p:sp>
      <p:sp>
        <p:nvSpPr>
          <p:cNvPr id="18" name="Rounded Rectangle 17"/>
          <p:cNvSpPr/>
          <p:nvPr/>
        </p:nvSpPr>
        <p:spPr>
          <a:xfrm>
            <a:off x="8001000" y="2697480"/>
            <a:ext cx="3429000" cy="173736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01000" y="2697480"/>
            <a:ext cx="73152" cy="1737360"/>
          </a:xfrm>
          <a:prstGeom prst="rect">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57031" y="2880360"/>
            <a:ext cx="2971800" cy="365760"/>
          </a:xfrm>
          <a:prstGeom prst="rect">
            <a:avLst/>
          </a:prstGeom>
          <a:noFill/>
        </p:spPr>
        <p:txBody>
          <a:bodyPr wrap="square" anchor="t" lIns="0" rIns="0" tIns="0" bIns="0">
            <a:spAutoFit/>
          </a:bodyPr>
          <a:lstStyle/>
          <a:p>
            <a:pPr algn="l">
              <a:lnSpc>
                <a:spcPct val="100000"/>
              </a:lnSpc>
            </a:pPr>
            <a:r>
              <a:rPr sz="1450" b="1" i="0">
                <a:solidFill>
                  <a:srgbClr val="13221C"/>
                </a:solidFill>
                <a:latin typeface="Avenir Next"/>
              </a:rPr>
              <a:t>Sample size &amp; confidence</a:t>
            </a:r>
          </a:p>
        </p:txBody>
      </p:sp>
      <p:sp>
        <p:nvSpPr>
          <p:cNvPr id="21" name="TextBox 20"/>
          <p:cNvSpPr txBox="1"/>
          <p:nvPr/>
        </p:nvSpPr>
        <p:spPr>
          <a:xfrm>
            <a:off x="8257031" y="3246120"/>
            <a:ext cx="2971800" cy="457200"/>
          </a:xfrm>
          <a:prstGeom prst="rect">
            <a:avLst/>
          </a:prstGeom>
          <a:noFill/>
        </p:spPr>
        <p:txBody>
          <a:bodyPr wrap="square" anchor="t" lIns="0" rIns="0" tIns="0" bIns="0">
            <a:spAutoFit/>
          </a:bodyPr>
          <a:lstStyle/>
          <a:p>
            <a:pPr algn="l">
              <a:lnSpc>
                <a:spcPct val="102000"/>
              </a:lnSpc>
            </a:pPr>
            <a:r>
              <a:rPr sz="1100" b="0" i="1">
                <a:solidFill>
                  <a:srgbClr val="53635C"/>
                </a:solidFill>
                <a:latin typeface="Helvetica Neue"/>
              </a:rPr>
              <a:t>No n or intervals are shown.</a:t>
            </a:r>
          </a:p>
        </p:txBody>
      </p:sp>
      <p:sp>
        <p:nvSpPr>
          <p:cNvPr id="22" name="TextBox 21"/>
          <p:cNvSpPr txBox="1"/>
          <p:nvPr/>
        </p:nvSpPr>
        <p:spPr>
          <a:xfrm>
            <a:off x="8257031" y="3721608"/>
            <a:ext cx="2971800" cy="685800"/>
          </a:xfrm>
          <a:prstGeom prst="rect">
            <a:avLst/>
          </a:prstGeom>
          <a:noFill/>
        </p:spPr>
        <p:txBody>
          <a:bodyPr wrap="square" anchor="t" lIns="0" rIns="0" tIns="0" bIns="0">
            <a:spAutoFit/>
          </a:bodyPr>
          <a:lstStyle/>
          <a:p>
            <a:pPr algn="l">
              <a:lnSpc>
                <a:spcPct val="104000"/>
              </a:lnSpc>
            </a:pPr>
            <a:r>
              <a:rPr sz="1100" b="1" i="0">
                <a:solidFill>
                  <a:srgbClr val="00543D"/>
                </a:solidFill>
                <a:latin typeface="Helvetica Neue"/>
              </a:rPr>
              <a:t>Changes: </a:t>
            </a:r>
            <a:r>
              <a:rPr sz="1100" b="0" i="0">
                <a:solidFill>
                  <a:srgbClr val="53635C"/>
                </a:solidFill>
                <a:latin typeface="Helvetica Neue"/>
              </a:rPr>
              <a:t>Decides whether I roll out, retest, or ignore a row. Urgent given the France/Italy flags.</a:t>
            </a:r>
          </a:p>
        </p:txBody>
      </p:sp>
      <p:sp>
        <p:nvSpPr>
          <p:cNvPr id="23" name="Rounded Rectangle 22"/>
          <p:cNvSpPr/>
          <p:nvPr/>
        </p:nvSpPr>
        <p:spPr>
          <a:xfrm>
            <a:off x="777240" y="4572000"/>
            <a:ext cx="3429000" cy="173736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572000"/>
            <a:ext cx="73152" cy="1737360"/>
          </a:xfrm>
          <a:prstGeom prst="rect">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1" y="4754880"/>
            <a:ext cx="2971800" cy="365760"/>
          </a:xfrm>
          <a:prstGeom prst="rect">
            <a:avLst/>
          </a:prstGeom>
          <a:noFill/>
        </p:spPr>
        <p:txBody>
          <a:bodyPr wrap="square" anchor="t" lIns="0" rIns="0" tIns="0" bIns="0">
            <a:spAutoFit/>
          </a:bodyPr>
          <a:lstStyle/>
          <a:p>
            <a:pPr algn="l">
              <a:lnSpc>
                <a:spcPct val="100000"/>
              </a:lnSpc>
            </a:pPr>
            <a:r>
              <a:rPr sz="1450" b="1" i="0">
                <a:solidFill>
                  <a:srgbClr val="13221C"/>
                </a:solidFill>
                <a:latin typeface="Avenir Next"/>
              </a:rPr>
              <a:t>Traffic source</a:t>
            </a:r>
          </a:p>
        </p:txBody>
      </p:sp>
      <p:sp>
        <p:nvSpPr>
          <p:cNvPr id="26" name="TextBox 25"/>
          <p:cNvSpPr txBox="1"/>
          <p:nvPr/>
        </p:nvSpPr>
        <p:spPr>
          <a:xfrm>
            <a:off x="1033271" y="5120640"/>
            <a:ext cx="2971800" cy="457200"/>
          </a:xfrm>
          <a:prstGeom prst="rect">
            <a:avLst/>
          </a:prstGeom>
          <a:noFill/>
        </p:spPr>
        <p:txBody>
          <a:bodyPr wrap="square" anchor="t" lIns="0" rIns="0" tIns="0" bIns="0">
            <a:spAutoFit/>
          </a:bodyPr>
          <a:lstStyle/>
          <a:p>
            <a:pPr algn="l">
              <a:lnSpc>
                <a:spcPct val="102000"/>
              </a:lnSpc>
            </a:pPr>
            <a:r>
              <a:rPr sz="1100" b="0" i="1">
                <a:solidFill>
                  <a:srgbClr val="53635C"/>
                </a:solidFill>
                <a:latin typeface="Helvetica Neue"/>
              </a:rPr>
              <a:t>A coupon-site redemption is low-incrementality by design.</a:t>
            </a:r>
          </a:p>
        </p:txBody>
      </p:sp>
      <p:sp>
        <p:nvSpPr>
          <p:cNvPr id="27" name="TextBox 26"/>
          <p:cNvSpPr txBox="1"/>
          <p:nvPr/>
        </p:nvSpPr>
        <p:spPr>
          <a:xfrm>
            <a:off x="1033271" y="5596128"/>
            <a:ext cx="2971800" cy="685800"/>
          </a:xfrm>
          <a:prstGeom prst="rect">
            <a:avLst/>
          </a:prstGeom>
          <a:noFill/>
        </p:spPr>
        <p:txBody>
          <a:bodyPr wrap="square" anchor="t" lIns="0" rIns="0" tIns="0" bIns="0">
            <a:spAutoFit/>
          </a:bodyPr>
          <a:lstStyle/>
          <a:p>
            <a:pPr algn="l">
              <a:lnSpc>
                <a:spcPct val="104000"/>
              </a:lnSpc>
            </a:pPr>
            <a:r>
              <a:rPr sz="1100" b="1" i="0">
                <a:solidFill>
                  <a:srgbClr val="00543D"/>
                </a:solidFill>
                <a:latin typeface="Helvetica Neue"/>
              </a:rPr>
              <a:t>Changes: </a:t>
            </a:r>
            <a:r>
              <a:rPr sz="1100" b="0" i="0">
                <a:solidFill>
                  <a:srgbClr val="53635C"/>
                </a:solidFill>
                <a:latin typeface="Helvetica Neue"/>
              </a:rPr>
              <a:t>Changes targeting: I may exclude deal-seeker channels rather than re-discount the same people.</a:t>
            </a:r>
          </a:p>
        </p:txBody>
      </p:sp>
      <p:sp>
        <p:nvSpPr>
          <p:cNvPr id="28" name="Rounded Rectangle 27"/>
          <p:cNvSpPr/>
          <p:nvPr/>
        </p:nvSpPr>
        <p:spPr>
          <a:xfrm>
            <a:off x="4389120" y="4572000"/>
            <a:ext cx="3429000" cy="173736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89120" y="4572000"/>
            <a:ext cx="73152" cy="1737360"/>
          </a:xfrm>
          <a:prstGeom prst="rect">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45152" y="4754880"/>
            <a:ext cx="2971800" cy="365760"/>
          </a:xfrm>
          <a:prstGeom prst="rect">
            <a:avLst/>
          </a:prstGeom>
          <a:noFill/>
        </p:spPr>
        <p:txBody>
          <a:bodyPr wrap="square" anchor="t" lIns="0" rIns="0" tIns="0" bIns="0">
            <a:spAutoFit/>
          </a:bodyPr>
          <a:lstStyle/>
          <a:p>
            <a:pPr algn="l">
              <a:lnSpc>
                <a:spcPct val="100000"/>
              </a:lnSpc>
            </a:pPr>
            <a:r>
              <a:rPr sz="1450" b="1" i="0">
                <a:solidFill>
                  <a:srgbClr val="13221C"/>
                </a:solidFill>
                <a:latin typeface="Avenir Next"/>
              </a:rPr>
              <a:t>Device &amp; app usage</a:t>
            </a:r>
          </a:p>
        </p:txBody>
      </p:sp>
      <p:sp>
        <p:nvSpPr>
          <p:cNvPr id="31" name="TextBox 30"/>
          <p:cNvSpPr txBox="1"/>
          <p:nvPr/>
        </p:nvSpPr>
        <p:spPr>
          <a:xfrm>
            <a:off x="4645152" y="5120640"/>
            <a:ext cx="2971800" cy="457200"/>
          </a:xfrm>
          <a:prstGeom prst="rect">
            <a:avLst/>
          </a:prstGeom>
          <a:noFill/>
        </p:spPr>
        <p:txBody>
          <a:bodyPr wrap="square" anchor="t" lIns="0" rIns="0" tIns="0" bIns="0">
            <a:spAutoFit/>
          </a:bodyPr>
          <a:lstStyle/>
          <a:p>
            <a:pPr algn="l">
              <a:lnSpc>
                <a:spcPct val="102000"/>
              </a:lnSpc>
            </a:pPr>
            <a:r>
              <a:rPr sz="1100" b="0" i="1">
                <a:solidFill>
                  <a:srgbClr val="53635C"/>
                </a:solidFill>
                <a:latin typeface="Helvetica Neue"/>
              </a:rPr>
              <a:t>App / logged-in users skew loyal and repeat.</a:t>
            </a:r>
          </a:p>
        </p:txBody>
      </p:sp>
      <p:sp>
        <p:nvSpPr>
          <p:cNvPr id="32" name="TextBox 31"/>
          <p:cNvSpPr txBox="1"/>
          <p:nvPr/>
        </p:nvSpPr>
        <p:spPr>
          <a:xfrm>
            <a:off x="4645152" y="5596128"/>
            <a:ext cx="2971800" cy="685800"/>
          </a:xfrm>
          <a:prstGeom prst="rect">
            <a:avLst/>
          </a:prstGeom>
          <a:noFill/>
        </p:spPr>
        <p:txBody>
          <a:bodyPr wrap="square" anchor="t" lIns="0" rIns="0" tIns="0" bIns="0">
            <a:spAutoFit/>
          </a:bodyPr>
          <a:lstStyle/>
          <a:p>
            <a:pPr algn="l">
              <a:lnSpc>
                <a:spcPct val="104000"/>
              </a:lnSpc>
            </a:pPr>
            <a:r>
              <a:rPr sz="1100" b="1" i="0">
                <a:solidFill>
                  <a:srgbClr val="00543D"/>
                </a:solidFill>
                <a:latin typeface="Helvetica Neue"/>
              </a:rPr>
              <a:t>Changes: </a:t>
            </a:r>
            <a:r>
              <a:rPr sz="1100" b="0" i="0">
                <a:solidFill>
                  <a:srgbClr val="53635C"/>
                </a:solidFill>
                <a:latin typeface="Helvetica Neue"/>
              </a:rPr>
              <a:t>Changes eligibility: suppress the offer for high-frequency app users who convert without it.</a:t>
            </a:r>
          </a:p>
        </p:txBody>
      </p:sp>
      <p:sp>
        <p:nvSpPr>
          <p:cNvPr id="33" name="Rounded Rectangle 32"/>
          <p:cNvSpPr/>
          <p:nvPr/>
        </p:nvSpPr>
        <p:spPr>
          <a:xfrm>
            <a:off x="8001000" y="4572000"/>
            <a:ext cx="3429000" cy="173736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01000" y="4572000"/>
            <a:ext cx="73152" cy="1737360"/>
          </a:xfrm>
          <a:prstGeom prst="rect">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57031" y="4754880"/>
            <a:ext cx="2971800" cy="365760"/>
          </a:xfrm>
          <a:prstGeom prst="rect">
            <a:avLst/>
          </a:prstGeom>
          <a:noFill/>
        </p:spPr>
        <p:txBody>
          <a:bodyPr wrap="square" anchor="t" lIns="0" rIns="0" tIns="0" bIns="0">
            <a:spAutoFit/>
          </a:bodyPr>
          <a:lstStyle/>
          <a:p>
            <a:pPr algn="l">
              <a:lnSpc>
                <a:spcPct val="100000"/>
              </a:lnSpc>
            </a:pPr>
            <a:r>
              <a:rPr sz="1450" b="1" i="0">
                <a:solidFill>
                  <a:srgbClr val="13221C"/>
                </a:solidFill>
                <a:latin typeface="Avenir Next"/>
              </a:rPr>
              <a:t>Holdout integrity</a:t>
            </a:r>
          </a:p>
        </p:txBody>
      </p:sp>
      <p:sp>
        <p:nvSpPr>
          <p:cNvPr id="36" name="TextBox 35"/>
          <p:cNvSpPr txBox="1"/>
          <p:nvPr/>
        </p:nvSpPr>
        <p:spPr>
          <a:xfrm>
            <a:off x="8257031" y="5120640"/>
            <a:ext cx="2971800" cy="457200"/>
          </a:xfrm>
          <a:prstGeom prst="rect">
            <a:avLst/>
          </a:prstGeom>
          <a:noFill/>
        </p:spPr>
        <p:txBody>
          <a:bodyPr wrap="square" anchor="t" lIns="0" rIns="0" tIns="0" bIns="0">
            <a:spAutoFit/>
          </a:bodyPr>
          <a:lstStyle/>
          <a:p>
            <a:pPr algn="l">
              <a:lnSpc>
                <a:spcPct val="102000"/>
              </a:lnSpc>
            </a:pPr>
            <a:r>
              <a:rPr sz="1100" b="0" i="1">
                <a:solidFill>
                  <a:srgbClr val="53635C"/>
                </a:solidFill>
                <a:latin typeface="Helvetica Neue"/>
              </a:rPr>
              <a:t>The France/Italy targeting issue is the biggest unknown.</a:t>
            </a:r>
          </a:p>
        </p:txBody>
      </p:sp>
      <p:sp>
        <p:nvSpPr>
          <p:cNvPr id="37" name="TextBox 36"/>
          <p:cNvSpPr txBox="1"/>
          <p:nvPr/>
        </p:nvSpPr>
        <p:spPr>
          <a:xfrm>
            <a:off x="8257031" y="5596128"/>
            <a:ext cx="2971800" cy="685800"/>
          </a:xfrm>
          <a:prstGeom prst="rect">
            <a:avLst/>
          </a:prstGeom>
          <a:noFill/>
        </p:spPr>
        <p:txBody>
          <a:bodyPr wrap="square" anchor="t" lIns="0" rIns="0" tIns="0" bIns="0">
            <a:spAutoFit/>
          </a:bodyPr>
          <a:lstStyle/>
          <a:p>
            <a:pPr algn="l">
              <a:lnSpc>
                <a:spcPct val="104000"/>
              </a:lnSpc>
            </a:pPr>
            <a:r>
              <a:rPr sz="1100" b="1" i="0">
                <a:solidFill>
                  <a:srgbClr val="00543D"/>
                </a:solidFill>
                <a:latin typeface="Helvetica Neue"/>
              </a:rPr>
              <a:t>Changes: </a:t>
            </a:r>
            <a:r>
              <a:rPr sz="1100" b="0" i="0">
                <a:solidFill>
                  <a:srgbClr val="53635C"/>
                </a:solidFill>
                <a:latin typeface="Helvetica Neue"/>
              </a:rPr>
              <a:t>Decides whether those markets earn an experiment slot, or a measurement fix first.</a:t>
            </a:r>
          </a:p>
        </p:txBody>
      </p:sp>
      <p:sp>
        <p:nvSpPr>
          <p:cNvPr id="38" name="TextBox 37"/>
          <p:cNvSpPr txBox="1"/>
          <p:nvPr/>
        </p:nvSpPr>
        <p:spPr>
          <a:xfrm>
            <a:off x="548640" y="6400800"/>
            <a:ext cx="7315200" cy="274320"/>
          </a:xfrm>
          <a:prstGeom prst="rect">
            <a:avLst/>
          </a:prstGeom>
          <a:noFill/>
        </p:spPr>
        <p:txBody>
          <a:bodyPr wrap="square" anchor="t" lIns="0" rIns="0" tIns="0" bIns="0">
            <a:spAutoFit/>
          </a:bodyPr>
          <a:lstStyle/>
          <a:p>
            <a:pPr algn="l">
              <a:lnSpc>
                <a:spcPct val="100000"/>
              </a:lnSpc>
            </a:pPr>
            <a:r>
              <a:rPr sz="900" b="0" i="0">
                <a:solidFill>
                  <a:srgbClr val="53635C"/>
                </a:solidFill>
                <a:latin typeface="Helvetica Neue"/>
              </a:rPr>
              <a:t>Adrien Enjalbert  ·  AI Systems, Personalization &amp; Growth</a:t>
            </a:r>
          </a:p>
        </p:txBody>
      </p:sp>
      <p:sp>
        <p:nvSpPr>
          <p:cNvPr id="39" name="TextBox 38"/>
          <p:cNvSpPr txBox="1"/>
          <p:nvPr/>
        </p:nvSpPr>
        <p:spPr>
          <a:xfrm>
            <a:off x="10911535" y="6400800"/>
            <a:ext cx="731520" cy="274320"/>
          </a:xfrm>
          <a:prstGeom prst="rect">
            <a:avLst/>
          </a:prstGeom>
          <a:noFill/>
        </p:spPr>
        <p:txBody>
          <a:bodyPr wrap="square" anchor="t" lIns="0" rIns="0" tIns="0" bIns="0">
            <a:spAutoFit/>
          </a:bodyPr>
          <a:lstStyle/>
          <a:p>
            <a:pPr algn="r">
              <a:lnSpc>
                <a:spcPct val="100000"/>
              </a:lnSpc>
            </a:pPr>
            <a:r>
              <a:rPr sz="900" b="1" i="0">
                <a:solidFill>
                  <a:srgbClr val="53635C"/>
                </a:solidFill>
                <a:latin typeface="Avenir Next"/>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566928"/>
            <a:ext cx="749808" cy="420624"/>
          </a:xfrm>
          <a:prstGeom prst="roundRect">
            <a:avLst>
              <a:gd name="adj" fmla="val 50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548640"/>
            <a:ext cx="749808" cy="420624"/>
          </a:xfrm>
          <a:prstGeom prst="rect">
            <a:avLst/>
          </a:prstGeom>
          <a:noFill/>
        </p:spPr>
        <p:txBody>
          <a:bodyPr wrap="square" anchor="ctr" lIns="0" rIns="0" tIns="0" bIns="0">
            <a:spAutoFit/>
          </a:bodyPr>
          <a:lstStyle/>
          <a:p>
            <a:pPr algn="ctr">
              <a:lnSpc>
                <a:spcPct val="100000"/>
              </a:lnSpc>
            </a:pPr>
            <a:r>
              <a:rPr sz="1400" b="1" i="0">
                <a:solidFill>
                  <a:srgbClr val="0A1512"/>
                </a:solidFill>
                <a:latin typeface="Avenir Next"/>
              </a:rPr>
              <a:t>1.3</a:t>
            </a:r>
          </a:p>
        </p:txBody>
      </p:sp>
      <p:sp>
        <p:nvSpPr>
          <p:cNvPr id="5" name="TextBox 4"/>
          <p:cNvSpPr txBox="1"/>
          <p:nvPr/>
        </p:nvSpPr>
        <p:spPr>
          <a:xfrm>
            <a:off x="1728216" y="548640"/>
            <a:ext cx="10058400" cy="457200"/>
          </a:xfrm>
          <a:prstGeom prst="rect">
            <a:avLst/>
          </a:prstGeom>
          <a:noFill/>
        </p:spPr>
        <p:txBody>
          <a:bodyPr wrap="square" anchor="ctr" lIns="0" rIns="0" tIns="0" bIns="0">
            <a:spAutoFit/>
          </a:bodyPr>
          <a:lstStyle/>
          <a:p>
            <a:pPr algn="l">
              <a:lnSpc>
                <a:spcPct val="100000"/>
              </a:lnSpc>
            </a:pPr>
            <a:r>
              <a:rPr sz="900" b="1" i="0">
                <a:solidFill>
                  <a:srgbClr val="A7BDB2"/>
                </a:solidFill>
                <a:latin typeface="Avenir Next"/>
              </a:rPr>
              <a:t>ANSWERING  </a:t>
            </a:r>
            <a:r>
              <a:rPr sz="1250" b="1" i="0">
                <a:solidFill>
                  <a:srgbClr val="13221C"/>
                </a:solidFill>
                <a:latin typeface="Avenir Next"/>
              </a:rPr>
              <a:t>Recommend the next three experiments.</a:t>
            </a:r>
          </a:p>
        </p:txBody>
      </p:sp>
      <p:sp>
        <p:nvSpPr>
          <p:cNvPr id="6" name="TextBox 5"/>
          <p:cNvSpPr txBox="1"/>
          <p:nvPr/>
        </p:nvSpPr>
        <p:spPr>
          <a:xfrm>
            <a:off x="731520" y="1188720"/>
            <a:ext cx="10881360" cy="914400"/>
          </a:xfrm>
          <a:prstGeom prst="rect">
            <a:avLst/>
          </a:prstGeom>
          <a:noFill/>
        </p:spPr>
        <p:txBody>
          <a:bodyPr wrap="square" anchor="t" lIns="0" rIns="0" tIns="0" bIns="0">
            <a:spAutoFit/>
          </a:bodyPr>
          <a:lstStyle/>
          <a:p>
            <a:pPr algn="l">
              <a:lnSpc>
                <a:spcPct val="100000"/>
              </a:lnSpc>
            </a:pPr>
            <a:r>
              <a:rPr sz="2700" b="1" i="0">
                <a:solidFill>
                  <a:srgbClr val="13221C"/>
                </a:solidFill>
                <a:latin typeface="Avenir Next"/>
              </a:rPr>
              <a:t>Only three slots a quarter. Spend them on learning that pays.</a:t>
            </a:r>
          </a:p>
        </p:txBody>
      </p:sp>
      <p:sp>
        <p:nvSpPr>
          <p:cNvPr id="7" name="Rounded Rectangle 6"/>
          <p:cNvSpPr/>
          <p:nvPr/>
        </p:nvSpPr>
        <p:spPr>
          <a:xfrm>
            <a:off x="777240" y="2148840"/>
            <a:ext cx="3520440" cy="356616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2148840"/>
            <a:ext cx="3520440" cy="932688"/>
          </a:xfrm>
          <a:prstGeom prst="roundRect">
            <a:avLst>
              <a:gd name="adj" fmla="val 9000"/>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606040"/>
            <a:ext cx="3520440" cy="475488"/>
          </a:xfrm>
          <a:prstGeom prst="rect">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2295144"/>
            <a:ext cx="1097280" cy="365760"/>
          </a:xfrm>
          <a:prstGeom prst="rect">
            <a:avLst/>
          </a:prstGeom>
          <a:noFill/>
        </p:spPr>
        <p:txBody>
          <a:bodyPr wrap="square" anchor="t" lIns="0" rIns="0" tIns="0" bIns="0">
            <a:spAutoFit/>
          </a:bodyPr>
          <a:lstStyle/>
          <a:p>
            <a:pPr algn="l">
              <a:lnSpc>
                <a:spcPct val="100000"/>
              </a:lnSpc>
            </a:pPr>
            <a:r>
              <a:rPr sz="1300" b="1" i="0">
                <a:solidFill>
                  <a:srgbClr val="34E0A1"/>
                </a:solidFill>
                <a:latin typeface="Avenir Next"/>
              </a:rPr>
              <a:t>01</a:t>
            </a:r>
          </a:p>
        </p:txBody>
      </p:sp>
      <p:sp>
        <p:nvSpPr>
          <p:cNvPr id="11" name="TextBox 10"/>
          <p:cNvSpPr txBox="1"/>
          <p:nvPr/>
        </p:nvSpPr>
        <p:spPr>
          <a:xfrm>
            <a:off x="1033271" y="2551176"/>
            <a:ext cx="3063240" cy="457200"/>
          </a:xfrm>
          <a:prstGeom prst="rect">
            <a:avLst/>
          </a:prstGeom>
          <a:noFill/>
        </p:spPr>
        <p:txBody>
          <a:bodyPr wrap="square" anchor="t" lIns="0" rIns="0" tIns="0" bIns="0">
            <a:spAutoFit/>
          </a:bodyPr>
          <a:lstStyle/>
          <a:p>
            <a:pPr algn="l">
              <a:lnSpc>
                <a:spcPct val="100000"/>
              </a:lnSpc>
            </a:pPr>
            <a:r>
              <a:rPr sz="1500" b="1" i="0">
                <a:solidFill>
                  <a:srgbClr val="FFFFFF"/>
                </a:solidFill>
                <a:latin typeface="Avenir Next"/>
              </a:rPr>
              <a:t>Stop paying loyal customers</a:t>
            </a:r>
          </a:p>
        </p:txBody>
      </p:sp>
      <p:sp>
        <p:nvSpPr>
          <p:cNvPr id="12" name="TextBox 11"/>
          <p:cNvSpPr txBox="1"/>
          <p:nvPr/>
        </p:nvSpPr>
        <p:spPr>
          <a:xfrm>
            <a:off x="1033271" y="3172968"/>
            <a:ext cx="3063240" cy="292608"/>
          </a:xfrm>
          <a:prstGeom prst="rect">
            <a:avLst/>
          </a:prstGeom>
          <a:noFill/>
        </p:spPr>
        <p:txBody>
          <a:bodyPr wrap="square" anchor="t" lIns="0" rIns="0" tIns="0" bIns="0">
            <a:spAutoFit/>
          </a:bodyPr>
          <a:lstStyle/>
          <a:p>
            <a:pPr algn="l">
              <a:lnSpc>
                <a:spcPct val="100000"/>
              </a:lnSpc>
            </a:pPr>
            <a:r>
              <a:rPr sz="800" b="1" i="0">
                <a:solidFill>
                  <a:srgbClr val="00976E"/>
                </a:solidFill>
                <a:latin typeface="Avenir Next"/>
              </a:rPr>
              <a:t>MARKET </a:t>
            </a:r>
            <a:r>
              <a:rPr sz="950" b="0" i="0">
                <a:solidFill>
                  <a:srgbClr val="13221C"/>
                </a:solidFill>
                <a:latin typeface="Avenir Next"/>
              </a:rPr>
              <a:t>UK &amp; Germany    </a:t>
            </a:r>
            <a:r>
              <a:rPr sz="800" b="1" i="0">
                <a:solidFill>
                  <a:srgbClr val="00976E"/>
                </a:solidFill>
                <a:latin typeface="Avenir Next"/>
              </a:rPr>
              <a:t>AUDIENCE </a:t>
            </a:r>
            <a:r>
              <a:rPr sz="950" b="0" i="0">
                <a:solidFill>
                  <a:srgbClr val="13221C"/>
                </a:solidFill>
                <a:latin typeface="Avenir Next"/>
              </a:rPr>
              <a:t>Repeat buyers</a:t>
            </a:r>
          </a:p>
        </p:txBody>
      </p:sp>
      <p:sp>
        <p:nvSpPr>
          <p:cNvPr id="13" name="TextBox 12"/>
          <p:cNvSpPr txBox="1"/>
          <p:nvPr/>
        </p:nvSpPr>
        <p:spPr>
          <a:xfrm>
            <a:off x="1033271" y="3520440"/>
            <a:ext cx="3017520" cy="1371600"/>
          </a:xfrm>
          <a:prstGeom prst="rect">
            <a:avLst/>
          </a:prstGeom>
          <a:noFill/>
        </p:spPr>
        <p:txBody>
          <a:bodyPr wrap="square" anchor="t" lIns="0" rIns="0" tIns="0" bIns="0">
            <a:spAutoFit/>
          </a:bodyPr>
          <a:lstStyle/>
          <a:p>
            <a:pPr algn="l">
              <a:lnSpc>
                <a:spcPct val="104000"/>
              </a:lnSpc>
            </a:pPr>
            <a:r>
              <a:rPr sz="1100" b="1" i="0">
                <a:solidFill>
                  <a:srgbClr val="13221C"/>
                </a:solidFill>
                <a:latin typeface="Helvetica Neue"/>
              </a:rPr>
              <a:t>Offer. </a:t>
            </a:r>
            <a:r>
              <a:rPr sz="1100" b="0" i="0">
                <a:solidFill>
                  <a:srgbClr val="53635C"/>
                </a:solidFill>
                <a:latin typeface="Helvetica Neue"/>
              </a:rPr>
              <a:t>Holdout: 15% vs 0% vs a non-cash perk.</a:t>
            </a:r>
          </a:p>
          <a:p>
            <a:pPr algn="l">
              <a:lnSpc>
                <a:spcPct val="104000"/>
              </a:lnSpc>
            </a:pPr>
            <a:r>
              <a:rPr sz="1100" b="1" i="0">
                <a:solidFill>
                  <a:srgbClr val="13221C"/>
                </a:solidFill>
                <a:latin typeface="Helvetica Neue"/>
              </a:rPr>
              <a:t>Why. </a:t>
            </a:r>
            <a:r>
              <a:rPr sz="1100" b="0" i="0">
                <a:solidFill>
                  <a:srgbClr val="53635C"/>
                </a:solidFill>
                <a:latin typeface="Helvetica Neue"/>
              </a:rPr>
              <a:t>Repeat is the clearest value-destroyer (28–31%). Biggest, fastest saving for Finance.</a:t>
            </a:r>
          </a:p>
          <a:p>
            <a:pPr algn="l">
              <a:lnSpc>
                <a:spcPct val="104000"/>
              </a:lnSpc>
            </a:pPr>
            <a:r>
              <a:rPr sz="1100" b="1" i="0">
                <a:solidFill>
                  <a:srgbClr val="13221C"/>
                </a:solidFill>
                <a:latin typeface="Helvetica Neue"/>
              </a:rPr>
              <a:t>Learn. </a:t>
            </a:r>
            <a:r>
              <a:rPr sz="1100" b="0" i="0">
                <a:solidFill>
                  <a:srgbClr val="53635C"/>
                </a:solidFill>
                <a:latin typeface="Helvetica Neue"/>
              </a:rPr>
              <a:t>How much repeat revenue is truly incremental.</a:t>
            </a:r>
          </a:p>
        </p:txBody>
      </p:sp>
      <p:sp>
        <p:nvSpPr>
          <p:cNvPr id="14" name="Rounded Rectangle 13"/>
          <p:cNvSpPr/>
          <p:nvPr/>
        </p:nvSpPr>
        <p:spPr>
          <a:xfrm>
            <a:off x="996695" y="4910328"/>
            <a:ext cx="3081528" cy="694944"/>
          </a:xfrm>
          <a:prstGeom prst="roundRect">
            <a:avLst>
              <a:gd name="adj" fmla="val 6000"/>
            </a:avLst>
          </a:prstGeom>
          <a:solidFill>
            <a:srgbClr val="FCF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4983480"/>
            <a:ext cx="2862072" cy="566928"/>
          </a:xfrm>
          <a:prstGeom prst="rect">
            <a:avLst/>
          </a:prstGeom>
          <a:noFill/>
        </p:spPr>
        <p:txBody>
          <a:bodyPr wrap="square" anchor="ctr" lIns="0" rIns="0" tIns="0" bIns="0">
            <a:spAutoFit/>
          </a:bodyPr>
          <a:lstStyle/>
          <a:p>
            <a:pPr algn="l">
              <a:lnSpc>
                <a:spcPct val="102000"/>
              </a:lnSpc>
            </a:pPr>
            <a:r>
              <a:rPr sz="950" b="1" i="0">
                <a:solidFill>
                  <a:srgbClr val="9A6A00"/>
                </a:solidFill>
                <a:latin typeface="Helvetica Neue"/>
              </a:rPr>
              <a:t>Business risk. </a:t>
            </a:r>
            <a:r>
              <a:rPr sz="950" b="0" i="0">
                <a:solidFill>
                  <a:srgbClr val="53635C"/>
                </a:solidFill>
                <a:latin typeface="Helvetica Neue"/>
              </a:rPr>
              <a:t>Some repeat bookings may be incremental. The holdout caps exposure; watch retention, not just next booking.</a:t>
            </a:r>
          </a:p>
        </p:txBody>
      </p:sp>
      <p:sp>
        <p:nvSpPr>
          <p:cNvPr id="16" name="Rounded Rectangle 15"/>
          <p:cNvSpPr/>
          <p:nvPr/>
        </p:nvSpPr>
        <p:spPr>
          <a:xfrm>
            <a:off x="4553712" y="2148840"/>
            <a:ext cx="3520440" cy="356616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53712" y="2148840"/>
            <a:ext cx="3520440" cy="932688"/>
          </a:xfrm>
          <a:prstGeom prst="roundRect">
            <a:avLst>
              <a:gd name="adj" fmla="val 9000"/>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53712" y="2606040"/>
            <a:ext cx="3520440" cy="475488"/>
          </a:xfrm>
          <a:prstGeom prst="rect">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09744" y="2295144"/>
            <a:ext cx="1097280" cy="365760"/>
          </a:xfrm>
          <a:prstGeom prst="rect">
            <a:avLst/>
          </a:prstGeom>
          <a:noFill/>
        </p:spPr>
        <p:txBody>
          <a:bodyPr wrap="square" anchor="t" lIns="0" rIns="0" tIns="0" bIns="0">
            <a:spAutoFit/>
          </a:bodyPr>
          <a:lstStyle/>
          <a:p>
            <a:pPr algn="l">
              <a:lnSpc>
                <a:spcPct val="100000"/>
              </a:lnSpc>
            </a:pPr>
            <a:r>
              <a:rPr sz="1300" b="1" i="0">
                <a:solidFill>
                  <a:srgbClr val="34E0A1"/>
                </a:solidFill>
                <a:latin typeface="Avenir Next"/>
              </a:rPr>
              <a:t>02</a:t>
            </a:r>
          </a:p>
        </p:txBody>
      </p:sp>
      <p:sp>
        <p:nvSpPr>
          <p:cNvPr id="20" name="TextBox 19"/>
          <p:cNvSpPr txBox="1"/>
          <p:nvPr/>
        </p:nvSpPr>
        <p:spPr>
          <a:xfrm>
            <a:off x="4809744" y="2551176"/>
            <a:ext cx="3063240" cy="457200"/>
          </a:xfrm>
          <a:prstGeom prst="rect">
            <a:avLst/>
          </a:prstGeom>
          <a:noFill/>
        </p:spPr>
        <p:txBody>
          <a:bodyPr wrap="square" anchor="t" lIns="0" rIns="0" tIns="0" bIns="0">
            <a:spAutoFit/>
          </a:bodyPr>
          <a:lstStyle/>
          <a:p>
            <a:pPr algn="l">
              <a:lnSpc>
                <a:spcPct val="100000"/>
              </a:lnSpc>
            </a:pPr>
            <a:r>
              <a:rPr sz="1500" b="1" i="0">
                <a:solidFill>
                  <a:srgbClr val="FFFFFF"/>
                </a:solidFill>
                <a:latin typeface="Avenir Next"/>
              </a:rPr>
              <a:t>Fixed value vs percentage</a:t>
            </a:r>
          </a:p>
        </p:txBody>
      </p:sp>
      <p:sp>
        <p:nvSpPr>
          <p:cNvPr id="21" name="TextBox 20"/>
          <p:cNvSpPr txBox="1"/>
          <p:nvPr/>
        </p:nvSpPr>
        <p:spPr>
          <a:xfrm>
            <a:off x="4809744" y="3172968"/>
            <a:ext cx="3063240" cy="292608"/>
          </a:xfrm>
          <a:prstGeom prst="rect">
            <a:avLst/>
          </a:prstGeom>
          <a:noFill/>
        </p:spPr>
        <p:txBody>
          <a:bodyPr wrap="square" anchor="t" lIns="0" rIns="0" tIns="0" bIns="0">
            <a:spAutoFit/>
          </a:bodyPr>
          <a:lstStyle/>
          <a:p>
            <a:pPr algn="l">
              <a:lnSpc>
                <a:spcPct val="100000"/>
              </a:lnSpc>
            </a:pPr>
            <a:r>
              <a:rPr sz="800" b="1" i="0">
                <a:solidFill>
                  <a:srgbClr val="00976E"/>
                </a:solidFill>
                <a:latin typeface="Avenir Next"/>
              </a:rPr>
              <a:t>MARKET </a:t>
            </a:r>
            <a:r>
              <a:rPr sz="950" b="0" i="0">
                <a:solidFill>
                  <a:srgbClr val="13221C"/>
                </a:solidFill>
                <a:latin typeface="Avenir Next"/>
              </a:rPr>
              <a:t>Germany    </a:t>
            </a:r>
            <a:r>
              <a:rPr sz="800" b="1" i="0">
                <a:solidFill>
                  <a:srgbClr val="00976E"/>
                </a:solidFill>
                <a:latin typeface="Avenir Next"/>
              </a:rPr>
              <a:t>AUDIENCE </a:t>
            </a:r>
            <a:r>
              <a:rPr sz="950" b="0" i="0">
                <a:solidFill>
                  <a:srgbClr val="13221C"/>
                </a:solidFill>
                <a:latin typeface="Avenir Next"/>
              </a:rPr>
              <a:t>First purchase</a:t>
            </a:r>
          </a:p>
        </p:txBody>
      </p:sp>
      <p:sp>
        <p:nvSpPr>
          <p:cNvPr id="22" name="TextBox 21"/>
          <p:cNvSpPr txBox="1"/>
          <p:nvPr/>
        </p:nvSpPr>
        <p:spPr>
          <a:xfrm>
            <a:off x="4809744" y="3520440"/>
            <a:ext cx="3017520" cy="1371600"/>
          </a:xfrm>
          <a:prstGeom prst="rect">
            <a:avLst/>
          </a:prstGeom>
          <a:noFill/>
        </p:spPr>
        <p:txBody>
          <a:bodyPr wrap="square" anchor="t" lIns="0" rIns="0" tIns="0" bIns="0">
            <a:spAutoFit/>
          </a:bodyPr>
          <a:lstStyle/>
          <a:p>
            <a:pPr algn="l">
              <a:lnSpc>
                <a:spcPct val="104000"/>
              </a:lnSpc>
            </a:pPr>
            <a:r>
              <a:rPr sz="1100" b="1" i="0">
                <a:solidFill>
                  <a:srgbClr val="13221C"/>
                </a:solidFill>
                <a:latin typeface="Helvetica Neue"/>
              </a:rPr>
              <a:t>Offer. </a:t>
            </a:r>
            <a:r>
              <a:rPr sz="1100" b="0" i="0">
                <a:solidFill>
                  <a:srgbClr val="53635C"/>
                </a:solidFill>
                <a:latin typeface="Helvetica Neue"/>
              </a:rPr>
              <a:t>A/B €15 voucher vs 15%. Cost matched on a €102 basket.</a:t>
            </a:r>
          </a:p>
          <a:p>
            <a:pPr algn="l">
              <a:lnSpc>
                <a:spcPct val="104000"/>
              </a:lnSpc>
            </a:pPr>
            <a:r>
              <a:rPr sz="1100" b="1" i="0">
                <a:solidFill>
                  <a:srgbClr val="13221C"/>
                </a:solidFill>
                <a:latin typeface="Helvetica Neue"/>
              </a:rPr>
              <a:t>Why. </a:t>
            </a:r>
            <a:r>
              <a:rPr sz="1100" b="0" i="0">
                <a:solidFill>
                  <a:srgbClr val="53635C"/>
                </a:solidFill>
                <a:latin typeface="Helvetica Neue"/>
              </a:rPr>
              <a:t>Test the qualitative hypothesis on the proven segment, don't assume it.</a:t>
            </a:r>
          </a:p>
          <a:p>
            <a:pPr algn="l">
              <a:lnSpc>
                <a:spcPct val="104000"/>
              </a:lnSpc>
            </a:pPr>
            <a:r>
              <a:rPr sz="1100" b="1" i="0">
                <a:solidFill>
                  <a:srgbClr val="13221C"/>
                </a:solidFill>
                <a:latin typeface="Helvetica Neue"/>
              </a:rPr>
              <a:t>Learn. </a:t>
            </a:r>
            <a:r>
              <a:rPr sz="1100" b="0" i="0">
                <a:solidFill>
                  <a:srgbClr val="53635C"/>
                </a:solidFill>
                <a:latin typeface="Helvetica Neue"/>
              </a:rPr>
              <a:t>Whether framing lifts incrementality at equal cost.</a:t>
            </a:r>
          </a:p>
        </p:txBody>
      </p:sp>
      <p:sp>
        <p:nvSpPr>
          <p:cNvPr id="23" name="Rounded Rectangle 22"/>
          <p:cNvSpPr/>
          <p:nvPr/>
        </p:nvSpPr>
        <p:spPr>
          <a:xfrm>
            <a:off x="4773168" y="4910328"/>
            <a:ext cx="3081528" cy="694944"/>
          </a:xfrm>
          <a:prstGeom prst="roundRect">
            <a:avLst>
              <a:gd name="adj" fmla="val 6000"/>
            </a:avLst>
          </a:prstGeom>
          <a:solidFill>
            <a:srgbClr val="FCF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19472" y="4983480"/>
            <a:ext cx="2862072" cy="566928"/>
          </a:xfrm>
          <a:prstGeom prst="rect">
            <a:avLst/>
          </a:prstGeom>
          <a:noFill/>
        </p:spPr>
        <p:txBody>
          <a:bodyPr wrap="square" anchor="ctr" lIns="0" rIns="0" tIns="0" bIns="0">
            <a:spAutoFit/>
          </a:bodyPr>
          <a:lstStyle/>
          <a:p>
            <a:pPr algn="l">
              <a:lnSpc>
                <a:spcPct val="102000"/>
              </a:lnSpc>
            </a:pPr>
            <a:r>
              <a:rPr sz="950" b="1" i="0">
                <a:solidFill>
                  <a:srgbClr val="9A6A00"/>
                </a:solidFill>
                <a:latin typeface="Helvetica Neue"/>
              </a:rPr>
              <a:t>Business risk. </a:t>
            </a:r>
            <a:r>
              <a:rPr sz="950" b="0" i="0">
                <a:solidFill>
                  <a:srgbClr val="53635C"/>
                </a:solidFill>
                <a:latin typeface="Helvetica Neue"/>
              </a:rPr>
              <a:t>Framing effect may be small, but cost is matched, so the downside is a slot, not budget.</a:t>
            </a:r>
          </a:p>
        </p:txBody>
      </p:sp>
      <p:sp>
        <p:nvSpPr>
          <p:cNvPr id="25" name="Rounded Rectangle 24"/>
          <p:cNvSpPr/>
          <p:nvPr/>
        </p:nvSpPr>
        <p:spPr>
          <a:xfrm>
            <a:off x="8330183" y="2148840"/>
            <a:ext cx="3520440" cy="356616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330183" y="2148840"/>
            <a:ext cx="3520440" cy="932688"/>
          </a:xfrm>
          <a:prstGeom prst="roundRect">
            <a:avLst>
              <a:gd name="adj" fmla="val 9000"/>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330183" y="2606040"/>
            <a:ext cx="3520440" cy="475488"/>
          </a:xfrm>
          <a:prstGeom prst="rect">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86215" y="2295144"/>
            <a:ext cx="1097280" cy="365760"/>
          </a:xfrm>
          <a:prstGeom prst="rect">
            <a:avLst/>
          </a:prstGeom>
          <a:noFill/>
        </p:spPr>
        <p:txBody>
          <a:bodyPr wrap="square" anchor="t" lIns="0" rIns="0" tIns="0" bIns="0">
            <a:spAutoFit/>
          </a:bodyPr>
          <a:lstStyle/>
          <a:p>
            <a:pPr algn="l">
              <a:lnSpc>
                <a:spcPct val="100000"/>
              </a:lnSpc>
            </a:pPr>
            <a:r>
              <a:rPr sz="1300" b="1" i="0">
                <a:solidFill>
                  <a:srgbClr val="34E0A1"/>
                </a:solidFill>
                <a:latin typeface="Avenir Next"/>
              </a:rPr>
              <a:t>03</a:t>
            </a:r>
          </a:p>
        </p:txBody>
      </p:sp>
      <p:sp>
        <p:nvSpPr>
          <p:cNvPr id="29" name="TextBox 28"/>
          <p:cNvSpPr txBox="1"/>
          <p:nvPr/>
        </p:nvSpPr>
        <p:spPr>
          <a:xfrm>
            <a:off x="8586215" y="2551176"/>
            <a:ext cx="3063240" cy="457200"/>
          </a:xfrm>
          <a:prstGeom prst="rect">
            <a:avLst/>
          </a:prstGeom>
          <a:noFill/>
        </p:spPr>
        <p:txBody>
          <a:bodyPr wrap="square" anchor="t" lIns="0" rIns="0" tIns="0" bIns="0">
            <a:spAutoFit/>
          </a:bodyPr>
          <a:lstStyle/>
          <a:p>
            <a:pPr algn="l">
              <a:lnSpc>
                <a:spcPct val="100000"/>
              </a:lnSpc>
            </a:pPr>
            <a:r>
              <a:rPr sz="1500" b="1" i="0">
                <a:solidFill>
                  <a:srgbClr val="FFFFFF"/>
                </a:solidFill>
                <a:latin typeface="Avenir Next"/>
              </a:rPr>
              <a:t>How shallow can we go?</a:t>
            </a:r>
          </a:p>
        </p:txBody>
      </p:sp>
      <p:sp>
        <p:nvSpPr>
          <p:cNvPr id="30" name="TextBox 29"/>
          <p:cNvSpPr txBox="1"/>
          <p:nvPr/>
        </p:nvSpPr>
        <p:spPr>
          <a:xfrm>
            <a:off x="8586215" y="3172968"/>
            <a:ext cx="3063240" cy="292608"/>
          </a:xfrm>
          <a:prstGeom prst="rect">
            <a:avLst/>
          </a:prstGeom>
          <a:noFill/>
        </p:spPr>
        <p:txBody>
          <a:bodyPr wrap="square" anchor="t" lIns="0" rIns="0" tIns="0" bIns="0">
            <a:spAutoFit/>
          </a:bodyPr>
          <a:lstStyle/>
          <a:p>
            <a:pPr algn="l">
              <a:lnSpc>
                <a:spcPct val="100000"/>
              </a:lnSpc>
            </a:pPr>
            <a:r>
              <a:rPr sz="800" b="1" i="0">
                <a:solidFill>
                  <a:srgbClr val="00976E"/>
                </a:solidFill>
                <a:latin typeface="Avenir Next"/>
              </a:rPr>
              <a:t>MARKET </a:t>
            </a:r>
            <a:r>
              <a:rPr sz="950" b="0" i="0">
                <a:solidFill>
                  <a:srgbClr val="13221C"/>
                </a:solidFill>
                <a:latin typeface="Avenir Next"/>
              </a:rPr>
              <a:t>Spain    </a:t>
            </a:r>
            <a:r>
              <a:rPr sz="800" b="1" i="0">
                <a:solidFill>
                  <a:srgbClr val="00976E"/>
                </a:solidFill>
                <a:latin typeface="Avenir Next"/>
              </a:rPr>
              <a:t>AUDIENCE </a:t>
            </a:r>
            <a:r>
              <a:rPr sz="950" b="0" i="0">
                <a:solidFill>
                  <a:srgbClr val="13221C"/>
                </a:solidFill>
                <a:latin typeface="Avenir Next"/>
              </a:rPr>
              <a:t>First purchase</a:t>
            </a:r>
          </a:p>
        </p:txBody>
      </p:sp>
      <p:sp>
        <p:nvSpPr>
          <p:cNvPr id="31" name="TextBox 30"/>
          <p:cNvSpPr txBox="1"/>
          <p:nvPr/>
        </p:nvSpPr>
        <p:spPr>
          <a:xfrm>
            <a:off x="8586215" y="3520440"/>
            <a:ext cx="3017520" cy="1371600"/>
          </a:xfrm>
          <a:prstGeom prst="rect">
            <a:avLst/>
          </a:prstGeom>
          <a:noFill/>
        </p:spPr>
        <p:txBody>
          <a:bodyPr wrap="square" anchor="t" lIns="0" rIns="0" tIns="0" bIns="0">
            <a:spAutoFit/>
          </a:bodyPr>
          <a:lstStyle/>
          <a:p>
            <a:pPr algn="l">
              <a:lnSpc>
                <a:spcPct val="104000"/>
              </a:lnSpc>
            </a:pPr>
            <a:r>
              <a:rPr sz="1100" b="1" i="0">
                <a:solidFill>
                  <a:srgbClr val="13221C"/>
                </a:solidFill>
                <a:latin typeface="Helvetica Neue"/>
              </a:rPr>
              <a:t>Offer. </a:t>
            </a:r>
            <a:r>
              <a:rPr sz="1100" b="0" i="0">
                <a:solidFill>
                  <a:srgbClr val="53635C"/>
                </a:solidFill>
                <a:latin typeface="Helvetica Neue"/>
              </a:rPr>
              <a:t>Depth test: 10% vs 15%, plus a €10-off-€75 threshold.</a:t>
            </a:r>
          </a:p>
          <a:p>
            <a:pPr algn="l">
              <a:lnSpc>
                <a:spcPct val="104000"/>
              </a:lnSpc>
            </a:pPr>
            <a:r>
              <a:rPr sz="1100" b="1" i="0">
                <a:solidFill>
                  <a:srgbClr val="13221C"/>
                </a:solidFill>
                <a:latin typeface="Helvetica Neue"/>
              </a:rPr>
              <a:t>Why. </a:t>
            </a:r>
            <a:r>
              <a:rPr sz="1100" b="0" i="0">
                <a:solidFill>
                  <a:srgbClr val="53635C"/>
                </a:solidFill>
                <a:latin typeface="Helvetica Neue"/>
              </a:rPr>
              <a:t>Marginal (48%) but not flagged, lowest basket. Cleanest place to find the floor.</a:t>
            </a:r>
          </a:p>
          <a:p>
            <a:pPr algn="l">
              <a:lnSpc>
                <a:spcPct val="104000"/>
              </a:lnSpc>
            </a:pPr>
            <a:r>
              <a:rPr sz="1100" b="1" i="0">
                <a:solidFill>
                  <a:srgbClr val="13221C"/>
                </a:solidFill>
                <a:latin typeface="Helvetica Neue"/>
              </a:rPr>
              <a:t>Learn. </a:t>
            </a:r>
            <a:r>
              <a:rPr sz="1100" b="0" i="0">
                <a:solidFill>
                  <a:srgbClr val="53635C"/>
                </a:solidFill>
                <a:latin typeface="Helvetica Neue"/>
              </a:rPr>
              <a:t>The discount elasticity that answers Finance directly.</a:t>
            </a:r>
          </a:p>
        </p:txBody>
      </p:sp>
      <p:sp>
        <p:nvSpPr>
          <p:cNvPr id="32" name="Rounded Rectangle 31"/>
          <p:cNvSpPr/>
          <p:nvPr/>
        </p:nvSpPr>
        <p:spPr>
          <a:xfrm>
            <a:off x="8549640" y="4910328"/>
            <a:ext cx="3081528" cy="694944"/>
          </a:xfrm>
          <a:prstGeom prst="roundRect">
            <a:avLst>
              <a:gd name="adj" fmla="val 6000"/>
            </a:avLst>
          </a:prstGeom>
          <a:solidFill>
            <a:srgbClr val="FCF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95944" y="4983480"/>
            <a:ext cx="2862072" cy="566928"/>
          </a:xfrm>
          <a:prstGeom prst="rect">
            <a:avLst/>
          </a:prstGeom>
          <a:noFill/>
        </p:spPr>
        <p:txBody>
          <a:bodyPr wrap="square" anchor="ctr" lIns="0" rIns="0" tIns="0" bIns="0">
            <a:spAutoFit/>
          </a:bodyPr>
          <a:lstStyle/>
          <a:p>
            <a:pPr algn="l">
              <a:lnSpc>
                <a:spcPct val="102000"/>
              </a:lnSpc>
            </a:pPr>
            <a:r>
              <a:rPr sz="950" b="1" i="0">
                <a:solidFill>
                  <a:srgbClr val="9A6A00"/>
                </a:solidFill>
                <a:latin typeface="Helvetica Neue"/>
              </a:rPr>
              <a:t>Business risk. </a:t>
            </a:r>
            <a:r>
              <a:rPr sz="950" b="0" i="0">
                <a:solidFill>
                  <a:srgbClr val="53635C"/>
                </a:solidFill>
                <a:latin typeface="Helvetica Neue"/>
              </a:rPr>
              <a:t>Under-discounting could slow acquisition. Measure downstream CLV, not just first bookings.</a:t>
            </a:r>
          </a:p>
        </p:txBody>
      </p:sp>
      <p:sp>
        <p:nvSpPr>
          <p:cNvPr id="34" name="Rounded Rectangle 33"/>
          <p:cNvSpPr/>
          <p:nvPr/>
        </p:nvSpPr>
        <p:spPr>
          <a:xfrm>
            <a:off x="777240" y="5797296"/>
            <a:ext cx="10652760" cy="548640"/>
          </a:xfrm>
          <a:prstGeom prst="roundRect">
            <a:avLst>
              <a:gd name="adj" fmla="val 6000"/>
            </a:avLst>
          </a:prstGeom>
          <a:solidFill>
            <a:srgbClr val="FDF3F3"/>
          </a:solidFill>
          <a:ln w="12700">
            <a:solidFill>
              <a:srgbClr val="F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5797296"/>
            <a:ext cx="10149840" cy="548640"/>
          </a:xfrm>
          <a:prstGeom prst="rect">
            <a:avLst/>
          </a:prstGeom>
          <a:noFill/>
        </p:spPr>
        <p:txBody>
          <a:bodyPr wrap="square" anchor="ctr" lIns="0" rIns="0" tIns="0" bIns="0">
            <a:spAutoFit/>
          </a:bodyPr>
          <a:lstStyle/>
          <a:p>
            <a:pPr algn="l">
              <a:lnSpc>
                <a:spcPct val="100000"/>
              </a:lnSpc>
            </a:pPr>
            <a:r>
              <a:rPr sz="1150" b="1" i="0">
                <a:solidFill>
                  <a:srgbClr val="B03434"/>
                </a:solidFill>
                <a:latin typeface="Helvetica Neue"/>
              </a:rPr>
              <a:t>✋  Deliberately not France or Italy. </a:t>
            </a:r>
            <a:r>
              <a:rPr sz="1150" b="0" i="0">
                <a:solidFill>
                  <a:srgbClr val="53635C"/>
                </a:solidFill>
                <a:latin typeface="Helvetica Neue"/>
              </a:rPr>
              <a:t>Their data is flagged. Spending a scarce slot on numbers we can't trust would be the mistake. Fix the holdout first.</a:t>
            </a:r>
          </a:p>
        </p:txBody>
      </p:sp>
      <p:sp>
        <p:nvSpPr>
          <p:cNvPr id="36" name="TextBox 35"/>
          <p:cNvSpPr txBox="1"/>
          <p:nvPr/>
        </p:nvSpPr>
        <p:spPr>
          <a:xfrm>
            <a:off x="548640" y="6400800"/>
            <a:ext cx="7315200" cy="274320"/>
          </a:xfrm>
          <a:prstGeom prst="rect">
            <a:avLst/>
          </a:prstGeom>
          <a:noFill/>
        </p:spPr>
        <p:txBody>
          <a:bodyPr wrap="square" anchor="t" lIns="0" rIns="0" tIns="0" bIns="0">
            <a:spAutoFit/>
          </a:bodyPr>
          <a:lstStyle/>
          <a:p>
            <a:pPr algn="l">
              <a:lnSpc>
                <a:spcPct val="100000"/>
              </a:lnSpc>
            </a:pPr>
            <a:r>
              <a:rPr sz="900" b="0" i="0">
                <a:solidFill>
                  <a:srgbClr val="53635C"/>
                </a:solidFill>
                <a:latin typeface="Helvetica Neue"/>
              </a:rPr>
              <a:t>Adrien Enjalbert  ·  AI Systems, Personalization &amp; Growth</a:t>
            </a:r>
          </a:p>
        </p:txBody>
      </p:sp>
      <p:sp>
        <p:nvSpPr>
          <p:cNvPr id="37" name="TextBox 36"/>
          <p:cNvSpPr txBox="1"/>
          <p:nvPr/>
        </p:nvSpPr>
        <p:spPr>
          <a:xfrm>
            <a:off x="10911535" y="6400800"/>
            <a:ext cx="731520" cy="274320"/>
          </a:xfrm>
          <a:prstGeom prst="rect">
            <a:avLst/>
          </a:prstGeom>
          <a:noFill/>
        </p:spPr>
        <p:txBody>
          <a:bodyPr wrap="square" anchor="t" lIns="0" rIns="0" tIns="0" bIns="0">
            <a:spAutoFit/>
          </a:bodyPr>
          <a:lstStyle/>
          <a:p>
            <a:pPr algn="r">
              <a:lnSpc>
                <a:spcPct val="100000"/>
              </a:lnSpc>
            </a:pPr>
            <a:r>
              <a:rPr sz="900" b="1" i="0">
                <a:solidFill>
                  <a:srgbClr val="53635C"/>
                </a:solidFill>
                <a:latin typeface="Avenir Next"/>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685800"/>
            <a:ext cx="502920" cy="50292"/>
          </a:xfrm>
          <a:prstGeom prst="rect">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914400"/>
            <a:ext cx="7315200" cy="320040"/>
          </a:xfrm>
          <a:prstGeom prst="rect">
            <a:avLst/>
          </a:prstGeom>
          <a:noFill/>
        </p:spPr>
        <p:txBody>
          <a:bodyPr wrap="square" anchor="t" lIns="0" rIns="0" tIns="0" bIns="0">
            <a:spAutoFit/>
          </a:bodyPr>
          <a:lstStyle/>
          <a:p>
            <a:pPr algn="l">
              <a:lnSpc>
                <a:spcPct val="100000"/>
              </a:lnSpc>
            </a:pPr>
            <a:r>
              <a:rPr sz="1200" b="1" i="0">
                <a:solidFill>
                  <a:srgbClr val="34E0A1"/>
                </a:solidFill>
                <a:latin typeface="Avenir Next"/>
              </a:rPr>
              <a:t>IN PRACTICE  ·  PART 1  ·  THE DATA FOUNDATION</a:t>
            </a:r>
          </a:p>
        </p:txBody>
      </p:sp>
      <p:sp>
        <p:nvSpPr>
          <p:cNvPr id="5" name="TextBox 4"/>
          <p:cNvSpPr txBox="1"/>
          <p:nvPr/>
        </p:nvSpPr>
        <p:spPr>
          <a:xfrm>
            <a:off x="731520" y="1234440"/>
            <a:ext cx="10881360" cy="1554480"/>
          </a:xfrm>
          <a:prstGeom prst="rect">
            <a:avLst/>
          </a:prstGeom>
          <a:noFill/>
        </p:spPr>
        <p:txBody>
          <a:bodyPr wrap="square" anchor="t" lIns="0" rIns="0" tIns="0" bIns="0">
            <a:spAutoFit/>
          </a:bodyPr>
          <a:lstStyle/>
          <a:p>
            <a:pPr algn="l">
              <a:lnSpc>
                <a:spcPct val="102000"/>
              </a:lnSpc>
            </a:pPr>
            <a:r>
              <a:rPr sz="2700" b="1" i="0">
                <a:solidFill>
                  <a:srgbClr val="34E0A1"/>
                </a:solidFill>
                <a:latin typeface="Avenir Next"/>
              </a:rPr>
              <a:t>“Incrementality should be treated as directional.”</a:t>
            </a:r>
          </a:p>
        </p:txBody>
      </p:sp>
      <p:sp>
        <p:nvSpPr>
          <p:cNvPr id="6" name="TextBox 5"/>
          <p:cNvSpPr txBox="1"/>
          <p:nvPr/>
        </p:nvSpPr>
        <p:spPr>
          <a:xfrm>
            <a:off x="777240" y="2514600"/>
            <a:ext cx="10424160" cy="822960"/>
          </a:xfrm>
          <a:prstGeom prst="rect">
            <a:avLst/>
          </a:prstGeom>
          <a:noFill/>
        </p:spPr>
        <p:txBody>
          <a:bodyPr wrap="square" anchor="t" lIns="0" rIns="0" tIns="0" bIns="0">
            <a:spAutoFit/>
          </a:bodyPr>
          <a:lstStyle/>
          <a:p>
            <a:pPr algn="l">
              <a:lnSpc>
                <a:spcPct val="112000"/>
              </a:lnSpc>
            </a:pPr>
            <a:r>
              <a:rPr sz="1500" b="0" i="0">
                <a:solidFill>
                  <a:srgbClr val="A7C3B8"/>
                </a:solidFill>
                <a:latin typeface="Helvetica Neue"/>
              </a:rPr>
              <a:t>That one line in the brief is the whole job. France and Italy had targeting issues in the holdout, so their numbers cannot be trusted. You cannot automate on data you cannot trust, and this is not a rare event, it is the default state of data in a large org.</a:t>
            </a:r>
          </a:p>
        </p:txBody>
      </p:sp>
      <p:sp>
        <p:nvSpPr>
          <p:cNvPr id="7" name="Chevron 6"/>
          <p:cNvSpPr/>
          <p:nvPr/>
        </p:nvSpPr>
        <p:spPr>
          <a:xfrm>
            <a:off x="777240" y="3703320"/>
            <a:ext cx="2651760" cy="960120"/>
          </a:xfrm>
          <a:prstGeom prst="chevron">
            <a:avLst>
              <a:gd name="adj" fmla="val 18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6424" y="3849624"/>
            <a:ext cx="1993391" cy="365760"/>
          </a:xfrm>
          <a:prstGeom prst="rect">
            <a:avLst/>
          </a:prstGeom>
          <a:noFill/>
        </p:spPr>
        <p:txBody>
          <a:bodyPr wrap="square" anchor="t" lIns="0" rIns="0" tIns="0" bIns="0">
            <a:spAutoFit/>
          </a:bodyPr>
          <a:lstStyle/>
          <a:p>
            <a:pPr algn="l">
              <a:lnSpc>
                <a:spcPct val="100000"/>
              </a:lnSpc>
            </a:pPr>
            <a:r>
              <a:rPr sz="1200" b="1" i="0">
                <a:solidFill>
                  <a:srgbClr val="FFFFFF"/>
                </a:solidFill>
                <a:latin typeface="Avenir Next"/>
              </a:rPr>
              <a:t>Raw tracking</a:t>
            </a:r>
          </a:p>
        </p:txBody>
      </p:sp>
      <p:sp>
        <p:nvSpPr>
          <p:cNvPr id="9" name="TextBox 8"/>
          <p:cNvSpPr txBox="1"/>
          <p:nvPr/>
        </p:nvSpPr>
        <p:spPr>
          <a:xfrm>
            <a:off x="1106424" y="4206240"/>
            <a:ext cx="1993391" cy="457200"/>
          </a:xfrm>
          <a:prstGeom prst="rect">
            <a:avLst/>
          </a:prstGeom>
          <a:noFill/>
        </p:spPr>
        <p:txBody>
          <a:bodyPr wrap="square" anchor="t" lIns="0" rIns="0" tIns="0" bIns="0">
            <a:spAutoFit/>
          </a:bodyPr>
          <a:lstStyle/>
          <a:p>
            <a:pPr algn="l">
              <a:lnSpc>
                <a:spcPct val="100000"/>
              </a:lnSpc>
            </a:pPr>
            <a:r>
              <a:rPr sz="950" b="0" i="0">
                <a:solidFill>
                  <a:srgbClr val="A7C3B8"/>
                </a:solidFill>
                <a:latin typeface="Helvetica Neue"/>
              </a:rPr>
              <a:t>Backend events, web &amp; app, Braze sends</a:t>
            </a:r>
          </a:p>
        </p:txBody>
      </p:sp>
      <p:sp>
        <p:nvSpPr>
          <p:cNvPr id="10" name="Chevron 9"/>
          <p:cNvSpPr/>
          <p:nvPr/>
        </p:nvSpPr>
        <p:spPr>
          <a:xfrm>
            <a:off x="3538728" y="3703320"/>
            <a:ext cx="2651760" cy="960120"/>
          </a:xfrm>
          <a:prstGeom prst="chevron">
            <a:avLst>
              <a:gd name="adj" fmla="val 18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67912" y="3849624"/>
            <a:ext cx="1993391" cy="365760"/>
          </a:xfrm>
          <a:prstGeom prst="rect">
            <a:avLst/>
          </a:prstGeom>
          <a:noFill/>
        </p:spPr>
        <p:txBody>
          <a:bodyPr wrap="square" anchor="t" lIns="0" rIns="0" tIns="0" bIns="0">
            <a:spAutoFit/>
          </a:bodyPr>
          <a:lstStyle/>
          <a:p>
            <a:pPr algn="l">
              <a:lnSpc>
                <a:spcPct val="100000"/>
              </a:lnSpc>
            </a:pPr>
            <a:r>
              <a:rPr sz="1200" b="1" i="0">
                <a:solidFill>
                  <a:srgbClr val="FFFFFF"/>
                </a:solidFill>
                <a:latin typeface="Avenir Next"/>
              </a:rPr>
              <a:t>ETL &amp; clean-up</a:t>
            </a:r>
          </a:p>
        </p:txBody>
      </p:sp>
      <p:sp>
        <p:nvSpPr>
          <p:cNvPr id="12" name="TextBox 11"/>
          <p:cNvSpPr txBox="1"/>
          <p:nvPr/>
        </p:nvSpPr>
        <p:spPr>
          <a:xfrm>
            <a:off x="3867912" y="4206240"/>
            <a:ext cx="1993391" cy="457200"/>
          </a:xfrm>
          <a:prstGeom prst="rect">
            <a:avLst/>
          </a:prstGeom>
          <a:noFill/>
        </p:spPr>
        <p:txBody>
          <a:bodyPr wrap="square" anchor="t" lIns="0" rIns="0" tIns="0" bIns="0">
            <a:spAutoFit/>
          </a:bodyPr>
          <a:lstStyle/>
          <a:p>
            <a:pPr algn="l">
              <a:lnSpc>
                <a:spcPct val="100000"/>
              </a:lnSpc>
            </a:pPr>
            <a:r>
              <a:rPr sz="950" b="0" i="0">
                <a:solidFill>
                  <a:srgbClr val="A7C3B8"/>
                </a:solidFill>
                <a:latin typeface="Helvetica Neue"/>
              </a:rPr>
              <a:t>Dedupe, fix attribution, single source of truth</a:t>
            </a:r>
          </a:p>
        </p:txBody>
      </p:sp>
      <p:sp>
        <p:nvSpPr>
          <p:cNvPr id="13" name="Chevron 12"/>
          <p:cNvSpPr/>
          <p:nvPr/>
        </p:nvSpPr>
        <p:spPr>
          <a:xfrm>
            <a:off x="6300216" y="3703320"/>
            <a:ext cx="2651760" cy="960120"/>
          </a:xfrm>
          <a:prstGeom prst="chevron">
            <a:avLst>
              <a:gd name="adj" fmla="val 18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3849624"/>
            <a:ext cx="1993391" cy="365760"/>
          </a:xfrm>
          <a:prstGeom prst="rect">
            <a:avLst/>
          </a:prstGeom>
          <a:noFill/>
        </p:spPr>
        <p:txBody>
          <a:bodyPr wrap="square" anchor="t" lIns="0" rIns="0" tIns="0" bIns="0">
            <a:spAutoFit/>
          </a:bodyPr>
          <a:lstStyle/>
          <a:p>
            <a:pPr algn="l">
              <a:lnSpc>
                <a:spcPct val="100000"/>
              </a:lnSpc>
            </a:pPr>
            <a:r>
              <a:rPr sz="1200" b="1" i="0">
                <a:solidFill>
                  <a:srgbClr val="FFFFFF"/>
                </a:solidFill>
                <a:latin typeface="Avenir Next"/>
              </a:rPr>
              <a:t>Validated experiment data</a:t>
            </a:r>
          </a:p>
        </p:txBody>
      </p:sp>
      <p:sp>
        <p:nvSpPr>
          <p:cNvPr id="15" name="TextBox 14"/>
          <p:cNvSpPr txBox="1"/>
          <p:nvPr/>
        </p:nvSpPr>
        <p:spPr>
          <a:xfrm>
            <a:off x="6629400" y="4206240"/>
            <a:ext cx="1993391" cy="457200"/>
          </a:xfrm>
          <a:prstGeom prst="rect">
            <a:avLst/>
          </a:prstGeom>
          <a:noFill/>
        </p:spPr>
        <p:txBody>
          <a:bodyPr wrap="square" anchor="t" lIns="0" rIns="0" tIns="0" bIns="0">
            <a:spAutoFit/>
          </a:bodyPr>
          <a:lstStyle/>
          <a:p>
            <a:pPr algn="l">
              <a:lnSpc>
                <a:spcPct val="100000"/>
              </a:lnSpc>
            </a:pPr>
            <a:r>
              <a:rPr sz="950" b="0" i="0">
                <a:solidFill>
                  <a:srgbClr val="A7C3B8"/>
                </a:solidFill>
                <a:latin typeface="Helvetica Neue"/>
              </a:rPr>
              <a:t>Holdout integrity, sample sizes, confidence</a:t>
            </a:r>
          </a:p>
        </p:txBody>
      </p:sp>
      <p:sp>
        <p:nvSpPr>
          <p:cNvPr id="16" name="Chevron 15"/>
          <p:cNvSpPr/>
          <p:nvPr/>
        </p:nvSpPr>
        <p:spPr>
          <a:xfrm>
            <a:off x="9061704" y="3703320"/>
            <a:ext cx="2651760" cy="960120"/>
          </a:xfrm>
          <a:prstGeom prst="chevron">
            <a:avLst>
              <a:gd name="adj" fmla="val 18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90888" y="3849624"/>
            <a:ext cx="1993391" cy="365760"/>
          </a:xfrm>
          <a:prstGeom prst="rect">
            <a:avLst/>
          </a:prstGeom>
          <a:noFill/>
        </p:spPr>
        <p:txBody>
          <a:bodyPr wrap="square" anchor="t" lIns="0" rIns="0" tIns="0" bIns="0">
            <a:spAutoFit/>
          </a:bodyPr>
          <a:lstStyle/>
          <a:p>
            <a:pPr algn="l">
              <a:lnSpc>
                <a:spcPct val="100000"/>
              </a:lnSpc>
            </a:pPr>
            <a:r>
              <a:rPr sz="1200" b="1" i="0">
                <a:solidFill>
                  <a:srgbClr val="0A1512"/>
                </a:solidFill>
                <a:latin typeface="Avenir Next"/>
              </a:rPr>
              <a:t>AI can act</a:t>
            </a:r>
          </a:p>
        </p:txBody>
      </p:sp>
      <p:sp>
        <p:nvSpPr>
          <p:cNvPr id="18" name="TextBox 17"/>
          <p:cNvSpPr txBox="1"/>
          <p:nvPr/>
        </p:nvSpPr>
        <p:spPr>
          <a:xfrm>
            <a:off x="9390888" y="4206240"/>
            <a:ext cx="1993391" cy="457200"/>
          </a:xfrm>
          <a:prstGeom prst="rect">
            <a:avLst/>
          </a:prstGeom>
          <a:noFill/>
        </p:spPr>
        <p:txBody>
          <a:bodyPr wrap="square" anchor="t" lIns="0" rIns="0" tIns="0" bIns="0">
            <a:spAutoFit/>
          </a:bodyPr>
          <a:lstStyle/>
          <a:p>
            <a:pPr algn="l">
              <a:lnSpc>
                <a:spcPct val="100000"/>
              </a:lnSpc>
            </a:pPr>
            <a:r>
              <a:rPr sz="950" b="0" i="0">
                <a:solidFill>
                  <a:srgbClr val="0E1F18"/>
                </a:solidFill>
                <a:latin typeface="Helvetica Neue"/>
              </a:rPr>
              <a:t>Only now is automation safe</a:t>
            </a:r>
          </a:p>
        </p:txBody>
      </p:sp>
      <p:sp>
        <p:nvSpPr>
          <p:cNvPr id="19" name="TextBox 18"/>
          <p:cNvSpPr txBox="1"/>
          <p:nvPr/>
        </p:nvSpPr>
        <p:spPr>
          <a:xfrm>
            <a:off x="777240" y="5074920"/>
            <a:ext cx="10515600" cy="822960"/>
          </a:xfrm>
          <a:prstGeom prst="rect">
            <a:avLst/>
          </a:prstGeom>
          <a:noFill/>
        </p:spPr>
        <p:txBody>
          <a:bodyPr wrap="square" anchor="t" lIns="0" rIns="0" tIns="0" bIns="0">
            <a:spAutoFit/>
          </a:bodyPr>
          <a:lstStyle/>
          <a:p>
            <a:pPr algn="l">
              <a:lnSpc>
                <a:spcPct val="110000"/>
              </a:lnSpc>
            </a:pPr>
            <a:r>
              <a:rPr sz="1300" b="1" i="0">
                <a:solidFill>
                  <a:srgbClr val="FFFFFF"/>
                </a:solidFill>
                <a:latin typeface="Helvetica Neue"/>
              </a:rPr>
              <a:t>Where I would start: </a:t>
            </a:r>
            <a:r>
              <a:rPr sz="1300" b="0" i="0">
                <a:solidFill>
                  <a:srgbClr val="A7C3B8"/>
                </a:solidFill>
                <a:latin typeface="Helvetica Neue"/>
              </a:rPr>
              <a:t>a data investigation and clean-up sprint plus a re-run of the France/Italy holdout, before a single model ships. Realistically 60–70% of the effort. It is unglamorous, and it is the difference between an AI that helps and one that confidently misleads.</a:t>
            </a:r>
          </a:p>
        </p:txBody>
      </p:sp>
      <p:sp>
        <p:nvSpPr>
          <p:cNvPr id="20" name="TextBox 19"/>
          <p:cNvSpPr txBox="1"/>
          <p:nvPr/>
        </p:nvSpPr>
        <p:spPr>
          <a:xfrm>
            <a:off x="548640" y="6400800"/>
            <a:ext cx="7315200" cy="274320"/>
          </a:xfrm>
          <a:prstGeom prst="rect">
            <a:avLst/>
          </a:prstGeom>
          <a:noFill/>
        </p:spPr>
        <p:txBody>
          <a:bodyPr wrap="square" anchor="t" lIns="0" rIns="0" tIns="0" bIns="0">
            <a:spAutoFit/>
          </a:bodyPr>
          <a:lstStyle/>
          <a:p>
            <a:pPr algn="l">
              <a:lnSpc>
                <a:spcPct val="100000"/>
              </a:lnSpc>
            </a:pPr>
            <a:r>
              <a:rPr sz="900" b="0" i="0">
                <a:solidFill>
                  <a:srgbClr val="A7C3B8"/>
                </a:solidFill>
                <a:latin typeface="Helvetica Neue"/>
              </a:rPr>
              <a:t>Adrien Enjalbert  ·  AI Systems, Personalization &amp; Growth</a:t>
            </a:r>
          </a:p>
        </p:txBody>
      </p:sp>
      <p:sp>
        <p:nvSpPr>
          <p:cNvPr id="21" name="TextBox 20"/>
          <p:cNvSpPr txBox="1"/>
          <p:nvPr/>
        </p:nvSpPr>
        <p:spPr>
          <a:xfrm>
            <a:off x="10911535" y="6400800"/>
            <a:ext cx="731520" cy="274320"/>
          </a:xfrm>
          <a:prstGeom prst="rect">
            <a:avLst/>
          </a:prstGeom>
          <a:noFill/>
        </p:spPr>
        <p:txBody>
          <a:bodyPr wrap="square" anchor="t" lIns="0" rIns="0" tIns="0" bIns="0">
            <a:spAutoFit/>
          </a:bodyPr>
          <a:lstStyle/>
          <a:p>
            <a:pPr algn="r">
              <a:lnSpc>
                <a:spcPct val="100000"/>
              </a:lnSpc>
            </a:pPr>
            <a:r>
              <a:rPr sz="900" b="1" i="0">
                <a:solidFill>
                  <a:srgbClr val="A7C3B8"/>
                </a:solidFill>
                <a:latin typeface="Avenir Next"/>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566928"/>
            <a:ext cx="749808" cy="420624"/>
          </a:xfrm>
          <a:prstGeom prst="roundRect">
            <a:avLst>
              <a:gd name="adj" fmla="val 50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548640"/>
            <a:ext cx="749808" cy="420624"/>
          </a:xfrm>
          <a:prstGeom prst="rect">
            <a:avLst/>
          </a:prstGeom>
          <a:noFill/>
        </p:spPr>
        <p:txBody>
          <a:bodyPr wrap="square" anchor="ctr" lIns="0" rIns="0" tIns="0" bIns="0">
            <a:spAutoFit/>
          </a:bodyPr>
          <a:lstStyle/>
          <a:p>
            <a:pPr algn="ctr">
              <a:lnSpc>
                <a:spcPct val="100000"/>
              </a:lnSpc>
            </a:pPr>
            <a:r>
              <a:rPr sz="1400" b="1" i="0">
                <a:solidFill>
                  <a:srgbClr val="0A1512"/>
                </a:solidFill>
                <a:latin typeface="Avenir Next"/>
              </a:rPr>
              <a:t>2.1</a:t>
            </a:r>
          </a:p>
        </p:txBody>
      </p:sp>
      <p:sp>
        <p:nvSpPr>
          <p:cNvPr id="5" name="TextBox 4"/>
          <p:cNvSpPr txBox="1"/>
          <p:nvPr/>
        </p:nvSpPr>
        <p:spPr>
          <a:xfrm>
            <a:off x="1728216" y="548640"/>
            <a:ext cx="10058400" cy="457200"/>
          </a:xfrm>
          <a:prstGeom prst="rect">
            <a:avLst/>
          </a:prstGeom>
          <a:noFill/>
        </p:spPr>
        <p:txBody>
          <a:bodyPr wrap="square" anchor="ctr" lIns="0" rIns="0" tIns="0" bIns="0">
            <a:spAutoFit/>
          </a:bodyPr>
          <a:lstStyle/>
          <a:p>
            <a:pPr algn="l">
              <a:lnSpc>
                <a:spcPct val="100000"/>
              </a:lnSpc>
            </a:pPr>
            <a:r>
              <a:rPr sz="900" b="1" i="0">
                <a:solidFill>
                  <a:srgbClr val="A7C3B8"/>
                </a:solidFill>
                <a:latin typeface="Avenir Next"/>
              </a:rPr>
              <a:t>ANSWERING  </a:t>
            </a:r>
            <a:r>
              <a:rPr sz="1250" b="1" i="0">
                <a:solidFill>
                  <a:srgbClr val="FFFFFF"/>
                </a:solidFill>
                <a:latin typeface="Avenir Next"/>
              </a:rPr>
              <a:t>Design the end-to-end AI workflow.</a:t>
            </a:r>
          </a:p>
        </p:txBody>
      </p:sp>
      <p:sp>
        <p:nvSpPr>
          <p:cNvPr id="6" name="TextBox 5"/>
          <p:cNvSpPr txBox="1"/>
          <p:nvPr/>
        </p:nvSpPr>
        <p:spPr>
          <a:xfrm>
            <a:off x="731520" y="1207008"/>
            <a:ext cx="10881360" cy="914400"/>
          </a:xfrm>
          <a:prstGeom prst="rect">
            <a:avLst/>
          </a:prstGeom>
          <a:noFill/>
        </p:spPr>
        <p:txBody>
          <a:bodyPr wrap="square" anchor="t" lIns="0" rIns="0" tIns="0" bIns="0">
            <a:spAutoFit/>
          </a:bodyPr>
          <a:lstStyle/>
          <a:p>
            <a:pPr algn="l">
              <a:lnSpc>
                <a:spcPct val="100000"/>
              </a:lnSpc>
            </a:pPr>
            <a:r>
              <a:rPr sz="2800" b="1" i="0">
                <a:solidFill>
                  <a:srgbClr val="FFFFFF"/>
                </a:solidFill>
                <a:latin typeface="Avenir Next"/>
              </a:rPr>
              <a:t>One operating system, built on CRISP-DM.</a:t>
            </a:r>
          </a:p>
        </p:txBody>
      </p:sp>
      <p:sp>
        <p:nvSpPr>
          <p:cNvPr id="7" name="TextBox 6"/>
          <p:cNvSpPr txBox="1"/>
          <p:nvPr/>
        </p:nvSpPr>
        <p:spPr>
          <a:xfrm>
            <a:off x="777240" y="2121408"/>
            <a:ext cx="10515600" cy="685800"/>
          </a:xfrm>
          <a:prstGeom prst="rect">
            <a:avLst/>
          </a:prstGeom>
          <a:noFill/>
        </p:spPr>
        <p:txBody>
          <a:bodyPr wrap="square" anchor="t" lIns="0" rIns="0" tIns="0" bIns="0">
            <a:spAutoFit/>
          </a:bodyPr>
          <a:lstStyle/>
          <a:p>
            <a:pPr algn="l">
              <a:lnSpc>
                <a:spcPct val="108000"/>
              </a:lnSpc>
            </a:pPr>
            <a:r>
              <a:rPr sz="1300" b="1" i="0">
                <a:solidFill>
                  <a:srgbClr val="FFFFFF"/>
                </a:solidFill>
                <a:latin typeface="Helvetica Neue"/>
              </a:rPr>
              <a:t>The framework I used to ship a multi-agent system at Indeed Flex. </a:t>
            </a:r>
            <a:r>
              <a:rPr sz="1300" b="0" i="0">
                <a:solidFill>
                  <a:srgbClr val="A7C3B8"/>
                </a:solidFill>
                <a:latin typeface="Helvetica Neue"/>
              </a:rPr>
              <a:t>Business and data understanding come </a:t>
            </a:r>
            <a:r>
              <a:rPr sz="1300" b="1" i="0">
                <a:solidFill>
                  <a:srgbClr val="34E0A1"/>
                </a:solidFill>
                <a:latin typeface="Helvetica Neue"/>
              </a:rPr>
              <a:t>before</a:t>
            </a:r>
            <a:r>
              <a:rPr sz="1300" b="0" i="0">
                <a:solidFill>
                  <a:srgbClr val="A7C3B8"/>
                </a:solidFill>
                <a:latin typeface="Helvetica Neue"/>
              </a:rPr>
              <a:t> modelling, which is exactly what the ~95% of failed enterprise AI projects skip. The loop is what turns one experiment into a system.</a:t>
            </a:r>
          </a:p>
        </p:txBody>
      </p:sp>
      <p:sp>
        <p:nvSpPr>
          <p:cNvPr id="8" name="Chevron 7"/>
          <p:cNvSpPr/>
          <p:nvPr/>
        </p:nvSpPr>
        <p:spPr>
          <a:xfrm>
            <a:off x="621792" y="3063240"/>
            <a:ext cx="1755648" cy="1554480"/>
          </a:xfrm>
          <a:prstGeom prst="chevron">
            <a:avLst>
              <a:gd name="adj" fmla="val 18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3191256"/>
            <a:ext cx="548640" cy="320040"/>
          </a:xfrm>
          <a:prstGeom prst="rect">
            <a:avLst/>
          </a:prstGeom>
          <a:noFill/>
        </p:spPr>
        <p:txBody>
          <a:bodyPr wrap="square" anchor="t" lIns="0" rIns="0" tIns="0" bIns="0">
            <a:spAutoFit/>
          </a:bodyPr>
          <a:lstStyle/>
          <a:p>
            <a:pPr algn="l">
              <a:lnSpc>
                <a:spcPct val="100000"/>
              </a:lnSpc>
            </a:pPr>
            <a:r>
              <a:rPr sz="1300" b="1" i="0">
                <a:solidFill>
                  <a:srgbClr val="0A1512"/>
                </a:solidFill>
                <a:latin typeface="Avenir Next"/>
              </a:rPr>
              <a:t>1</a:t>
            </a:r>
          </a:p>
        </p:txBody>
      </p:sp>
      <p:sp>
        <p:nvSpPr>
          <p:cNvPr id="10" name="TextBox 9"/>
          <p:cNvSpPr txBox="1"/>
          <p:nvPr/>
        </p:nvSpPr>
        <p:spPr>
          <a:xfrm>
            <a:off x="987552" y="3465576"/>
            <a:ext cx="1152143" cy="502920"/>
          </a:xfrm>
          <a:prstGeom prst="rect">
            <a:avLst/>
          </a:prstGeom>
          <a:noFill/>
        </p:spPr>
        <p:txBody>
          <a:bodyPr wrap="square" anchor="t" lIns="0" rIns="0" tIns="0" bIns="0">
            <a:spAutoFit/>
          </a:bodyPr>
          <a:lstStyle/>
          <a:p>
            <a:pPr algn="l">
              <a:lnSpc>
                <a:spcPct val="90000"/>
              </a:lnSpc>
            </a:pPr>
            <a:r>
              <a:rPr sz="1050" b="1" i="0">
                <a:solidFill>
                  <a:srgbClr val="0A1512"/>
                </a:solidFill>
                <a:latin typeface="Avenir Next"/>
              </a:rPr>
              <a:t>Business
understanding</a:t>
            </a:r>
          </a:p>
        </p:txBody>
      </p:sp>
      <p:sp>
        <p:nvSpPr>
          <p:cNvPr id="11" name="TextBox 10"/>
          <p:cNvSpPr txBox="1"/>
          <p:nvPr/>
        </p:nvSpPr>
        <p:spPr>
          <a:xfrm>
            <a:off x="987552" y="3995928"/>
            <a:ext cx="1097280" cy="566928"/>
          </a:xfrm>
          <a:prstGeom prst="rect">
            <a:avLst/>
          </a:prstGeom>
          <a:noFill/>
        </p:spPr>
        <p:txBody>
          <a:bodyPr wrap="square" anchor="t" lIns="0" rIns="0" tIns="0" bIns="0">
            <a:spAutoFit/>
          </a:bodyPr>
          <a:lstStyle/>
          <a:p>
            <a:pPr algn="l">
              <a:lnSpc>
                <a:spcPct val="96000"/>
              </a:lnSpc>
            </a:pPr>
            <a:r>
              <a:rPr sz="800" b="0" i="0">
                <a:solidFill>
                  <a:srgbClr val="0E1F18"/>
                </a:solidFill>
                <a:latin typeface="Helvetica Neue"/>
              </a:rPr>
              <a:t>The “is it worth it?” gate. Define the decision &amp; metric. Sometimes the answer is a simple rule, not a model.</a:t>
            </a:r>
          </a:p>
        </p:txBody>
      </p:sp>
      <p:sp>
        <p:nvSpPr>
          <p:cNvPr id="12" name="Chevron 11"/>
          <p:cNvSpPr/>
          <p:nvPr/>
        </p:nvSpPr>
        <p:spPr>
          <a:xfrm>
            <a:off x="2505456" y="3063240"/>
            <a:ext cx="1755648" cy="1554480"/>
          </a:xfrm>
          <a:prstGeom prst="chevron">
            <a:avLst>
              <a:gd name="adj" fmla="val 18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71216" y="3191256"/>
            <a:ext cx="548640" cy="320040"/>
          </a:xfrm>
          <a:prstGeom prst="rect">
            <a:avLst/>
          </a:prstGeom>
          <a:noFill/>
        </p:spPr>
        <p:txBody>
          <a:bodyPr wrap="square" anchor="t" lIns="0" rIns="0" tIns="0" bIns="0">
            <a:spAutoFit/>
          </a:bodyPr>
          <a:lstStyle/>
          <a:p>
            <a:pPr algn="l">
              <a:lnSpc>
                <a:spcPct val="100000"/>
              </a:lnSpc>
            </a:pPr>
            <a:r>
              <a:rPr sz="1300" b="1" i="0">
                <a:solidFill>
                  <a:srgbClr val="0A1512"/>
                </a:solidFill>
                <a:latin typeface="Avenir Next"/>
              </a:rPr>
              <a:t>2</a:t>
            </a:r>
          </a:p>
        </p:txBody>
      </p:sp>
      <p:sp>
        <p:nvSpPr>
          <p:cNvPr id="14" name="TextBox 13"/>
          <p:cNvSpPr txBox="1"/>
          <p:nvPr/>
        </p:nvSpPr>
        <p:spPr>
          <a:xfrm>
            <a:off x="2871216" y="3465576"/>
            <a:ext cx="1152143" cy="502920"/>
          </a:xfrm>
          <a:prstGeom prst="rect">
            <a:avLst/>
          </a:prstGeom>
          <a:noFill/>
        </p:spPr>
        <p:txBody>
          <a:bodyPr wrap="square" anchor="t" lIns="0" rIns="0" tIns="0" bIns="0">
            <a:spAutoFit/>
          </a:bodyPr>
          <a:lstStyle/>
          <a:p>
            <a:pPr algn="l">
              <a:lnSpc>
                <a:spcPct val="90000"/>
              </a:lnSpc>
            </a:pPr>
            <a:r>
              <a:rPr sz="1050" b="1" i="0">
                <a:solidFill>
                  <a:srgbClr val="0A1512"/>
                </a:solidFill>
                <a:latin typeface="Avenir Next"/>
              </a:rPr>
              <a:t>Data
understanding</a:t>
            </a:r>
          </a:p>
        </p:txBody>
      </p:sp>
      <p:sp>
        <p:nvSpPr>
          <p:cNvPr id="15" name="TextBox 14"/>
          <p:cNvSpPr txBox="1"/>
          <p:nvPr/>
        </p:nvSpPr>
        <p:spPr>
          <a:xfrm>
            <a:off x="2871216" y="3995928"/>
            <a:ext cx="1097280" cy="566928"/>
          </a:xfrm>
          <a:prstGeom prst="rect">
            <a:avLst/>
          </a:prstGeom>
          <a:noFill/>
        </p:spPr>
        <p:txBody>
          <a:bodyPr wrap="square" anchor="t" lIns="0" rIns="0" tIns="0" bIns="0">
            <a:spAutoFit/>
          </a:bodyPr>
          <a:lstStyle/>
          <a:p>
            <a:pPr algn="l">
              <a:lnSpc>
                <a:spcPct val="96000"/>
              </a:lnSpc>
            </a:pPr>
            <a:r>
              <a:rPr sz="800" b="0" i="0">
                <a:solidFill>
                  <a:srgbClr val="0E1F18"/>
                </a:solidFill>
                <a:latin typeface="Helvetica Neue"/>
              </a:rPr>
              <a:t>Trust the data first. The France/Italy lesson: no automation on data you can't trust.</a:t>
            </a:r>
          </a:p>
        </p:txBody>
      </p:sp>
      <p:sp>
        <p:nvSpPr>
          <p:cNvPr id="16" name="Chevron 15"/>
          <p:cNvSpPr/>
          <p:nvPr/>
        </p:nvSpPr>
        <p:spPr>
          <a:xfrm>
            <a:off x="4389120" y="3063240"/>
            <a:ext cx="1755648" cy="1554480"/>
          </a:xfrm>
          <a:prstGeom prst="chevron">
            <a:avLst>
              <a:gd name="adj" fmla="val 18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0" y="3191256"/>
            <a:ext cx="548640" cy="320040"/>
          </a:xfrm>
          <a:prstGeom prst="rect">
            <a:avLst/>
          </a:prstGeom>
          <a:noFill/>
        </p:spPr>
        <p:txBody>
          <a:bodyPr wrap="square" anchor="t" lIns="0" rIns="0" tIns="0" bIns="0">
            <a:spAutoFit/>
          </a:bodyPr>
          <a:lstStyle/>
          <a:p>
            <a:pPr algn="l">
              <a:lnSpc>
                <a:spcPct val="100000"/>
              </a:lnSpc>
            </a:pPr>
            <a:r>
              <a:rPr sz="1300" b="1" i="0">
                <a:solidFill>
                  <a:srgbClr val="34E0A1"/>
                </a:solidFill>
                <a:latin typeface="Avenir Next"/>
              </a:rPr>
              <a:t>3</a:t>
            </a:r>
          </a:p>
        </p:txBody>
      </p:sp>
      <p:sp>
        <p:nvSpPr>
          <p:cNvPr id="18" name="TextBox 17"/>
          <p:cNvSpPr txBox="1"/>
          <p:nvPr/>
        </p:nvSpPr>
        <p:spPr>
          <a:xfrm>
            <a:off x="4754880" y="3465576"/>
            <a:ext cx="1152143" cy="502920"/>
          </a:xfrm>
          <a:prstGeom prst="rect">
            <a:avLst/>
          </a:prstGeom>
          <a:noFill/>
        </p:spPr>
        <p:txBody>
          <a:bodyPr wrap="square" anchor="t" lIns="0" rIns="0" tIns="0" bIns="0">
            <a:spAutoFit/>
          </a:bodyPr>
          <a:lstStyle/>
          <a:p>
            <a:pPr algn="l">
              <a:lnSpc>
                <a:spcPct val="90000"/>
              </a:lnSpc>
            </a:pPr>
            <a:r>
              <a:rPr sz="1050" b="1" i="0">
                <a:solidFill>
                  <a:srgbClr val="FFFFFF"/>
                </a:solidFill>
                <a:latin typeface="Avenir Next"/>
              </a:rPr>
              <a:t>Data
preparation</a:t>
            </a:r>
          </a:p>
        </p:txBody>
      </p:sp>
      <p:sp>
        <p:nvSpPr>
          <p:cNvPr id="19" name="TextBox 18"/>
          <p:cNvSpPr txBox="1"/>
          <p:nvPr/>
        </p:nvSpPr>
        <p:spPr>
          <a:xfrm>
            <a:off x="4754880" y="3995928"/>
            <a:ext cx="1097280" cy="566928"/>
          </a:xfrm>
          <a:prstGeom prst="rect">
            <a:avLst/>
          </a:prstGeom>
          <a:noFill/>
        </p:spPr>
        <p:txBody>
          <a:bodyPr wrap="square" anchor="t" lIns="0" rIns="0" tIns="0" bIns="0">
            <a:spAutoFit/>
          </a:bodyPr>
          <a:lstStyle/>
          <a:p>
            <a:pPr algn="l">
              <a:lnSpc>
                <a:spcPct val="96000"/>
              </a:lnSpc>
            </a:pPr>
            <a:r>
              <a:rPr sz="800" b="0" i="0">
                <a:solidFill>
                  <a:srgbClr val="A7C3B8"/>
                </a:solidFill>
                <a:latin typeface="Helvetica Neue"/>
              </a:rPr>
              <a:t>ETL, clean, validated holdouts. The unglamorous 60–70%.</a:t>
            </a:r>
          </a:p>
        </p:txBody>
      </p:sp>
      <p:sp>
        <p:nvSpPr>
          <p:cNvPr id="20" name="Chevron 19"/>
          <p:cNvSpPr/>
          <p:nvPr/>
        </p:nvSpPr>
        <p:spPr>
          <a:xfrm>
            <a:off x="6272783" y="3063240"/>
            <a:ext cx="1755648" cy="1554480"/>
          </a:xfrm>
          <a:prstGeom prst="chevron">
            <a:avLst>
              <a:gd name="adj" fmla="val 18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38544" y="3191256"/>
            <a:ext cx="548640" cy="320040"/>
          </a:xfrm>
          <a:prstGeom prst="rect">
            <a:avLst/>
          </a:prstGeom>
          <a:noFill/>
        </p:spPr>
        <p:txBody>
          <a:bodyPr wrap="square" anchor="t" lIns="0" rIns="0" tIns="0" bIns="0">
            <a:spAutoFit/>
          </a:bodyPr>
          <a:lstStyle/>
          <a:p>
            <a:pPr algn="l">
              <a:lnSpc>
                <a:spcPct val="100000"/>
              </a:lnSpc>
            </a:pPr>
            <a:r>
              <a:rPr sz="1300" b="1" i="0">
                <a:solidFill>
                  <a:srgbClr val="34E0A1"/>
                </a:solidFill>
                <a:latin typeface="Avenir Next"/>
              </a:rPr>
              <a:t>4</a:t>
            </a:r>
          </a:p>
        </p:txBody>
      </p:sp>
      <p:sp>
        <p:nvSpPr>
          <p:cNvPr id="22" name="TextBox 21"/>
          <p:cNvSpPr txBox="1"/>
          <p:nvPr/>
        </p:nvSpPr>
        <p:spPr>
          <a:xfrm>
            <a:off x="6638544" y="3465576"/>
            <a:ext cx="1152143" cy="502920"/>
          </a:xfrm>
          <a:prstGeom prst="rect">
            <a:avLst/>
          </a:prstGeom>
          <a:noFill/>
        </p:spPr>
        <p:txBody>
          <a:bodyPr wrap="square" anchor="t" lIns="0" rIns="0" tIns="0" bIns="0">
            <a:spAutoFit/>
          </a:bodyPr>
          <a:lstStyle/>
          <a:p>
            <a:pPr algn="l">
              <a:lnSpc>
                <a:spcPct val="90000"/>
              </a:lnSpc>
            </a:pPr>
            <a:r>
              <a:rPr sz="1050" b="1" i="0">
                <a:solidFill>
                  <a:srgbClr val="FFFFFF"/>
                </a:solidFill>
                <a:latin typeface="Avenir Next"/>
              </a:rPr>
              <a:t>Modelling</a:t>
            </a:r>
          </a:p>
        </p:txBody>
      </p:sp>
      <p:sp>
        <p:nvSpPr>
          <p:cNvPr id="23" name="TextBox 22"/>
          <p:cNvSpPr txBox="1"/>
          <p:nvPr/>
        </p:nvSpPr>
        <p:spPr>
          <a:xfrm>
            <a:off x="6638544" y="3995928"/>
            <a:ext cx="1097280" cy="566928"/>
          </a:xfrm>
          <a:prstGeom prst="rect">
            <a:avLst/>
          </a:prstGeom>
          <a:noFill/>
        </p:spPr>
        <p:txBody>
          <a:bodyPr wrap="square" anchor="t" lIns="0" rIns="0" tIns="0" bIns="0">
            <a:spAutoFit/>
          </a:bodyPr>
          <a:lstStyle/>
          <a:p>
            <a:pPr algn="l">
              <a:lnSpc>
                <a:spcPct val="96000"/>
              </a:lnSpc>
            </a:pPr>
            <a:r>
              <a:rPr sz="800" b="0" i="0">
                <a:solidFill>
                  <a:srgbClr val="A7C3B8"/>
                </a:solidFill>
                <a:latin typeface="Helvetica Neue"/>
              </a:rPr>
              <a:t>Draft the experiment / offer. Simplest model that works, not the fanciest.</a:t>
            </a:r>
          </a:p>
        </p:txBody>
      </p:sp>
      <p:sp>
        <p:nvSpPr>
          <p:cNvPr id="24" name="Chevron 23"/>
          <p:cNvSpPr/>
          <p:nvPr/>
        </p:nvSpPr>
        <p:spPr>
          <a:xfrm>
            <a:off x="8156448" y="3063240"/>
            <a:ext cx="1755648" cy="1554480"/>
          </a:xfrm>
          <a:prstGeom prst="chevron">
            <a:avLst>
              <a:gd name="adj" fmla="val 18000"/>
            </a:avLst>
          </a:prstGeom>
          <a:solidFill>
            <a:srgbClr val="F2B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22208" y="3191256"/>
            <a:ext cx="548640" cy="320040"/>
          </a:xfrm>
          <a:prstGeom prst="rect">
            <a:avLst/>
          </a:prstGeom>
          <a:noFill/>
        </p:spPr>
        <p:txBody>
          <a:bodyPr wrap="square" anchor="t" lIns="0" rIns="0" tIns="0" bIns="0">
            <a:spAutoFit/>
          </a:bodyPr>
          <a:lstStyle/>
          <a:p>
            <a:pPr algn="l">
              <a:lnSpc>
                <a:spcPct val="100000"/>
              </a:lnSpc>
            </a:pPr>
            <a:r>
              <a:rPr sz="1300" b="1" i="0">
                <a:solidFill>
                  <a:srgbClr val="0A1512"/>
                </a:solidFill>
                <a:latin typeface="Avenir Next"/>
              </a:rPr>
              <a:t>✓</a:t>
            </a:r>
          </a:p>
        </p:txBody>
      </p:sp>
      <p:sp>
        <p:nvSpPr>
          <p:cNvPr id="26" name="TextBox 25"/>
          <p:cNvSpPr txBox="1"/>
          <p:nvPr/>
        </p:nvSpPr>
        <p:spPr>
          <a:xfrm>
            <a:off x="8522208" y="3465576"/>
            <a:ext cx="1152143" cy="502920"/>
          </a:xfrm>
          <a:prstGeom prst="rect">
            <a:avLst/>
          </a:prstGeom>
          <a:noFill/>
        </p:spPr>
        <p:txBody>
          <a:bodyPr wrap="square" anchor="t" lIns="0" rIns="0" tIns="0" bIns="0">
            <a:spAutoFit/>
          </a:bodyPr>
          <a:lstStyle/>
          <a:p>
            <a:pPr algn="l">
              <a:lnSpc>
                <a:spcPct val="90000"/>
              </a:lnSpc>
            </a:pPr>
            <a:r>
              <a:rPr sz="1050" b="1" i="0">
                <a:solidFill>
                  <a:srgbClr val="0A1512"/>
                </a:solidFill>
                <a:latin typeface="Avenir Next"/>
              </a:rPr>
              <a:t>Evaluation</a:t>
            </a:r>
          </a:p>
        </p:txBody>
      </p:sp>
      <p:sp>
        <p:nvSpPr>
          <p:cNvPr id="27" name="TextBox 26"/>
          <p:cNvSpPr txBox="1"/>
          <p:nvPr/>
        </p:nvSpPr>
        <p:spPr>
          <a:xfrm>
            <a:off x="8522208" y="3995928"/>
            <a:ext cx="1097280" cy="566928"/>
          </a:xfrm>
          <a:prstGeom prst="rect">
            <a:avLst/>
          </a:prstGeom>
          <a:noFill/>
        </p:spPr>
        <p:txBody>
          <a:bodyPr wrap="square" anchor="t" lIns="0" rIns="0" tIns="0" bIns="0">
            <a:spAutoFit/>
          </a:bodyPr>
          <a:lstStyle/>
          <a:p>
            <a:pPr algn="l">
              <a:lnSpc>
                <a:spcPct val="96000"/>
              </a:lnSpc>
            </a:pPr>
            <a:r>
              <a:rPr sz="800" b="0" i="0">
                <a:solidFill>
                  <a:srgbClr val="0E1F18"/>
                </a:solidFill>
                <a:latin typeface="Helvetica Neue"/>
              </a:rPr>
              <a:t>Holdout, incrementality, significance + human sign-off before launch.</a:t>
            </a:r>
          </a:p>
        </p:txBody>
      </p:sp>
      <p:sp>
        <p:nvSpPr>
          <p:cNvPr id="28" name="Chevron 27"/>
          <p:cNvSpPr/>
          <p:nvPr/>
        </p:nvSpPr>
        <p:spPr>
          <a:xfrm>
            <a:off x="10040112" y="3063240"/>
            <a:ext cx="1755648" cy="1554480"/>
          </a:xfrm>
          <a:prstGeom prst="chevron">
            <a:avLst>
              <a:gd name="adj" fmla="val 18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405872" y="3191256"/>
            <a:ext cx="548640" cy="320040"/>
          </a:xfrm>
          <a:prstGeom prst="rect">
            <a:avLst/>
          </a:prstGeom>
          <a:noFill/>
        </p:spPr>
        <p:txBody>
          <a:bodyPr wrap="square" anchor="t" lIns="0" rIns="0" tIns="0" bIns="0">
            <a:spAutoFit/>
          </a:bodyPr>
          <a:lstStyle/>
          <a:p>
            <a:pPr algn="l">
              <a:lnSpc>
                <a:spcPct val="100000"/>
              </a:lnSpc>
            </a:pPr>
            <a:r>
              <a:rPr sz="1300" b="1" i="0">
                <a:solidFill>
                  <a:srgbClr val="34E0A1"/>
                </a:solidFill>
                <a:latin typeface="Avenir Next"/>
              </a:rPr>
              <a:t>5</a:t>
            </a:r>
          </a:p>
        </p:txBody>
      </p:sp>
      <p:sp>
        <p:nvSpPr>
          <p:cNvPr id="30" name="TextBox 29"/>
          <p:cNvSpPr txBox="1"/>
          <p:nvPr/>
        </p:nvSpPr>
        <p:spPr>
          <a:xfrm>
            <a:off x="10405872" y="3465576"/>
            <a:ext cx="1152143" cy="502920"/>
          </a:xfrm>
          <a:prstGeom prst="rect">
            <a:avLst/>
          </a:prstGeom>
          <a:noFill/>
        </p:spPr>
        <p:txBody>
          <a:bodyPr wrap="square" anchor="t" lIns="0" rIns="0" tIns="0" bIns="0">
            <a:spAutoFit/>
          </a:bodyPr>
          <a:lstStyle/>
          <a:p>
            <a:pPr algn="l">
              <a:lnSpc>
                <a:spcPct val="90000"/>
              </a:lnSpc>
            </a:pPr>
            <a:r>
              <a:rPr sz="1050" b="1" i="0">
                <a:solidFill>
                  <a:srgbClr val="FFFFFF"/>
                </a:solidFill>
                <a:latin typeface="Avenir Next"/>
              </a:rPr>
              <a:t>Deployment</a:t>
            </a:r>
          </a:p>
        </p:txBody>
      </p:sp>
      <p:sp>
        <p:nvSpPr>
          <p:cNvPr id="31" name="TextBox 30"/>
          <p:cNvSpPr txBox="1"/>
          <p:nvPr/>
        </p:nvSpPr>
        <p:spPr>
          <a:xfrm>
            <a:off x="10405872" y="3995928"/>
            <a:ext cx="1097280" cy="566928"/>
          </a:xfrm>
          <a:prstGeom prst="rect">
            <a:avLst/>
          </a:prstGeom>
          <a:noFill/>
        </p:spPr>
        <p:txBody>
          <a:bodyPr wrap="square" anchor="t" lIns="0" rIns="0" tIns="0" bIns="0">
            <a:spAutoFit/>
          </a:bodyPr>
          <a:lstStyle/>
          <a:p>
            <a:pPr algn="l">
              <a:lnSpc>
                <a:spcPct val="96000"/>
              </a:lnSpc>
            </a:pPr>
            <a:r>
              <a:rPr sz="800" b="0" i="0">
                <a:solidFill>
                  <a:srgbClr val="A7C3B8"/>
                </a:solidFill>
                <a:latin typeface="Helvetica Neue"/>
              </a:rPr>
              <a:t>Launch, monitor, write the learning brief.</a:t>
            </a:r>
          </a:p>
        </p:txBody>
      </p:sp>
      <p:sp>
        <p:nvSpPr>
          <p:cNvPr id="32" name="Rounded Rectangle 31"/>
          <p:cNvSpPr/>
          <p:nvPr/>
        </p:nvSpPr>
        <p:spPr>
          <a:xfrm>
            <a:off x="621792" y="4892040"/>
            <a:ext cx="10945368" cy="868680"/>
          </a:xfrm>
          <a:prstGeom prst="roundRect">
            <a:avLst>
              <a:gd name="adj" fmla="val 6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4992624"/>
            <a:ext cx="10424160" cy="685800"/>
          </a:xfrm>
          <a:prstGeom prst="rect">
            <a:avLst/>
          </a:prstGeom>
          <a:noFill/>
        </p:spPr>
        <p:txBody>
          <a:bodyPr wrap="square" anchor="ctr" lIns="0" rIns="0" tIns="0" bIns="0">
            <a:spAutoFit/>
          </a:bodyPr>
          <a:lstStyle/>
          <a:p>
            <a:pPr algn="l">
              <a:lnSpc>
                <a:spcPct val="104000"/>
              </a:lnSpc>
            </a:pPr>
            <a:r>
              <a:rPr sz="1200" b="1" i="0">
                <a:solidFill>
                  <a:srgbClr val="34E0A1"/>
                </a:solidFill>
                <a:latin typeface="Helvetica Neue"/>
              </a:rPr>
              <a:t>↻  It's a loop, not a line.  </a:t>
            </a:r>
            <a:r>
              <a:rPr sz="1200" b="0" i="0">
                <a:solidFill>
                  <a:srgbClr val="A7C3B8"/>
                </a:solidFill>
                <a:latin typeface="Helvetica Neue"/>
              </a:rPr>
              <a:t>Deployment feeds the next Business-understanding step, so every experiment makes the system sharper. AI drafts and recalls; humans own the judgement; async gates replace the review meetings (most of the 60%).</a:t>
            </a:r>
          </a:p>
        </p:txBody>
      </p:sp>
      <p:sp>
        <p:nvSpPr>
          <p:cNvPr id="34" name="TextBox 33"/>
          <p:cNvSpPr txBox="1"/>
          <p:nvPr/>
        </p:nvSpPr>
        <p:spPr>
          <a:xfrm>
            <a:off x="640080" y="5907024"/>
            <a:ext cx="10972800" cy="320040"/>
          </a:xfrm>
          <a:prstGeom prst="rect">
            <a:avLst/>
          </a:prstGeom>
          <a:noFill/>
        </p:spPr>
        <p:txBody>
          <a:bodyPr wrap="square" anchor="t" lIns="0" rIns="0" tIns="0" bIns="0">
            <a:spAutoFit/>
          </a:bodyPr>
          <a:lstStyle/>
          <a:p>
            <a:pPr algn="l">
              <a:lnSpc>
                <a:spcPct val="100000"/>
              </a:lnSpc>
            </a:pPr>
            <a:r>
              <a:rPr sz="950" b="1" i="0">
                <a:solidFill>
                  <a:srgbClr val="FFFFFF"/>
                </a:solidFill>
                <a:latin typeface="Helvetica Neue"/>
              </a:rPr>
              <a:t>Covers all six:  </a:t>
            </a:r>
            <a:r>
              <a:rPr sz="950" b="0" i="0">
                <a:solidFill>
                  <a:srgbClr val="A7C3B8"/>
                </a:solidFill>
                <a:latin typeface="Helvetica Neue"/>
              </a:rPr>
              <a:t>Inputs (hypothesis) · Data sources (warehouse + evidence base) · AI capabilities (recall, draft, QA, summarise) · Human review (Evaluation gate) · Outputs (spec, dashboard, brief) · Feedback loop</a:t>
            </a:r>
          </a:p>
        </p:txBody>
      </p:sp>
      <p:sp>
        <p:nvSpPr>
          <p:cNvPr id="35" name="TextBox 34"/>
          <p:cNvSpPr txBox="1"/>
          <p:nvPr/>
        </p:nvSpPr>
        <p:spPr>
          <a:xfrm>
            <a:off x="548640" y="6400800"/>
            <a:ext cx="7315200" cy="274320"/>
          </a:xfrm>
          <a:prstGeom prst="rect">
            <a:avLst/>
          </a:prstGeom>
          <a:noFill/>
        </p:spPr>
        <p:txBody>
          <a:bodyPr wrap="square" anchor="t" lIns="0" rIns="0" tIns="0" bIns="0">
            <a:spAutoFit/>
          </a:bodyPr>
          <a:lstStyle/>
          <a:p>
            <a:pPr algn="l">
              <a:lnSpc>
                <a:spcPct val="100000"/>
              </a:lnSpc>
            </a:pPr>
            <a:r>
              <a:rPr sz="900" b="0" i="0">
                <a:solidFill>
                  <a:srgbClr val="A7C3B8"/>
                </a:solidFill>
                <a:latin typeface="Helvetica Neue"/>
              </a:rPr>
              <a:t>Adrien Enjalbert  ·  AI Systems, Personalization &amp; Growth</a:t>
            </a:r>
          </a:p>
        </p:txBody>
      </p:sp>
      <p:sp>
        <p:nvSpPr>
          <p:cNvPr id="36" name="TextBox 35"/>
          <p:cNvSpPr txBox="1"/>
          <p:nvPr/>
        </p:nvSpPr>
        <p:spPr>
          <a:xfrm>
            <a:off x="10911535" y="6400800"/>
            <a:ext cx="731520" cy="274320"/>
          </a:xfrm>
          <a:prstGeom prst="rect">
            <a:avLst/>
          </a:prstGeom>
          <a:noFill/>
        </p:spPr>
        <p:txBody>
          <a:bodyPr wrap="square" anchor="t" lIns="0" rIns="0" tIns="0" bIns="0">
            <a:spAutoFit/>
          </a:bodyPr>
          <a:lstStyle/>
          <a:p>
            <a:pPr algn="r">
              <a:lnSpc>
                <a:spcPct val="100000"/>
              </a:lnSpc>
            </a:pPr>
            <a:r>
              <a:rPr sz="900" b="1" i="0">
                <a:solidFill>
                  <a:srgbClr val="A7C3B8"/>
                </a:solidFill>
                <a:latin typeface="Avenir Nex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566928"/>
            <a:ext cx="749808" cy="420624"/>
          </a:xfrm>
          <a:prstGeom prst="roundRect">
            <a:avLst>
              <a:gd name="adj" fmla="val 50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548640"/>
            <a:ext cx="749808" cy="420624"/>
          </a:xfrm>
          <a:prstGeom prst="rect">
            <a:avLst/>
          </a:prstGeom>
          <a:noFill/>
        </p:spPr>
        <p:txBody>
          <a:bodyPr wrap="square" anchor="ctr" lIns="0" rIns="0" tIns="0" bIns="0">
            <a:spAutoFit/>
          </a:bodyPr>
          <a:lstStyle/>
          <a:p>
            <a:pPr algn="ctr">
              <a:lnSpc>
                <a:spcPct val="100000"/>
              </a:lnSpc>
            </a:pPr>
            <a:r>
              <a:rPr sz="1400" b="1" i="0">
                <a:solidFill>
                  <a:srgbClr val="0A1512"/>
                </a:solidFill>
                <a:latin typeface="Avenir Next"/>
              </a:rPr>
              <a:t>2.2</a:t>
            </a:r>
          </a:p>
        </p:txBody>
      </p:sp>
      <p:sp>
        <p:nvSpPr>
          <p:cNvPr id="5" name="TextBox 4"/>
          <p:cNvSpPr txBox="1"/>
          <p:nvPr/>
        </p:nvSpPr>
        <p:spPr>
          <a:xfrm>
            <a:off x="1728216" y="548640"/>
            <a:ext cx="10058400" cy="457200"/>
          </a:xfrm>
          <a:prstGeom prst="rect">
            <a:avLst/>
          </a:prstGeom>
          <a:noFill/>
        </p:spPr>
        <p:txBody>
          <a:bodyPr wrap="square" anchor="ctr" lIns="0" rIns="0" tIns="0" bIns="0">
            <a:spAutoFit/>
          </a:bodyPr>
          <a:lstStyle/>
          <a:p>
            <a:pPr algn="l">
              <a:lnSpc>
                <a:spcPct val="100000"/>
              </a:lnSpc>
            </a:pPr>
            <a:r>
              <a:rPr sz="900" b="1" i="0">
                <a:solidFill>
                  <a:srgbClr val="A7BDB2"/>
                </a:solidFill>
                <a:latin typeface="Avenir Next"/>
              </a:rPr>
              <a:t>ANSWERING  </a:t>
            </a:r>
            <a:r>
              <a:rPr sz="1250" b="1" i="0">
                <a:solidFill>
                  <a:srgbClr val="13221C"/>
                </a:solidFill>
                <a:latin typeface="Avenir Next"/>
              </a:rPr>
              <a:t>Rank the AI investments. What would you build first?</a:t>
            </a:r>
          </a:p>
        </p:txBody>
      </p:sp>
      <p:sp>
        <p:nvSpPr>
          <p:cNvPr id="6" name="TextBox 5"/>
          <p:cNvSpPr txBox="1"/>
          <p:nvPr/>
        </p:nvSpPr>
        <p:spPr>
          <a:xfrm>
            <a:off x="731520" y="1188720"/>
            <a:ext cx="10881360" cy="914400"/>
          </a:xfrm>
          <a:prstGeom prst="rect">
            <a:avLst/>
          </a:prstGeom>
          <a:noFill/>
        </p:spPr>
        <p:txBody>
          <a:bodyPr wrap="square" anchor="t" lIns="0" rIns="0" tIns="0" bIns="0">
            <a:spAutoFit/>
          </a:bodyPr>
          <a:lstStyle/>
          <a:p>
            <a:pPr algn="l">
              <a:lnSpc>
                <a:spcPct val="100000"/>
              </a:lnSpc>
            </a:pPr>
            <a:r>
              <a:rPr sz="2800" b="1" i="0">
                <a:solidFill>
                  <a:srgbClr val="13221C"/>
                </a:solidFill>
                <a:latin typeface="Avenir Next"/>
              </a:rPr>
              <a:t>Build one for quality, one for adoption.</a:t>
            </a:r>
          </a:p>
        </p:txBody>
      </p:sp>
      <p:sp>
        <p:nvSpPr>
          <p:cNvPr id="7" name="TextBox 6"/>
          <p:cNvSpPr txBox="1"/>
          <p:nvPr/>
        </p:nvSpPr>
        <p:spPr>
          <a:xfrm>
            <a:off x="777240" y="2103120"/>
            <a:ext cx="10424160" cy="548640"/>
          </a:xfrm>
          <a:prstGeom prst="rect">
            <a:avLst/>
          </a:prstGeom>
          <a:noFill/>
        </p:spPr>
        <p:txBody>
          <a:bodyPr wrap="square" anchor="t" lIns="0" rIns="0" tIns="0" bIns="0">
            <a:spAutoFit/>
          </a:bodyPr>
          <a:lstStyle/>
          <a:p>
            <a:pPr algn="l">
              <a:lnSpc>
                <a:spcPct val="106000"/>
              </a:lnSpc>
            </a:pPr>
            <a:r>
              <a:rPr sz="1300" b="0" i="0">
                <a:solidFill>
                  <a:srgbClr val="53635C"/>
                </a:solidFill>
                <a:latin typeface="Helvetica Neue"/>
              </a:rPr>
              <a:t>The spec generator makes experiments better; the dashboard makes progress </a:t>
            </a:r>
            <a:r>
              <a:rPr sz="1300" b="1" i="0">
                <a:solidFill>
                  <a:srgbClr val="00976E"/>
                </a:solidFill>
                <a:latin typeface="Helvetica Neue"/>
              </a:rPr>
              <a:t>visible</a:t>
            </a:r>
            <a:r>
              <a:rPr sz="1300" b="0" i="0">
                <a:solidFill>
                  <a:srgbClr val="53635C"/>
                </a:solidFill>
                <a:latin typeface="Helvetica Neue"/>
              </a:rPr>
              <a:t>. Adoption and buy-in decide ROI, not cleverness — if you don't track it and show it, it's no use. The tempting one is deliberately last.</a:t>
            </a:r>
          </a:p>
        </p:txBody>
      </p:sp>
      <p:sp>
        <p:nvSpPr>
          <p:cNvPr id="8" name="Rounded Rectangle 7"/>
          <p:cNvSpPr/>
          <p:nvPr/>
        </p:nvSpPr>
        <p:spPr>
          <a:xfrm>
            <a:off x="777240" y="2724912"/>
            <a:ext cx="10652760" cy="548640"/>
          </a:xfrm>
          <a:prstGeom prst="roundRect">
            <a:avLst>
              <a:gd name="adj" fmla="val 6000"/>
            </a:avLst>
          </a:prstGeom>
          <a:solidFill>
            <a:srgbClr val="FFFFFF"/>
          </a:solidFill>
          <a:ln w="12700">
            <a:solidFill>
              <a:srgbClr val="0097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724912"/>
            <a:ext cx="640080" cy="548640"/>
          </a:xfrm>
          <a:prstGeom prst="rect">
            <a:avLst/>
          </a:prstGeom>
          <a:noFill/>
        </p:spPr>
        <p:txBody>
          <a:bodyPr wrap="square" anchor="ctr" lIns="0" rIns="0" tIns="0" bIns="0">
            <a:spAutoFit/>
          </a:bodyPr>
          <a:lstStyle/>
          <a:p>
            <a:pPr algn="ctr">
              <a:lnSpc>
                <a:spcPct val="100000"/>
              </a:lnSpc>
            </a:pPr>
            <a:r>
              <a:rPr sz="2200" b="1" i="0">
                <a:solidFill>
                  <a:srgbClr val="00976E"/>
                </a:solidFill>
                <a:latin typeface="Avenir Next"/>
              </a:rPr>
              <a:t>1</a:t>
            </a:r>
          </a:p>
        </p:txBody>
      </p:sp>
      <p:sp>
        <p:nvSpPr>
          <p:cNvPr id="10" name="TextBox 9"/>
          <p:cNvSpPr txBox="1"/>
          <p:nvPr/>
        </p:nvSpPr>
        <p:spPr>
          <a:xfrm>
            <a:off x="1737360" y="2770632"/>
            <a:ext cx="4297680" cy="457200"/>
          </a:xfrm>
          <a:prstGeom prst="rect">
            <a:avLst/>
          </a:prstGeom>
          <a:noFill/>
        </p:spPr>
        <p:txBody>
          <a:bodyPr wrap="square" anchor="ctr" lIns="0" rIns="0" tIns="0" bIns="0">
            <a:spAutoFit/>
          </a:bodyPr>
          <a:lstStyle/>
          <a:p>
            <a:pPr algn="l">
              <a:lnSpc>
                <a:spcPct val="98000"/>
              </a:lnSpc>
            </a:pPr>
            <a:r>
              <a:rPr sz="1300" b="1" i="0">
                <a:solidFill>
                  <a:srgbClr val="13221C"/>
                </a:solidFill>
                <a:latin typeface="Avenir Next"/>
              </a:rPr>
              <a:t>AI experiment specification generator</a:t>
            </a:r>
          </a:p>
        </p:txBody>
      </p:sp>
      <p:sp>
        <p:nvSpPr>
          <p:cNvPr id="11" name="TextBox 10"/>
          <p:cNvSpPr txBox="1"/>
          <p:nvPr/>
        </p:nvSpPr>
        <p:spPr>
          <a:xfrm>
            <a:off x="6172200" y="2770632"/>
            <a:ext cx="3840480" cy="457200"/>
          </a:xfrm>
          <a:prstGeom prst="rect">
            <a:avLst/>
          </a:prstGeom>
          <a:noFill/>
        </p:spPr>
        <p:txBody>
          <a:bodyPr wrap="square" anchor="ctr" lIns="0" rIns="0" tIns="0" bIns="0">
            <a:spAutoFit/>
          </a:bodyPr>
          <a:lstStyle/>
          <a:p>
            <a:pPr algn="l">
              <a:lnSpc>
                <a:spcPct val="100000"/>
              </a:lnSpc>
            </a:pPr>
            <a:r>
              <a:rPr sz="1050" b="0" i="0">
                <a:solidFill>
                  <a:srgbClr val="53635C"/>
                </a:solidFill>
                <a:latin typeface="Helvetica Neue"/>
              </a:rPr>
              <a:t>Biggest bite out of the 60%. Turns a hypothesis plus history into a powered, reviewable spec.</a:t>
            </a:r>
          </a:p>
        </p:txBody>
      </p:sp>
      <p:sp>
        <p:nvSpPr>
          <p:cNvPr id="12" name="TextBox 11"/>
          <p:cNvSpPr txBox="1"/>
          <p:nvPr/>
        </p:nvSpPr>
        <p:spPr>
          <a:xfrm>
            <a:off x="10012680" y="2724912"/>
            <a:ext cx="1371600" cy="548640"/>
          </a:xfrm>
          <a:prstGeom prst="rect">
            <a:avLst/>
          </a:prstGeom>
          <a:noFill/>
        </p:spPr>
        <p:txBody>
          <a:bodyPr wrap="square" anchor="ctr" lIns="0" rIns="0" tIns="0" bIns="0">
            <a:spAutoFit/>
          </a:bodyPr>
          <a:lstStyle/>
          <a:p>
            <a:pPr algn="r">
              <a:lnSpc>
                <a:spcPct val="100000"/>
              </a:lnSpc>
            </a:pPr>
            <a:r>
              <a:rPr sz="900" b="1" i="0">
                <a:solidFill>
                  <a:srgbClr val="00976E"/>
                </a:solidFill>
                <a:latin typeface="Avenir Next"/>
              </a:rPr>
              <a:t>BUILD NOW</a:t>
            </a:r>
          </a:p>
        </p:txBody>
      </p:sp>
      <p:sp>
        <p:nvSpPr>
          <p:cNvPr id="13" name="Rounded Rectangle 12"/>
          <p:cNvSpPr/>
          <p:nvPr/>
        </p:nvSpPr>
        <p:spPr>
          <a:xfrm>
            <a:off x="777240" y="3323844"/>
            <a:ext cx="10652760" cy="548640"/>
          </a:xfrm>
          <a:prstGeom prst="roundRect">
            <a:avLst>
              <a:gd name="adj" fmla="val 6000"/>
            </a:avLst>
          </a:prstGeom>
          <a:solidFill>
            <a:srgbClr val="FFFFFF"/>
          </a:solidFill>
          <a:ln w="12700">
            <a:solidFill>
              <a:srgbClr val="0097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323844"/>
            <a:ext cx="640080" cy="548640"/>
          </a:xfrm>
          <a:prstGeom prst="rect">
            <a:avLst/>
          </a:prstGeom>
          <a:noFill/>
        </p:spPr>
        <p:txBody>
          <a:bodyPr wrap="square" anchor="ctr" lIns="0" rIns="0" tIns="0" bIns="0">
            <a:spAutoFit/>
          </a:bodyPr>
          <a:lstStyle/>
          <a:p>
            <a:pPr algn="ctr">
              <a:lnSpc>
                <a:spcPct val="100000"/>
              </a:lnSpc>
            </a:pPr>
            <a:r>
              <a:rPr sz="2200" b="1" i="0">
                <a:solidFill>
                  <a:srgbClr val="00976E"/>
                </a:solidFill>
                <a:latin typeface="Avenir Next"/>
              </a:rPr>
              <a:t>2</a:t>
            </a:r>
          </a:p>
        </p:txBody>
      </p:sp>
      <p:sp>
        <p:nvSpPr>
          <p:cNvPr id="15" name="TextBox 14"/>
          <p:cNvSpPr txBox="1"/>
          <p:nvPr/>
        </p:nvSpPr>
        <p:spPr>
          <a:xfrm>
            <a:off x="1737360" y="3369563"/>
            <a:ext cx="4297680" cy="457200"/>
          </a:xfrm>
          <a:prstGeom prst="rect">
            <a:avLst/>
          </a:prstGeom>
          <a:noFill/>
        </p:spPr>
        <p:txBody>
          <a:bodyPr wrap="square" anchor="ctr" lIns="0" rIns="0" tIns="0" bIns="0">
            <a:spAutoFit/>
          </a:bodyPr>
          <a:lstStyle/>
          <a:p>
            <a:pPr algn="l">
              <a:lnSpc>
                <a:spcPct val="98000"/>
              </a:lnSpc>
            </a:pPr>
            <a:r>
              <a:rPr sz="1300" b="1" i="0">
                <a:solidFill>
                  <a:srgbClr val="13221C"/>
                </a:solidFill>
                <a:latin typeface="Avenir Next"/>
              </a:rPr>
              <a:t>AI dashboard summarisation</a:t>
            </a:r>
          </a:p>
        </p:txBody>
      </p:sp>
      <p:sp>
        <p:nvSpPr>
          <p:cNvPr id="16" name="TextBox 15"/>
          <p:cNvSpPr txBox="1"/>
          <p:nvPr/>
        </p:nvSpPr>
        <p:spPr>
          <a:xfrm>
            <a:off x="6172200" y="3369563"/>
            <a:ext cx="3840480" cy="457200"/>
          </a:xfrm>
          <a:prstGeom prst="rect">
            <a:avLst/>
          </a:prstGeom>
          <a:noFill/>
        </p:spPr>
        <p:txBody>
          <a:bodyPr wrap="square" anchor="ctr" lIns="0" rIns="0" tIns="0" bIns="0">
            <a:spAutoFit/>
          </a:bodyPr>
          <a:lstStyle/>
          <a:p>
            <a:pPr algn="l">
              <a:lnSpc>
                <a:spcPct val="100000"/>
              </a:lnSpc>
            </a:pPr>
            <a:r>
              <a:rPr sz="1050" b="0" i="0">
                <a:solidFill>
                  <a:srgbClr val="53635C"/>
                </a:solidFill>
                <a:latin typeface="Helvetica Neue"/>
              </a:rPr>
              <a:t>The adoption engine. Visible, plain-English results win buy-in and drive change management. If it isn't shown, it isn't used.</a:t>
            </a:r>
          </a:p>
        </p:txBody>
      </p:sp>
      <p:sp>
        <p:nvSpPr>
          <p:cNvPr id="17" name="TextBox 16"/>
          <p:cNvSpPr txBox="1"/>
          <p:nvPr/>
        </p:nvSpPr>
        <p:spPr>
          <a:xfrm>
            <a:off x="10012680" y="3323844"/>
            <a:ext cx="1371600" cy="548640"/>
          </a:xfrm>
          <a:prstGeom prst="rect">
            <a:avLst/>
          </a:prstGeom>
          <a:noFill/>
        </p:spPr>
        <p:txBody>
          <a:bodyPr wrap="square" anchor="ctr" lIns="0" rIns="0" tIns="0" bIns="0">
            <a:spAutoFit/>
          </a:bodyPr>
          <a:lstStyle/>
          <a:p>
            <a:pPr algn="r">
              <a:lnSpc>
                <a:spcPct val="100000"/>
              </a:lnSpc>
            </a:pPr>
            <a:r>
              <a:rPr sz="900" b="1" i="0">
                <a:solidFill>
                  <a:srgbClr val="00976E"/>
                </a:solidFill>
                <a:latin typeface="Avenir Next"/>
              </a:rPr>
              <a:t>BUILD NOW</a:t>
            </a:r>
          </a:p>
        </p:txBody>
      </p:sp>
      <p:sp>
        <p:nvSpPr>
          <p:cNvPr id="18" name="Rounded Rectangle 17"/>
          <p:cNvSpPr/>
          <p:nvPr/>
        </p:nvSpPr>
        <p:spPr>
          <a:xfrm>
            <a:off x="777240" y="3922776"/>
            <a:ext cx="10652760" cy="548640"/>
          </a:xfrm>
          <a:prstGeom prst="roundRect">
            <a:avLst>
              <a:gd name="adj" fmla="val 6000"/>
            </a:avLst>
          </a:prstGeom>
          <a:solidFill>
            <a:srgbClr val="F5F8F5"/>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922776"/>
            <a:ext cx="640080" cy="548640"/>
          </a:xfrm>
          <a:prstGeom prst="rect">
            <a:avLst/>
          </a:prstGeom>
          <a:noFill/>
        </p:spPr>
        <p:txBody>
          <a:bodyPr wrap="square" anchor="ctr" lIns="0" rIns="0" tIns="0" bIns="0">
            <a:spAutoFit/>
          </a:bodyPr>
          <a:lstStyle/>
          <a:p>
            <a:pPr algn="ctr">
              <a:lnSpc>
                <a:spcPct val="100000"/>
              </a:lnSpc>
            </a:pPr>
            <a:r>
              <a:rPr sz="2200" b="1" i="0">
                <a:solidFill>
                  <a:srgbClr val="A7BDB2"/>
                </a:solidFill>
                <a:latin typeface="Avenir Next"/>
              </a:rPr>
              <a:t>3</a:t>
            </a:r>
          </a:p>
        </p:txBody>
      </p:sp>
      <p:sp>
        <p:nvSpPr>
          <p:cNvPr id="20" name="TextBox 19"/>
          <p:cNvSpPr txBox="1"/>
          <p:nvPr/>
        </p:nvSpPr>
        <p:spPr>
          <a:xfrm>
            <a:off x="1737360" y="3968496"/>
            <a:ext cx="4297680" cy="457200"/>
          </a:xfrm>
          <a:prstGeom prst="rect">
            <a:avLst/>
          </a:prstGeom>
          <a:noFill/>
        </p:spPr>
        <p:txBody>
          <a:bodyPr wrap="square" anchor="ctr" lIns="0" rIns="0" tIns="0" bIns="0">
            <a:spAutoFit/>
          </a:bodyPr>
          <a:lstStyle/>
          <a:p>
            <a:pPr algn="l">
              <a:lnSpc>
                <a:spcPct val="98000"/>
              </a:lnSpc>
            </a:pPr>
            <a:r>
              <a:rPr sz="1300" b="1" i="0">
                <a:solidFill>
                  <a:srgbClr val="13221C"/>
                </a:solidFill>
                <a:latin typeface="Avenir Next"/>
              </a:rPr>
              <a:t>AI learning-brief generator</a:t>
            </a:r>
          </a:p>
        </p:txBody>
      </p:sp>
      <p:sp>
        <p:nvSpPr>
          <p:cNvPr id="21" name="TextBox 20"/>
          <p:cNvSpPr txBox="1"/>
          <p:nvPr/>
        </p:nvSpPr>
        <p:spPr>
          <a:xfrm>
            <a:off x="6172200" y="3968496"/>
            <a:ext cx="3840480" cy="457200"/>
          </a:xfrm>
          <a:prstGeom prst="rect">
            <a:avLst/>
          </a:prstGeom>
          <a:noFill/>
        </p:spPr>
        <p:txBody>
          <a:bodyPr wrap="square" anchor="ctr" lIns="0" rIns="0" tIns="0" bIns="0">
            <a:spAutoFit/>
          </a:bodyPr>
          <a:lstStyle/>
          <a:p>
            <a:pPr algn="l">
              <a:lnSpc>
                <a:spcPct val="100000"/>
              </a:lnSpc>
            </a:pPr>
            <a:r>
              <a:rPr sz="1050" b="0" i="0">
                <a:solidFill>
                  <a:srgbClr val="53635C"/>
                </a:solidFill>
                <a:latin typeface="Helvetica Neue"/>
              </a:rPr>
              <a:t>The loop-closer: turns each result into graded knowledge in the evidence base. Low risk.</a:t>
            </a:r>
          </a:p>
        </p:txBody>
      </p:sp>
      <p:sp>
        <p:nvSpPr>
          <p:cNvPr id="22" name="TextBox 21"/>
          <p:cNvSpPr txBox="1"/>
          <p:nvPr/>
        </p:nvSpPr>
        <p:spPr>
          <a:xfrm>
            <a:off x="10012680" y="3922776"/>
            <a:ext cx="1371600" cy="548640"/>
          </a:xfrm>
          <a:prstGeom prst="rect">
            <a:avLst/>
          </a:prstGeom>
          <a:noFill/>
        </p:spPr>
        <p:txBody>
          <a:bodyPr wrap="square" anchor="ctr" lIns="0" rIns="0" tIns="0" bIns="0">
            <a:spAutoFit/>
          </a:bodyPr>
          <a:lstStyle/>
          <a:p>
            <a:pPr algn="r">
              <a:lnSpc>
                <a:spcPct val="100000"/>
              </a:lnSpc>
            </a:pPr>
            <a:r>
              <a:rPr sz="900" b="1" i="0">
                <a:solidFill>
                  <a:srgbClr val="E09B1E"/>
                </a:solidFill>
                <a:latin typeface="Avenir Next"/>
              </a:rPr>
              <a:t>SEQUENCE NEXT</a:t>
            </a:r>
          </a:p>
        </p:txBody>
      </p:sp>
      <p:sp>
        <p:nvSpPr>
          <p:cNvPr id="23" name="Rounded Rectangle 22"/>
          <p:cNvSpPr/>
          <p:nvPr/>
        </p:nvSpPr>
        <p:spPr>
          <a:xfrm>
            <a:off x="777240" y="4521708"/>
            <a:ext cx="10652760" cy="548640"/>
          </a:xfrm>
          <a:prstGeom prst="roundRect">
            <a:avLst>
              <a:gd name="adj" fmla="val 6000"/>
            </a:avLst>
          </a:prstGeom>
          <a:solidFill>
            <a:srgbClr val="F5F8F5"/>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4521708"/>
            <a:ext cx="640080" cy="548640"/>
          </a:xfrm>
          <a:prstGeom prst="rect">
            <a:avLst/>
          </a:prstGeom>
          <a:noFill/>
        </p:spPr>
        <p:txBody>
          <a:bodyPr wrap="square" anchor="ctr" lIns="0" rIns="0" tIns="0" bIns="0">
            <a:spAutoFit/>
          </a:bodyPr>
          <a:lstStyle/>
          <a:p>
            <a:pPr algn="ctr">
              <a:lnSpc>
                <a:spcPct val="100000"/>
              </a:lnSpc>
            </a:pPr>
            <a:r>
              <a:rPr sz="2200" b="1" i="0">
                <a:solidFill>
                  <a:srgbClr val="A7BDB2"/>
                </a:solidFill>
                <a:latin typeface="Avenir Next"/>
              </a:rPr>
              <a:t>4</a:t>
            </a:r>
          </a:p>
        </p:txBody>
      </p:sp>
      <p:sp>
        <p:nvSpPr>
          <p:cNvPr id="25" name="TextBox 24"/>
          <p:cNvSpPr txBox="1"/>
          <p:nvPr/>
        </p:nvSpPr>
        <p:spPr>
          <a:xfrm>
            <a:off x="1737360" y="4567428"/>
            <a:ext cx="4297680" cy="457200"/>
          </a:xfrm>
          <a:prstGeom prst="rect">
            <a:avLst/>
          </a:prstGeom>
          <a:noFill/>
        </p:spPr>
        <p:txBody>
          <a:bodyPr wrap="square" anchor="ctr" lIns="0" rIns="0" tIns="0" bIns="0">
            <a:spAutoFit/>
          </a:bodyPr>
          <a:lstStyle/>
          <a:p>
            <a:pPr algn="l">
              <a:lnSpc>
                <a:spcPct val="98000"/>
              </a:lnSpc>
            </a:pPr>
            <a:r>
              <a:rPr sz="1300" b="1" i="0">
                <a:solidFill>
                  <a:srgbClr val="13221C"/>
                </a:solidFill>
                <a:latin typeface="Avenir Next"/>
              </a:rPr>
              <a:t>AI QA assistant for launches</a:t>
            </a:r>
          </a:p>
        </p:txBody>
      </p:sp>
      <p:sp>
        <p:nvSpPr>
          <p:cNvPr id="26" name="TextBox 25"/>
          <p:cNvSpPr txBox="1"/>
          <p:nvPr/>
        </p:nvSpPr>
        <p:spPr>
          <a:xfrm>
            <a:off x="6172200" y="4567428"/>
            <a:ext cx="3840480" cy="457200"/>
          </a:xfrm>
          <a:prstGeom prst="rect">
            <a:avLst/>
          </a:prstGeom>
          <a:noFill/>
        </p:spPr>
        <p:txBody>
          <a:bodyPr wrap="square" anchor="ctr" lIns="0" rIns="0" tIns="0" bIns="0">
            <a:spAutoFit/>
          </a:bodyPr>
          <a:lstStyle/>
          <a:p>
            <a:pPr algn="l">
              <a:lnSpc>
                <a:spcPct val="100000"/>
              </a:lnSpc>
            </a:pPr>
            <a:r>
              <a:rPr sz="1050" b="0" i="0">
                <a:solidFill>
                  <a:srgbClr val="53635C"/>
                </a:solidFill>
                <a:latin typeface="Helvetica Neue"/>
              </a:rPr>
              <a:t>The safety net that would have caught the German currency error. Fast-follow.</a:t>
            </a:r>
          </a:p>
        </p:txBody>
      </p:sp>
      <p:sp>
        <p:nvSpPr>
          <p:cNvPr id="27" name="TextBox 26"/>
          <p:cNvSpPr txBox="1"/>
          <p:nvPr/>
        </p:nvSpPr>
        <p:spPr>
          <a:xfrm>
            <a:off x="10012680" y="4521708"/>
            <a:ext cx="1371600" cy="548640"/>
          </a:xfrm>
          <a:prstGeom prst="rect">
            <a:avLst/>
          </a:prstGeom>
          <a:noFill/>
        </p:spPr>
        <p:txBody>
          <a:bodyPr wrap="square" anchor="ctr" lIns="0" rIns="0" tIns="0" bIns="0">
            <a:spAutoFit/>
          </a:bodyPr>
          <a:lstStyle/>
          <a:p>
            <a:pPr algn="r">
              <a:lnSpc>
                <a:spcPct val="100000"/>
              </a:lnSpc>
            </a:pPr>
            <a:r>
              <a:rPr sz="900" b="1" i="0">
                <a:solidFill>
                  <a:srgbClr val="E09B1E"/>
                </a:solidFill>
                <a:latin typeface="Avenir Next"/>
              </a:rPr>
              <a:t>SEQUENCE NEXT</a:t>
            </a:r>
          </a:p>
        </p:txBody>
      </p:sp>
      <p:sp>
        <p:nvSpPr>
          <p:cNvPr id="28" name="Rounded Rectangle 27"/>
          <p:cNvSpPr/>
          <p:nvPr/>
        </p:nvSpPr>
        <p:spPr>
          <a:xfrm>
            <a:off x="777240" y="5120640"/>
            <a:ext cx="10652760" cy="548640"/>
          </a:xfrm>
          <a:prstGeom prst="roundRect">
            <a:avLst>
              <a:gd name="adj" fmla="val 6000"/>
            </a:avLst>
          </a:prstGeom>
          <a:solidFill>
            <a:srgbClr val="F5F8F5"/>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5120640"/>
            <a:ext cx="640080" cy="548640"/>
          </a:xfrm>
          <a:prstGeom prst="rect">
            <a:avLst/>
          </a:prstGeom>
          <a:noFill/>
        </p:spPr>
        <p:txBody>
          <a:bodyPr wrap="square" anchor="ctr" lIns="0" rIns="0" tIns="0" bIns="0">
            <a:spAutoFit/>
          </a:bodyPr>
          <a:lstStyle/>
          <a:p>
            <a:pPr algn="ctr">
              <a:lnSpc>
                <a:spcPct val="100000"/>
              </a:lnSpc>
            </a:pPr>
            <a:r>
              <a:rPr sz="2200" b="1" i="0">
                <a:solidFill>
                  <a:srgbClr val="A7BDB2"/>
                </a:solidFill>
                <a:latin typeface="Avenir Next"/>
              </a:rPr>
              <a:t>5</a:t>
            </a:r>
          </a:p>
        </p:txBody>
      </p:sp>
      <p:sp>
        <p:nvSpPr>
          <p:cNvPr id="30" name="TextBox 29"/>
          <p:cNvSpPr txBox="1"/>
          <p:nvPr/>
        </p:nvSpPr>
        <p:spPr>
          <a:xfrm>
            <a:off x="1737360" y="5166359"/>
            <a:ext cx="4297680" cy="457200"/>
          </a:xfrm>
          <a:prstGeom prst="rect">
            <a:avLst/>
          </a:prstGeom>
          <a:noFill/>
        </p:spPr>
        <p:txBody>
          <a:bodyPr wrap="square" anchor="ctr" lIns="0" rIns="0" tIns="0" bIns="0">
            <a:spAutoFit/>
          </a:bodyPr>
          <a:lstStyle/>
          <a:p>
            <a:pPr algn="l">
              <a:lnSpc>
                <a:spcPct val="98000"/>
              </a:lnSpc>
            </a:pPr>
            <a:r>
              <a:rPr sz="1300" b="1" i="0">
                <a:solidFill>
                  <a:srgbClr val="13221C"/>
                </a:solidFill>
                <a:latin typeface="Avenir Next"/>
              </a:rPr>
              <a:t>AI promotion recommendation engine</a:t>
            </a:r>
          </a:p>
        </p:txBody>
      </p:sp>
      <p:sp>
        <p:nvSpPr>
          <p:cNvPr id="31" name="TextBox 30"/>
          <p:cNvSpPr txBox="1"/>
          <p:nvPr/>
        </p:nvSpPr>
        <p:spPr>
          <a:xfrm>
            <a:off x="6172200" y="5166359"/>
            <a:ext cx="3840480" cy="457200"/>
          </a:xfrm>
          <a:prstGeom prst="rect">
            <a:avLst/>
          </a:prstGeom>
          <a:noFill/>
        </p:spPr>
        <p:txBody>
          <a:bodyPr wrap="square" anchor="ctr" lIns="0" rIns="0" tIns="0" bIns="0">
            <a:spAutoFit/>
          </a:bodyPr>
          <a:lstStyle/>
          <a:p>
            <a:pPr algn="l">
              <a:lnSpc>
                <a:spcPct val="100000"/>
              </a:lnSpc>
            </a:pPr>
            <a:r>
              <a:rPr sz="1050" b="0" i="0">
                <a:solidFill>
                  <a:srgbClr val="53635C"/>
                </a:solidFill>
                <a:latin typeface="Helvetica Neue"/>
              </a:rPr>
              <a:t>Most powerful, highest risk. It's what failed in Part 3. Needs the data, guardrails &amp; QA first.</a:t>
            </a:r>
          </a:p>
        </p:txBody>
      </p:sp>
      <p:sp>
        <p:nvSpPr>
          <p:cNvPr id="32" name="TextBox 31"/>
          <p:cNvSpPr txBox="1"/>
          <p:nvPr/>
        </p:nvSpPr>
        <p:spPr>
          <a:xfrm>
            <a:off x="10012680" y="5120640"/>
            <a:ext cx="1371600" cy="548640"/>
          </a:xfrm>
          <a:prstGeom prst="rect">
            <a:avLst/>
          </a:prstGeom>
          <a:noFill/>
        </p:spPr>
        <p:txBody>
          <a:bodyPr wrap="square" anchor="ctr" lIns="0" rIns="0" tIns="0" bIns="0">
            <a:spAutoFit/>
          </a:bodyPr>
          <a:lstStyle/>
          <a:p>
            <a:pPr algn="r">
              <a:lnSpc>
                <a:spcPct val="100000"/>
              </a:lnSpc>
            </a:pPr>
            <a:r>
              <a:rPr sz="900" b="1" i="0">
                <a:solidFill>
                  <a:srgbClr val="A7BDB2"/>
                </a:solidFill>
                <a:latin typeface="Avenir Next"/>
              </a:rPr>
              <a:t>EARNS IT LATER</a:t>
            </a:r>
          </a:p>
        </p:txBody>
      </p:sp>
      <p:sp>
        <p:nvSpPr>
          <p:cNvPr id="33" name="Rounded Rectangle 32"/>
          <p:cNvSpPr/>
          <p:nvPr/>
        </p:nvSpPr>
        <p:spPr>
          <a:xfrm>
            <a:off x="777240" y="5719572"/>
            <a:ext cx="10652760" cy="548640"/>
          </a:xfrm>
          <a:prstGeom prst="roundRect">
            <a:avLst>
              <a:gd name="adj" fmla="val 6000"/>
            </a:avLst>
          </a:prstGeom>
          <a:solidFill>
            <a:srgbClr val="F5F8F5"/>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0120" y="5719572"/>
            <a:ext cx="640080" cy="548640"/>
          </a:xfrm>
          <a:prstGeom prst="rect">
            <a:avLst/>
          </a:prstGeom>
          <a:noFill/>
        </p:spPr>
        <p:txBody>
          <a:bodyPr wrap="square" anchor="ctr" lIns="0" rIns="0" tIns="0" bIns="0">
            <a:spAutoFit/>
          </a:bodyPr>
          <a:lstStyle/>
          <a:p>
            <a:pPr algn="ctr">
              <a:lnSpc>
                <a:spcPct val="100000"/>
              </a:lnSpc>
            </a:pPr>
            <a:r>
              <a:rPr sz="2200" b="1" i="0">
                <a:solidFill>
                  <a:srgbClr val="A7BDB2"/>
                </a:solidFill>
                <a:latin typeface="Avenir Next"/>
              </a:rPr>
              <a:t>6</a:t>
            </a:r>
          </a:p>
        </p:txBody>
      </p:sp>
      <p:sp>
        <p:nvSpPr>
          <p:cNvPr id="35" name="TextBox 34"/>
          <p:cNvSpPr txBox="1"/>
          <p:nvPr/>
        </p:nvSpPr>
        <p:spPr>
          <a:xfrm>
            <a:off x="1737360" y="5765292"/>
            <a:ext cx="4297680" cy="457200"/>
          </a:xfrm>
          <a:prstGeom prst="rect">
            <a:avLst/>
          </a:prstGeom>
          <a:noFill/>
        </p:spPr>
        <p:txBody>
          <a:bodyPr wrap="square" anchor="ctr" lIns="0" rIns="0" tIns="0" bIns="0">
            <a:spAutoFit/>
          </a:bodyPr>
          <a:lstStyle/>
          <a:p>
            <a:pPr algn="l">
              <a:lnSpc>
                <a:spcPct val="98000"/>
              </a:lnSpc>
            </a:pPr>
            <a:r>
              <a:rPr sz="1300" b="1" i="0">
                <a:solidFill>
                  <a:srgbClr val="13221C"/>
                </a:solidFill>
                <a:latin typeface="Avenir Next"/>
              </a:rPr>
              <a:t>AI customer-persona simulator</a:t>
            </a:r>
          </a:p>
        </p:txBody>
      </p:sp>
      <p:sp>
        <p:nvSpPr>
          <p:cNvPr id="36" name="TextBox 35"/>
          <p:cNvSpPr txBox="1"/>
          <p:nvPr/>
        </p:nvSpPr>
        <p:spPr>
          <a:xfrm>
            <a:off x="6172200" y="5765292"/>
            <a:ext cx="3840480" cy="457200"/>
          </a:xfrm>
          <a:prstGeom prst="rect">
            <a:avLst/>
          </a:prstGeom>
          <a:noFill/>
        </p:spPr>
        <p:txBody>
          <a:bodyPr wrap="square" anchor="ctr" lIns="0" rIns="0" tIns="0" bIns="0">
            <a:spAutoFit/>
          </a:bodyPr>
          <a:lstStyle/>
          <a:p>
            <a:pPr algn="l">
              <a:lnSpc>
                <a:spcPct val="100000"/>
              </a:lnSpc>
            </a:pPr>
            <a:r>
              <a:rPr sz="1050" b="0" i="0">
                <a:solidFill>
                  <a:srgbClr val="53635C"/>
                </a:solidFill>
                <a:latin typeface="Helvetica Neue"/>
              </a:rPr>
              <a:t>Decision-support with confirmation-bias risk. Build after the loop is trusted.</a:t>
            </a:r>
          </a:p>
        </p:txBody>
      </p:sp>
      <p:sp>
        <p:nvSpPr>
          <p:cNvPr id="37" name="TextBox 36"/>
          <p:cNvSpPr txBox="1"/>
          <p:nvPr/>
        </p:nvSpPr>
        <p:spPr>
          <a:xfrm>
            <a:off x="10012680" y="5719572"/>
            <a:ext cx="1371600" cy="548640"/>
          </a:xfrm>
          <a:prstGeom prst="rect">
            <a:avLst/>
          </a:prstGeom>
          <a:noFill/>
        </p:spPr>
        <p:txBody>
          <a:bodyPr wrap="square" anchor="ctr" lIns="0" rIns="0" tIns="0" bIns="0">
            <a:spAutoFit/>
          </a:bodyPr>
          <a:lstStyle/>
          <a:p>
            <a:pPr algn="r">
              <a:lnSpc>
                <a:spcPct val="100000"/>
              </a:lnSpc>
            </a:pPr>
            <a:r>
              <a:rPr sz="900" b="1" i="0">
                <a:solidFill>
                  <a:srgbClr val="A7BDB2"/>
                </a:solidFill>
                <a:latin typeface="Avenir Next"/>
              </a:rPr>
              <a:t>EARNS IT LATER</a:t>
            </a:r>
          </a:p>
        </p:txBody>
      </p:sp>
      <p:sp>
        <p:nvSpPr>
          <p:cNvPr id="38" name="TextBox 37"/>
          <p:cNvSpPr txBox="1"/>
          <p:nvPr/>
        </p:nvSpPr>
        <p:spPr>
          <a:xfrm>
            <a:off x="548640" y="6400800"/>
            <a:ext cx="7315200" cy="274320"/>
          </a:xfrm>
          <a:prstGeom prst="rect">
            <a:avLst/>
          </a:prstGeom>
          <a:noFill/>
        </p:spPr>
        <p:txBody>
          <a:bodyPr wrap="square" anchor="t" lIns="0" rIns="0" tIns="0" bIns="0">
            <a:spAutoFit/>
          </a:bodyPr>
          <a:lstStyle/>
          <a:p>
            <a:pPr algn="l">
              <a:lnSpc>
                <a:spcPct val="100000"/>
              </a:lnSpc>
            </a:pPr>
            <a:r>
              <a:rPr sz="900" b="0" i="0">
                <a:solidFill>
                  <a:srgbClr val="53635C"/>
                </a:solidFill>
                <a:latin typeface="Helvetica Neue"/>
              </a:rPr>
              <a:t>Adrien Enjalbert  ·  AI Systems, Personalization &amp; Growth</a:t>
            </a:r>
          </a:p>
        </p:txBody>
      </p:sp>
      <p:sp>
        <p:nvSpPr>
          <p:cNvPr id="39" name="TextBox 38"/>
          <p:cNvSpPr txBox="1"/>
          <p:nvPr/>
        </p:nvSpPr>
        <p:spPr>
          <a:xfrm>
            <a:off x="10911535" y="6400800"/>
            <a:ext cx="731520" cy="274320"/>
          </a:xfrm>
          <a:prstGeom prst="rect">
            <a:avLst/>
          </a:prstGeom>
          <a:noFill/>
        </p:spPr>
        <p:txBody>
          <a:bodyPr wrap="square" anchor="t" lIns="0" rIns="0" tIns="0" bIns="0">
            <a:spAutoFit/>
          </a:bodyPr>
          <a:lstStyle/>
          <a:p>
            <a:pPr algn="r">
              <a:lnSpc>
                <a:spcPct val="100000"/>
              </a:lnSpc>
            </a:pPr>
            <a:r>
              <a:rPr sz="900" b="1" i="0">
                <a:solidFill>
                  <a:srgbClr val="53635C"/>
                </a:solidFill>
                <a:latin typeface="Avenir Nex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566928"/>
            <a:ext cx="749808" cy="420624"/>
          </a:xfrm>
          <a:prstGeom prst="roundRect">
            <a:avLst>
              <a:gd name="adj" fmla="val 50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548640"/>
            <a:ext cx="749808" cy="420624"/>
          </a:xfrm>
          <a:prstGeom prst="rect">
            <a:avLst/>
          </a:prstGeom>
          <a:noFill/>
        </p:spPr>
        <p:txBody>
          <a:bodyPr wrap="square" anchor="ctr" lIns="0" rIns="0" tIns="0" bIns="0">
            <a:spAutoFit/>
          </a:bodyPr>
          <a:lstStyle/>
          <a:p>
            <a:pPr algn="ctr">
              <a:lnSpc>
                <a:spcPct val="100000"/>
              </a:lnSpc>
            </a:pPr>
            <a:r>
              <a:rPr sz="1400" b="1" i="0">
                <a:solidFill>
                  <a:srgbClr val="0A1512"/>
                </a:solidFill>
                <a:latin typeface="Avenir Next"/>
              </a:rPr>
              <a:t>2.3</a:t>
            </a:r>
          </a:p>
        </p:txBody>
      </p:sp>
      <p:sp>
        <p:nvSpPr>
          <p:cNvPr id="5" name="TextBox 4"/>
          <p:cNvSpPr txBox="1"/>
          <p:nvPr/>
        </p:nvSpPr>
        <p:spPr>
          <a:xfrm>
            <a:off x="1728216" y="548640"/>
            <a:ext cx="10058400" cy="457200"/>
          </a:xfrm>
          <a:prstGeom prst="rect">
            <a:avLst/>
          </a:prstGeom>
          <a:noFill/>
        </p:spPr>
        <p:txBody>
          <a:bodyPr wrap="square" anchor="ctr" lIns="0" rIns="0" tIns="0" bIns="0">
            <a:spAutoFit/>
          </a:bodyPr>
          <a:lstStyle/>
          <a:p>
            <a:pPr algn="l">
              <a:lnSpc>
                <a:spcPct val="100000"/>
              </a:lnSpc>
            </a:pPr>
            <a:r>
              <a:rPr sz="900" b="1" i="0">
                <a:solidFill>
                  <a:srgbClr val="A7C3B8"/>
                </a:solidFill>
                <a:latin typeface="Avenir Next"/>
              </a:rPr>
              <a:t>ANSWERING  </a:t>
            </a:r>
            <a:r>
              <a:rPr sz="1250" b="1" i="0">
                <a:solidFill>
                  <a:srgbClr val="FFFFFF"/>
                </a:solidFill>
                <a:latin typeface="Avenir Next"/>
              </a:rPr>
              <a:t>Design the knowledge-management system.</a:t>
            </a:r>
          </a:p>
        </p:txBody>
      </p:sp>
      <p:sp>
        <p:nvSpPr>
          <p:cNvPr id="6" name="TextBox 5"/>
          <p:cNvSpPr txBox="1"/>
          <p:nvPr/>
        </p:nvSpPr>
        <p:spPr>
          <a:xfrm>
            <a:off x="731520" y="1207008"/>
            <a:ext cx="10881360" cy="822960"/>
          </a:xfrm>
          <a:prstGeom prst="rect">
            <a:avLst/>
          </a:prstGeom>
          <a:noFill/>
        </p:spPr>
        <p:txBody>
          <a:bodyPr wrap="square" anchor="t" lIns="0" rIns="0" tIns="0" bIns="0">
            <a:spAutoFit/>
          </a:bodyPr>
          <a:lstStyle/>
          <a:p>
            <a:pPr algn="l">
              <a:lnSpc>
                <a:spcPct val="100000"/>
              </a:lnSpc>
            </a:pPr>
            <a:r>
              <a:rPr sz="2300" b="1" i="0">
                <a:solidFill>
                  <a:srgbClr val="FFFFFF"/>
                </a:solidFill>
                <a:latin typeface="Avenir Next"/>
              </a:rPr>
              <a:t>Not a document store. A learning loop that grades its own evidence.</a:t>
            </a:r>
          </a:p>
        </p:txBody>
      </p:sp>
      <p:sp>
        <p:nvSpPr>
          <p:cNvPr id="7" name="TextBox 6"/>
          <p:cNvSpPr txBox="1"/>
          <p:nvPr/>
        </p:nvSpPr>
        <p:spPr>
          <a:xfrm>
            <a:off x="777240" y="2066543"/>
            <a:ext cx="10607040" cy="502920"/>
          </a:xfrm>
          <a:prstGeom prst="rect">
            <a:avLst/>
          </a:prstGeom>
          <a:noFill/>
        </p:spPr>
        <p:txBody>
          <a:bodyPr wrap="square" anchor="t" lIns="0" rIns="0" tIns="0" bIns="0">
            <a:spAutoFit/>
          </a:bodyPr>
          <a:lstStyle/>
          <a:p>
            <a:pPr algn="l">
              <a:lnSpc>
                <a:spcPct val="104000"/>
              </a:lnSpc>
            </a:pPr>
            <a:r>
              <a:rPr sz="1250" b="1" i="0">
                <a:solidFill>
                  <a:srgbClr val="34E0A1"/>
                </a:solidFill>
                <a:latin typeface="Helvetica Neue"/>
              </a:rPr>
              <a:t>Simplest version that works: </a:t>
            </a:r>
            <a:r>
              <a:rPr sz="1250" b="0" i="0">
                <a:solidFill>
                  <a:srgbClr val="A7C3B8"/>
                </a:solidFill>
                <a:latin typeface="Helvetica Neue"/>
              </a:rPr>
              <a:t>store every experiment as a graded record, keep one living belief per segment, and let two agents read and write it. The evidence base in the middle is the only thing that compounds.</a:t>
            </a:r>
          </a:p>
        </p:txBody>
      </p:sp>
      <p:sp>
        <p:nvSpPr>
          <p:cNvPr id="8" name="Rounded Rectangle 7"/>
          <p:cNvSpPr/>
          <p:nvPr/>
        </p:nvSpPr>
        <p:spPr>
          <a:xfrm>
            <a:off x="777240" y="2670048"/>
            <a:ext cx="3127248" cy="1956816"/>
          </a:xfrm>
          <a:prstGeom prst="roundRect">
            <a:avLst>
              <a:gd name="adj" fmla="val 6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5" y="2816352"/>
            <a:ext cx="2761488" cy="365760"/>
          </a:xfrm>
          <a:prstGeom prst="rect">
            <a:avLst/>
          </a:prstGeom>
          <a:noFill/>
        </p:spPr>
        <p:txBody>
          <a:bodyPr wrap="square" anchor="t" lIns="0" rIns="0" tIns="0" bIns="0">
            <a:spAutoFit/>
          </a:bodyPr>
          <a:lstStyle/>
          <a:p>
            <a:pPr algn="l">
              <a:lnSpc>
                <a:spcPct val="100000"/>
              </a:lnSpc>
            </a:pPr>
            <a:r>
              <a:rPr sz="1700" b="1" i="0">
                <a:solidFill>
                  <a:srgbClr val="FFFFFF"/>
                </a:solidFill>
                <a:latin typeface="IBM Plex Mono"/>
              </a:rPr>
              <a:t>raw/</a:t>
            </a:r>
          </a:p>
        </p:txBody>
      </p:sp>
      <p:sp>
        <p:nvSpPr>
          <p:cNvPr id="10" name="TextBox 9"/>
          <p:cNvSpPr txBox="1"/>
          <p:nvPr/>
        </p:nvSpPr>
        <p:spPr>
          <a:xfrm>
            <a:off x="996695" y="3182112"/>
            <a:ext cx="2761488" cy="274320"/>
          </a:xfrm>
          <a:prstGeom prst="rect">
            <a:avLst/>
          </a:prstGeom>
          <a:noFill/>
        </p:spPr>
        <p:txBody>
          <a:bodyPr wrap="square" anchor="t" lIns="0" rIns="0" tIns="0" bIns="0">
            <a:spAutoFit/>
          </a:bodyPr>
          <a:lstStyle/>
          <a:p>
            <a:pPr algn="l">
              <a:lnSpc>
                <a:spcPct val="100000"/>
              </a:lnSpc>
            </a:pPr>
            <a:r>
              <a:rPr sz="900" b="1" i="0">
                <a:solidFill>
                  <a:srgbClr val="A7C3B8"/>
                </a:solidFill>
                <a:latin typeface="Avenir Next"/>
              </a:rPr>
              <a:t>THE LEDGER</a:t>
            </a:r>
          </a:p>
        </p:txBody>
      </p:sp>
      <p:sp>
        <p:nvSpPr>
          <p:cNvPr id="11" name="TextBox 10"/>
          <p:cNvSpPr txBox="1"/>
          <p:nvPr/>
        </p:nvSpPr>
        <p:spPr>
          <a:xfrm>
            <a:off x="996695" y="3511296"/>
            <a:ext cx="2715768" cy="960120"/>
          </a:xfrm>
          <a:prstGeom prst="rect">
            <a:avLst/>
          </a:prstGeom>
          <a:noFill/>
        </p:spPr>
        <p:txBody>
          <a:bodyPr wrap="square" anchor="t" lIns="0" rIns="0" tIns="0" bIns="0">
            <a:spAutoFit/>
          </a:bodyPr>
          <a:lstStyle/>
          <a:p>
            <a:pPr algn="l">
              <a:lnSpc>
                <a:spcPct val="103000"/>
              </a:lnSpc>
            </a:pPr>
            <a:r>
              <a:rPr sz="1030" b="0" i="0">
                <a:solidFill>
                  <a:srgbClr val="A7C3B8"/>
                </a:solidFill>
                <a:latin typeface="Helvetica Neue"/>
              </a:rPr>
              <a:t>Every experiment as a structured record: holdout, sample size, incrementality + confidence, cost, decision, caveats. Append-only; each record carries an evidence grade.</a:t>
            </a:r>
          </a:p>
        </p:txBody>
      </p:sp>
      <p:sp>
        <p:nvSpPr>
          <p:cNvPr id="12" name="Rounded Rectangle 11"/>
          <p:cNvSpPr/>
          <p:nvPr/>
        </p:nvSpPr>
        <p:spPr>
          <a:xfrm>
            <a:off x="4407408" y="2670048"/>
            <a:ext cx="3127248" cy="1956816"/>
          </a:xfrm>
          <a:prstGeom prst="roundRect">
            <a:avLst>
              <a:gd name="adj" fmla="val 6000"/>
            </a:avLst>
          </a:prstGeom>
          <a:solidFill>
            <a:srgbClr val="0E1F18"/>
          </a:solidFill>
          <a:ln w="21590">
            <a:solidFill>
              <a:srgbClr val="34E0A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2816352"/>
            <a:ext cx="2761488" cy="365760"/>
          </a:xfrm>
          <a:prstGeom prst="rect">
            <a:avLst/>
          </a:prstGeom>
          <a:noFill/>
        </p:spPr>
        <p:txBody>
          <a:bodyPr wrap="square" anchor="t" lIns="0" rIns="0" tIns="0" bIns="0">
            <a:spAutoFit/>
          </a:bodyPr>
          <a:lstStyle/>
          <a:p>
            <a:pPr algn="l">
              <a:lnSpc>
                <a:spcPct val="100000"/>
              </a:lnSpc>
            </a:pPr>
            <a:r>
              <a:rPr sz="1700" b="1" i="0">
                <a:solidFill>
                  <a:srgbClr val="34E0A1"/>
                </a:solidFill>
                <a:latin typeface="IBM Plex Mono"/>
              </a:rPr>
              <a:t>context/</a:t>
            </a:r>
          </a:p>
        </p:txBody>
      </p:sp>
      <p:sp>
        <p:nvSpPr>
          <p:cNvPr id="14" name="TextBox 13"/>
          <p:cNvSpPr txBox="1"/>
          <p:nvPr/>
        </p:nvSpPr>
        <p:spPr>
          <a:xfrm>
            <a:off x="4626864" y="3182112"/>
            <a:ext cx="2761488" cy="274320"/>
          </a:xfrm>
          <a:prstGeom prst="rect">
            <a:avLst/>
          </a:prstGeom>
          <a:noFill/>
        </p:spPr>
        <p:txBody>
          <a:bodyPr wrap="square" anchor="t" lIns="0" rIns="0" tIns="0" bIns="0">
            <a:spAutoFit/>
          </a:bodyPr>
          <a:lstStyle/>
          <a:p>
            <a:pPr algn="l">
              <a:lnSpc>
                <a:spcPct val="100000"/>
              </a:lnSpc>
            </a:pPr>
            <a:r>
              <a:rPr sz="900" b="1" i="0">
                <a:solidFill>
                  <a:srgbClr val="34E0A1"/>
                </a:solidFill>
                <a:latin typeface="Avenir Next"/>
              </a:rPr>
              <a:t>THE EVIDENCE BASE  ·  THE ASSET</a:t>
            </a:r>
          </a:p>
        </p:txBody>
      </p:sp>
      <p:sp>
        <p:nvSpPr>
          <p:cNvPr id="15" name="TextBox 14"/>
          <p:cNvSpPr txBox="1"/>
          <p:nvPr/>
        </p:nvSpPr>
        <p:spPr>
          <a:xfrm>
            <a:off x="4626864" y="3511296"/>
            <a:ext cx="2715768" cy="960120"/>
          </a:xfrm>
          <a:prstGeom prst="rect">
            <a:avLst/>
          </a:prstGeom>
          <a:noFill/>
        </p:spPr>
        <p:txBody>
          <a:bodyPr wrap="square" anchor="t" lIns="0" rIns="0" tIns="0" bIns="0">
            <a:spAutoFit/>
          </a:bodyPr>
          <a:lstStyle/>
          <a:p>
            <a:pPr algn="l">
              <a:lnSpc>
                <a:spcPct val="103000"/>
              </a:lnSpc>
            </a:pPr>
            <a:r>
              <a:rPr sz="1030" b="0" i="0">
                <a:solidFill>
                  <a:srgbClr val="A7C3B8"/>
                </a:solidFill>
                <a:latin typeface="Helvetica Neue"/>
              </a:rPr>
              <a:t>One living belief per market × segment × offer: current effect, uncertainty, grade and last-verified date. This is what compounds.</a:t>
            </a:r>
          </a:p>
        </p:txBody>
      </p:sp>
      <p:sp>
        <p:nvSpPr>
          <p:cNvPr id="16" name="Rounded Rectangle 15"/>
          <p:cNvSpPr/>
          <p:nvPr/>
        </p:nvSpPr>
        <p:spPr>
          <a:xfrm>
            <a:off x="4608576" y="4224528"/>
            <a:ext cx="2724912" cy="292608"/>
          </a:xfrm>
          <a:prstGeom prst="roundRect">
            <a:avLst>
              <a:gd name="adj" fmla="val 40000"/>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08576" y="4206240"/>
            <a:ext cx="2724912" cy="292608"/>
          </a:xfrm>
          <a:prstGeom prst="rect">
            <a:avLst/>
          </a:prstGeom>
          <a:noFill/>
        </p:spPr>
        <p:txBody>
          <a:bodyPr wrap="square" anchor="ctr" lIns="0" rIns="0" tIns="0" bIns="0">
            <a:spAutoFit/>
          </a:bodyPr>
          <a:lstStyle/>
          <a:p>
            <a:pPr algn="ctr">
              <a:lnSpc>
                <a:spcPct val="100000"/>
              </a:lnSpc>
            </a:pPr>
            <a:r>
              <a:rPr sz="860" b="1" i="0">
                <a:solidFill>
                  <a:srgbClr val="34E0A1"/>
                </a:solidFill>
                <a:latin typeface="Avenir Next"/>
              </a:rPr>
              <a:t>A holdout › B flawed › C observed › D hunch</a:t>
            </a:r>
          </a:p>
        </p:txBody>
      </p:sp>
      <p:sp>
        <p:nvSpPr>
          <p:cNvPr id="18" name="Rounded Rectangle 17"/>
          <p:cNvSpPr/>
          <p:nvPr/>
        </p:nvSpPr>
        <p:spPr>
          <a:xfrm>
            <a:off x="8037575" y="2670048"/>
            <a:ext cx="3127248" cy="1956816"/>
          </a:xfrm>
          <a:prstGeom prst="roundRect">
            <a:avLst>
              <a:gd name="adj" fmla="val 6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57031" y="2816352"/>
            <a:ext cx="2761488" cy="365760"/>
          </a:xfrm>
          <a:prstGeom prst="rect">
            <a:avLst/>
          </a:prstGeom>
          <a:noFill/>
        </p:spPr>
        <p:txBody>
          <a:bodyPr wrap="square" anchor="t" lIns="0" rIns="0" tIns="0" bIns="0">
            <a:spAutoFit/>
          </a:bodyPr>
          <a:lstStyle/>
          <a:p>
            <a:pPr algn="l">
              <a:lnSpc>
                <a:spcPct val="100000"/>
              </a:lnSpc>
            </a:pPr>
            <a:r>
              <a:rPr sz="1700" b="1" i="0">
                <a:solidFill>
                  <a:srgbClr val="FFFFFF"/>
                </a:solidFill>
                <a:latin typeface="IBM Plex Mono"/>
              </a:rPr>
              <a:t>views/</a:t>
            </a:r>
          </a:p>
        </p:txBody>
      </p:sp>
      <p:sp>
        <p:nvSpPr>
          <p:cNvPr id="20" name="TextBox 19"/>
          <p:cNvSpPr txBox="1"/>
          <p:nvPr/>
        </p:nvSpPr>
        <p:spPr>
          <a:xfrm>
            <a:off x="8257031" y="3182112"/>
            <a:ext cx="2761488" cy="274320"/>
          </a:xfrm>
          <a:prstGeom prst="rect">
            <a:avLst/>
          </a:prstGeom>
          <a:noFill/>
        </p:spPr>
        <p:txBody>
          <a:bodyPr wrap="square" anchor="t" lIns="0" rIns="0" tIns="0" bIns="0">
            <a:spAutoFit/>
          </a:bodyPr>
          <a:lstStyle/>
          <a:p>
            <a:pPr algn="l">
              <a:lnSpc>
                <a:spcPct val="100000"/>
              </a:lnSpc>
            </a:pPr>
            <a:r>
              <a:rPr sz="900" b="1" i="0">
                <a:solidFill>
                  <a:srgbClr val="A7C3B8"/>
                </a:solidFill>
                <a:latin typeface="Avenir Next"/>
              </a:rPr>
              <a:t>AUTO-GENERATED, ALWAYS IN SYNC</a:t>
            </a:r>
          </a:p>
        </p:txBody>
      </p:sp>
      <p:sp>
        <p:nvSpPr>
          <p:cNvPr id="21" name="TextBox 20"/>
          <p:cNvSpPr txBox="1"/>
          <p:nvPr/>
        </p:nvSpPr>
        <p:spPr>
          <a:xfrm>
            <a:off x="8257031" y="3511296"/>
            <a:ext cx="2715768" cy="960120"/>
          </a:xfrm>
          <a:prstGeom prst="rect">
            <a:avLst/>
          </a:prstGeom>
          <a:noFill/>
        </p:spPr>
        <p:txBody>
          <a:bodyPr wrap="square" anchor="t" lIns="0" rIns="0" tIns="0" bIns="0">
            <a:spAutoFit/>
          </a:bodyPr>
          <a:lstStyle/>
          <a:p>
            <a:pPr algn="l">
              <a:lnSpc>
                <a:spcPct val="103000"/>
              </a:lnSpc>
            </a:pPr>
            <a:r>
              <a:rPr sz="1030" b="0" i="0">
                <a:solidFill>
                  <a:srgbClr val="A7C3B8"/>
                </a:solidFill>
                <a:latin typeface="Helvetica Neue"/>
              </a:rPr>
              <a:t>Dashboard, learning note and draft spec, rendered from the evidence base, never hand-written. Cheap, disposable, always current.</a:t>
            </a:r>
          </a:p>
        </p:txBody>
      </p:sp>
      <p:sp>
        <p:nvSpPr>
          <p:cNvPr id="22" name="Right Arrow 21"/>
          <p:cNvSpPr/>
          <p:nvPr/>
        </p:nvSpPr>
        <p:spPr>
          <a:xfrm>
            <a:off x="3913632" y="3328415"/>
            <a:ext cx="457200" cy="365760"/>
          </a:xfrm>
          <a:prstGeom prst="rightArrow">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29584" y="3749039"/>
            <a:ext cx="1234440" cy="457200"/>
          </a:xfrm>
          <a:prstGeom prst="rect">
            <a:avLst/>
          </a:prstGeom>
          <a:noFill/>
        </p:spPr>
        <p:txBody>
          <a:bodyPr wrap="square" anchor="t" lIns="0" rIns="0" tIns="0" bIns="0">
            <a:spAutoFit/>
          </a:bodyPr>
          <a:lstStyle/>
          <a:p>
            <a:pPr algn="ctr">
              <a:lnSpc>
                <a:spcPct val="90000"/>
              </a:lnSpc>
            </a:pPr>
            <a:r>
              <a:rPr sz="850" b="1" i="0">
                <a:solidFill>
                  <a:srgbClr val="34E0A1"/>
                </a:solidFill>
                <a:latin typeface="Avenir Next"/>
              </a:rPr>
              <a:t>Analytics agent</a:t>
            </a:r>
          </a:p>
          <a:p>
            <a:pPr algn="ctr">
              <a:lnSpc>
                <a:spcPct val="90000"/>
              </a:lnSpc>
            </a:pPr>
            <a:r>
              <a:rPr sz="730" b="0" i="0">
                <a:solidFill>
                  <a:srgbClr val="A7C3B8"/>
                </a:solidFill>
                <a:latin typeface="Avenir Next"/>
              </a:rPr>
              <a:t>grade · update · flag</a:t>
            </a:r>
          </a:p>
        </p:txBody>
      </p:sp>
      <p:sp>
        <p:nvSpPr>
          <p:cNvPr id="24" name="Right Arrow 23"/>
          <p:cNvSpPr/>
          <p:nvPr/>
        </p:nvSpPr>
        <p:spPr>
          <a:xfrm>
            <a:off x="7543800" y="3328415"/>
            <a:ext cx="457200" cy="365760"/>
          </a:xfrm>
          <a:prstGeom prst="rightArrow">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59752" y="3749039"/>
            <a:ext cx="1234440" cy="457200"/>
          </a:xfrm>
          <a:prstGeom prst="rect">
            <a:avLst/>
          </a:prstGeom>
          <a:noFill/>
        </p:spPr>
        <p:txBody>
          <a:bodyPr wrap="square" anchor="t" lIns="0" rIns="0" tIns="0" bIns="0">
            <a:spAutoFit/>
          </a:bodyPr>
          <a:lstStyle/>
          <a:p>
            <a:pPr algn="ctr">
              <a:lnSpc>
                <a:spcPct val="90000"/>
              </a:lnSpc>
            </a:pPr>
            <a:r>
              <a:rPr sz="850" b="1" i="0">
                <a:solidFill>
                  <a:srgbClr val="34E0A1"/>
                </a:solidFill>
                <a:latin typeface="Avenir Next"/>
              </a:rPr>
              <a:t>Spec agent</a:t>
            </a:r>
          </a:p>
          <a:p>
            <a:pPr algn="ctr">
              <a:lnSpc>
                <a:spcPct val="90000"/>
              </a:lnSpc>
            </a:pPr>
            <a:r>
              <a:rPr sz="730" b="0" i="0">
                <a:solidFill>
                  <a:srgbClr val="A7C3B8"/>
                </a:solidFill>
                <a:latin typeface="Avenir Next"/>
              </a:rPr>
              <a:t>retrieve · draft</a:t>
            </a:r>
          </a:p>
        </p:txBody>
      </p:sp>
      <p:sp>
        <p:nvSpPr>
          <p:cNvPr id="26" name="Rounded Rectangle 25"/>
          <p:cNvSpPr/>
          <p:nvPr/>
        </p:nvSpPr>
        <p:spPr>
          <a:xfrm>
            <a:off x="777240" y="4846320"/>
            <a:ext cx="10652760" cy="530352"/>
          </a:xfrm>
          <a:prstGeom prst="roundRect">
            <a:avLst>
              <a:gd name="adj" fmla="val 6000"/>
            </a:avLst>
          </a:prstGeom>
          <a:solidFill>
            <a:srgbClr val="0E1F18"/>
          </a:solidFill>
          <a:ln w="12700">
            <a:solidFill>
              <a:srgbClr val="34E0A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4828032"/>
            <a:ext cx="10332720" cy="530352"/>
          </a:xfrm>
          <a:prstGeom prst="rect">
            <a:avLst/>
          </a:prstGeom>
          <a:noFill/>
        </p:spPr>
        <p:txBody>
          <a:bodyPr wrap="square" anchor="ctr" lIns="0" rIns="0" tIns="0" bIns="0">
            <a:spAutoFit/>
          </a:bodyPr>
          <a:lstStyle/>
          <a:p>
            <a:pPr algn="l">
              <a:lnSpc>
                <a:spcPct val="100000"/>
              </a:lnSpc>
            </a:pPr>
            <a:r>
              <a:rPr sz="1200" b="1" i="0">
                <a:solidFill>
                  <a:srgbClr val="34E0A1"/>
                </a:solidFill>
                <a:latin typeface="Helvetica Neue"/>
              </a:rPr>
              <a:t>⚡  The rule that would have caught Part 3:  </a:t>
            </a:r>
            <a:r>
              <a:rPr sz="1200" b="0" i="0">
                <a:solidFill>
                  <a:srgbClr val="FFFFFF"/>
                </a:solidFill>
                <a:latin typeface="Helvetica Neue"/>
              </a:rPr>
              <a:t>a grade-D hunch can never overrule a grade-A holdout. Evidence quality decides, not recency or seniority.</a:t>
            </a:r>
          </a:p>
        </p:txBody>
      </p:sp>
      <p:sp>
        <p:nvSpPr>
          <p:cNvPr id="28" name="TextBox 27"/>
          <p:cNvSpPr txBox="1"/>
          <p:nvPr/>
        </p:nvSpPr>
        <p:spPr>
          <a:xfrm>
            <a:off x="777240" y="5504688"/>
            <a:ext cx="10698480" cy="411480"/>
          </a:xfrm>
          <a:prstGeom prst="rect">
            <a:avLst/>
          </a:prstGeom>
          <a:noFill/>
        </p:spPr>
        <p:txBody>
          <a:bodyPr wrap="square" anchor="t" lIns="0" rIns="0" tIns="0" bIns="0">
            <a:spAutoFit/>
          </a:bodyPr>
          <a:lstStyle/>
          <a:p>
            <a:pPr algn="l">
              <a:lnSpc>
                <a:spcPct val="102000"/>
              </a:lnSpc>
            </a:pPr>
            <a:r>
              <a:rPr sz="1030" b="1" i="0">
                <a:solidFill>
                  <a:srgbClr val="FFFFFF"/>
                </a:solidFill>
                <a:latin typeface="Helvetica Neue"/>
              </a:rPr>
              <a:t>Humans validate:  </a:t>
            </a:r>
            <a:r>
              <a:rPr sz="1030" b="0" i="0">
                <a:solidFill>
                  <a:srgbClr val="A7C3B8"/>
                </a:solidFill>
                <a:latin typeface="Helvetica Neue"/>
              </a:rPr>
              <a:t>a new belief lands as </a:t>
            </a:r>
            <a:r>
              <a:rPr sz="1030" b="1" i="0">
                <a:solidFill>
                  <a:srgbClr val="34E0A1"/>
                </a:solidFill>
                <a:latin typeface="Helvetica Neue"/>
              </a:rPr>
              <a:t>candidate</a:t>
            </a:r>
            <a:r>
              <a:rPr sz="1030" b="0" i="0">
                <a:solidFill>
                  <a:srgbClr val="A7C3B8"/>
                </a:solidFill>
                <a:latin typeface="Helvetica Neue"/>
              </a:rPr>
              <a:t> → an analyst signs off and grades it → </a:t>
            </a:r>
            <a:r>
              <a:rPr sz="1030" b="1" i="0">
                <a:solidFill>
                  <a:srgbClr val="34E0A1"/>
                </a:solidFill>
                <a:latin typeface="Helvetica Neue"/>
              </a:rPr>
              <a:t>confirmed</a:t>
            </a:r>
            <a:r>
              <a:rPr sz="1030" b="0" i="0">
                <a:solidFill>
                  <a:srgbClr val="A7C3B8"/>
                </a:solidFill>
                <a:latin typeface="Helvetica Neue"/>
              </a:rPr>
              <a:t>. Contradictions are flagged for review, never silently overwritten.</a:t>
            </a:r>
          </a:p>
        </p:txBody>
      </p:sp>
      <p:sp>
        <p:nvSpPr>
          <p:cNvPr id="29" name="TextBox 28"/>
          <p:cNvSpPr txBox="1"/>
          <p:nvPr/>
        </p:nvSpPr>
        <p:spPr>
          <a:xfrm>
            <a:off x="777240" y="5943600"/>
            <a:ext cx="10698480" cy="365760"/>
          </a:xfrm>
          <a:prstGeom prst="rect">
            <a:avLst/>
          </a:prstGeom>
          <a:noFill/>
        </p:spPr>
        <p:txBody>
          <a:bodyPr wrap="square" anchor="t" lIns="0" rIns="0" tIns="0" bIns="0">
            <a:spAutoFit/>
          </a:bodyPr>
          <a:lstStyle/>
          <a:p>
            <a:pPr algn="l">
              <a:lnSpc>
                <a:spcPct val="102000"/>
              </a:lnSpc>
            </a:pPr>
            <a:r>
              <a:rPr sz="969" b="1" i="0">
                <a:solidFill>
                  <a:srgbClr val="FFFFFF"/>
                </a:solidFill>
                <a:latin typeface="Helvetica Neue"/>
              </a:rPr>
              <a:t>Measured by decision quality, not pages:  </a:t>
            </a:r>
            <a:r>
              <a:rPr sz="969" b="0" i="0">
                <a:solidFill>
                  <a:srgbClr val="A7C3B8"/>
                </a:solidFill>
                <a:latin typeface="Helvetica Neue"/>
              </a:rPr>
              <a:t>did retrieved evidence change a call, was it right, is it still fresh. Plain files you own, not locked in a vendor.</a:t>
            </a:r>
          </a:p>
        </p:txBody>
      </p:sp>
      <p:sp>
        <p:nvSpPr>
          <p:cNvPr id="30" name="TextBox 29"/>
          <p:cNvSpPr txBox="1"/>
          <p:nvPr/>
        </p:nvSpPr>
        <p:spPr>
          <a:xfrm>
            <a:off x="548640" y="6400800"/>
            <a:ext cx="7315200" cy="274320"/>
          </a:xfrm>
          <a:prstGeom prst="rect">
            <a:avLst/>
          </a:prstGeom>
          <a:noFill/>
        </p:spPr>
        <p:txBody>
          <a:bodyPr wrap="square" anchor="t" lIns="0" rIns="0" tIns="0" bIns="0">
            <a:spAutoFit/>
          </a:bodyPr>
          <a:lstStyle/>
          <a:p>
            <a:pPr algn="l">
              <a:lnSpc>
                <a:spcPct val="100000"/>
              </a:lnSpc>
            </a:pPr>
            <a:r>
              <a:rPr sz="900" b="0" i="0">
                <a:solidFill>
                  <a:srgbClr val="A7C3B8"/>
                </a:solidFill>
                <a:latin typeface="Helvetica Neue"/>
              </a:rPr>
              <a:t>Adrien Enjalbert  ·  AI Systems, Personalization &amp; Growth</a:t>
            </a:r>
          </a:p>
        </p:txBody>
      </p:sp>
      <p:sp>
        <p:nvSpPr>
          <p:cNvPr id="31" name="TextBox 30"/>
          <p:cNvSpPr txBox="1"/>
          <p:nvPr/>
        </p:nvSpPr>
        <p:spPr>
          <a:xfrm>
            <a:off x="10911535" y="6400800"/>
            <a:ext cx="731520" cy="274320"/>
          </a:xfrm>
          <a:prstGeom prst="rect">
            <a:avLst/>
          </a:prstGeom>
          <a:noFill/>
        </p:spPr>
        <p:txBody>
          <a:bodyPr wrap="square" anchor="t" lIns="0" rIns="0" tIns="0" bIns="0">
            <a:spAutoFit/>
          </a:bodyPr>
          <a:lstStyle/>
          <a:p>
            <a:pPr algn="r">
              <a:lnSpc>
                <a:spcPct val="100000"/>
              </a:lnSpc>
            </a:pPr>
            <a:r>
              <a:rPr sz="900" b="1" i="0">
                <a:solidFill>
                  <a:srgbClr val="A7C3B8"/>
                </a:solidFill>
                <a:latin typeface="Avenir Nex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566928"/>
            <a:ext cx="749808" cy="420624"/>
          </a:xfrm>
          <a:prstGeom prst="roundRect">
            <a:avLst>
              <a:gd name="adj" fmla="val 50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548640"/>
            <a:ext cx="749808" cy="420624"/>
          </a:xfrm>
          <a:prstGeom prst="rect">
            <a:avLst/>
          </a:prstGeom>
          <a:noFill/>
        </p:spPr>
        <p:txBody>
          <a:bodyPr wrap="square" anchor="ctr" lIns="0" rIns="0" tIns="0" bIns="0">
            <a:spAutoFit/>
          </a:bodyPr>
          <a:lstStyle/>
          <a:p>
            <a:pPr algn="ctr">
              <a:lnSpc>
                <a:spcPct val="100000"/>
              </a:lnSpc>
            </a:pPr>
            <a:r>
              <a:rPr sz="1400" b="1" i="0">
                <a:solidFill>
                  <a:srgbClr val="0A1512"/>
                </a:solidFill>
                <a:latin typeface="Avenir Next"/>
              </a:rPr>
              <a:t>2.4</a:t>
            </a:r>
          </a:p>
        </p:txBody>
      </p:sp>
      <p:sp>
        <p:nvSpPr>
          <p:cNvPr id="5" name="TextBox 4"/>
          <p:cNvSpPr txBox="1"/>
          <p:nvPr/>
        </p:nvSpPr>
        <p:spPr>
          <a:xfrm>
            <a:off x="1728216" y="548640"/>
            <a:ext cx="10058400" cy="457200"/>
          </a:xfrm>
          <a:prstGeom prst="rect">
            <a:avLst/>
          </a:prstGeom>
          <a:noFill/>
        </p:spPr>
        <p:txBody>
          <a:bodyPr wrap="square" anchor="ctr" lIns="0" rIns="0" tIns="0" bIns="0">
            <a:spAutoFit/>
          </a:bodyPr>
          <a:lstStyle/>
          <a:p>
            <a:pPr algn="l">
              <a:lnSpc>
                <a:spcPct val="100000"/>
              </a:lnSpc>
            </a:pPr>
            <a:r>
              <a:rPr sz="900" b="1" i="0">
                <a:solidFill>
                  <a:srgbClr val="A7BDB2"/>
                </a:solidFill>
                <a:latin typeface="Avenir Next"/>
              </a:rPr>
              <a:t>ANSWERING  </a:t>
            </a:r>
            <a:r>
              <a:rPr sz="1250" b="1" i="0">
                <a:solidFill>
                  <a:srgbClr val="13221C"/>
                </a:solidFill>
                <a:latin typeface="Avenir Next"/>
              </a:rPr>
              <a:t>How would you build AI customer personas?</a:t>
            </a:r>
          </a:p>
        </p:txBody>
      </p:sp>
      <p:sp>
        <p:nvSpPr>
          <p:cNvPr id="6" name="TextBox 5"/>
          <p:cNvSpPr txBox="1"/>
          <p:nvPr/>
        </p:nvSpPr>
        <p:spPr>
          <a:xfrm>
            <a:off x="731520" y="1188720"/>
            <a:ext cx="10881360" cy="868680"/>
          </a:xfrm>
          <a:prstGeom prst="rect">
            <a:avLst/>
          </a:prstGeom>
          <a:noFill/>
        </p:spPr>
        <p:txBody>
          <a:bodyPr wrap="square" anchor="t" lIns="0" rIns="0" tIns="0" bIns="0">
            <a:spAutoFit/>
          </a:bodyPr>
          <a:lstStyle/>
          <a:p>
            <a:pPr algn="l">
              <a:lnSpc>
                <a:spcPct val="100000"/>
              </a:lnSpc>
            </a:pPr>
            <a:r>
              <a:rPr sz="2700" b="1" i="0">
                <a:solidFill>
                  <a:srgbClr val="13221C"/>
                </a:solidFill>
                <a:latin typeface="Avenir Next"/>
              </a:rPr>
              <a:t>Five personas, built from behaviour, not stereotypes.</a:t>
            </a:r>
          </a:p>
        </p:txBody>
      </p:sp>
      <p:sp>
        <p:nvSpPr>
          <p:cNvPr id="7" name="TextBox 6"/>
          <p:cNvSpPr txBox="1"/>
          <p:nvPr/>
        </p:nvSpPr>
        <p:spPr>
          <a:xfrm>
            <a:off x="777240" y="2048256"/>
            <a:ext cx="10607040" cy="502920"/>
          </a:xfrm>
          <a:prstGeom prst="rect">
            <a:avLst/>
          </a:prstGeom>
          <a:noFill/>
        </p:spPr>
        <p:txBody>
          <a:bodyPr wrap="square" anchor="t" lIns="0" rIns="0" tIns="0" bIns="0">
            <a:spAutoFit/>
          </a:bodyPr>
          <a:lstStyle/>
          <a:p>
            <a:pPr algn="l">
              <a:lnSpc>
                <a:spcPct val="104000"/>
              </a:lnSpc>
            </a:pPr>
            <a:r>
              <a:rPr sz="1200" b="1" i="0">
                <a:solidFill>
                  <a:srgbClr val="00976E"/>
                </a:solidFill>
                <a:latin typeface="Helvetica Neue"/>
              </a:rPr>
              <a:t>What </a:t>
            </a:r>
            <a:r>
              <a:rPr sz="1200" b="0" i="0">
                <a:solidFill>
                  <a:srgbClr val="53635C"/>
                </a:solidFill>
                <a:latin typeface="Helvetica Neue"/>
              </a:rPr>
              <a:t>a data-built profile that predicts how a market reacts.  </a:t>
            </a:r>
            <a:r>
              <a:rPr sz="1200" b="1" i="0">
                <a:solidFill>
                  <a:srgbClr val="00976E"/>
                </a:solidFill>
                <a:latin typeface="Helvetica Neue"/>
              </a:rPr>
              <a:t>How </a:t>
            </a:r>
            <a:r>
              <a:rPr sz="1200" b="0" i="0">
                <a:solidFill>
                  <a:srgbClr val="53635C"/>
                </a:solidFill>
                <a:latin typeface="Helvetica Neue"/>
              </a:rPr>
              <a:t>from booking + holdout behaviour, not clichés.  </a:t>
            </a:r>
            <a:r>
              <a:rPr sz="1200" b="1" i="0">
                <a:solidFill>
                  <a:srgbClr val="00976E"/>
                </a:solidFill>
                <a:latin typeface="Helvetica Neue"/>
              </a:rPr>
              <a:t>Why </a:t>
            </a:r>
            <a:r>
              <a:rPr sz="1200" b="0" i="0">
                <a:solidFill>
                  <a:srgbClr val="53635C"/>
                </a:solidFill>
                <a:latin typeface="Helvetica Neue"/>
              </a:rPr>
              <a:t>to pressure-test an offer before spending a scarce slot, always an input to a real test, never the verdict.</a:t>
            </a:r>
          </a:p>
        </p:txBody>
      </p:sp>
      <p:sp>
        <p:nvSpPr>
          <p:cNvPr id="8" name="Rounded Rectangle 7"/>
          <p:cNvSpPr/>
          <p:nvPr/>
        </p:nvSpPr>
        <p:spPr>
          <a:xfrm>
            <a:off x="777240" y="2697480"/>
            <a:ext cx="2084831" cy="178308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898648"/>
            <a:ext cx="457200" cy="457200"/>
          </a:xfrm>
          <a:prstGeom prst="ellipse">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898648"/>
            <a:ext cx="457200" cy="457200"/>
          </a:xfrm>
          <a:prstGeom prst="rect">
            <a:avLst/>
          </a:prstGeom>
          <a:noFill/>
        </p:spPr>
        <p:txBody>
          <a:bodyPr wrap="square" anchor="ctr" lIns="0" rIns="0" tIns="0" bIns="0">
            <a:spAutoFit/>
          </a:bodyPr>
          <a:lstStyle/>
          <a:p>
            <a:pPr algn="ctr">
              <a:lnSpc>
                <a:spcPct val="100000"/>
              </a:lnSpc>
            </a:pPr>
            <a:r>
              <a:rPr sz="1200" b="1" i="0">
                <a:solidFill>
                  <a:srgbClr val="34E0A1"/>
                </a:solidFill>
                <a:latin typeface="Avenir Next"/>
              </a:rPr>
              <a:t>UK</a:t>
            </a:r>
          </a:p>
        </p:txBody>
      </p:sp>
      <p:sp>
        <p:nvSpPr>
          <p:cNvPr id="11" name="TextBox 10"/>
          <p:cNvSpPr txBox="1"/>
          <p:nvPr/>
        </p:nvSpPr>
        <p:spPr>
          <a:xfrm>
            <a:off x="1554480" y="2935224"/>
            <a:ext cx="1216151" cy="411480"/>
          </a:xfrm>
          <a:prstGeom prst="rect">
            <a:avLst/>
          </a:prstGeom>
          <a:noFill/>
        </p:spPr>
        <p:txBody>
          <a:bodyPr wrap="square" anchor="t" lIns="0" rIns="0" tIns="0" bIns="0">
            <a:spAutoFit/>
          </a:bodyPr>
          <a:lstStyle/>
          <a:p>
            <a:pPr algn="l">
              <a:lnSpc>
                <a:spcPct val="95000"/>
              </a:lnSpc>
            </a:pPr>
            <a:r>
              <a:rPr sz="1150" b="1" i="0">
                <a:solidFill>
                  <a:srgbClr val="13221C"/>
                </a:solidFill>
                <a:latin typeface="Avenir Next"/>
              </a:rPr>
              <a:t>Deal-aware, high basket</a:t>
            </a:r>
          </a:p>
        </p:txBody>
      </p:sp>
      <p:sp>
        <p:nvSpPr>
          <p:cNvPr id="12" name="TextBox 11"/>
          <p:cNvSpPr txBox="1"/>
          <p:nvPr/>
        </p:nvSpPr>
        <p:spPr>
          <a:xfrm>
            <a:off x="996695" y="3474720"/>
            <a:ext cx="1700784" cy="548640"/>
          </a:xfrm>
          <a:prstGeom prst="rect">
            <a:avLst/>
          </a:prstGeom>
          <a:noFill/>
        </p:spPr>
        <p:txBody>
          <a:bodyPr wrap="square" anchor="t" lIns="0" rIns="0" tIns="0" bIns="0">
            <a:spAutoFit/>
          </a:bodyPr>
          <a:lstStyle/>
          <a:p>
            <a:pPr algn="l">
              <a:lnSpc>
                <a:spcPct val="102000"/>
              </a:lnSpc>
            </a:pPr>
            <a:r>
              <a:rPr sz="1000" b="0" i="0">
                <a:solidFill>
                  <a:srgbClr val="53635C"/>
                </a:solidFill>
                <a:latin typeface="Helvetica Neue"/>
              </a:rPr>
              <a:t>Very incremental first (71%), wasteful repeat (31%).</a:t>
            </a:r>
          </a:p>
        </p:txBody>
      </p:sp>
      <p:sp>
        <p:nvSpPr>
          <p:cNvPr id="13" name="TextBox 12"/>
          <p:cNvSpPr txBox="1"/>
          <p:nvPr/>
        </p:nvSpPr>
        <p:spPr>
          <a:xfrm>
            <a:off x="996695" y="4023360"/>
            <a:ext cx="1700784" cy="411480"/>
          </a:xfrm>
          <a:prstGeom prst="rect">
            <a:avLst/>
          </a:prstGeom>
          <a:noFill/>
        </p:spPr>
        <p:txBody>
          <a:bodyPr wrap="square" anchor="t" lIns="0" rIns="0" tIns="0" bIns="0">
            <a:spAutoFit/>
          </a:bodyPr>
          <a:lstStyle/>
          <a:p>
            <a:pPr algn="l">
              <a:lnSpc>
                <a:spcPct val="100000"/>
              </a:lnSpc>
            </a:pPr>
            <a:r>
              <a:rPr sz="950" b="1" i="0">
                <a:solidFill>
                  <a:srgbClr val="00543D"/>
                </a:solidFill>
                <a:latin typeface="Helvetica Neue"/>
              </a:rPr>
              <a:t>Use for: </a:t>
            </a:r>
            <a:r>
              <a:rPr sz="950" b="0" i="0">
                <a:solidFill>
                  <a:srgbClr val="53635C"/>
                </a:solidFill>
                <a:latin typeface="Helvetica Neue"/>
              </a:rPr>
              <a:t>Where to stop discounting loyal buyers first.</a:t>
            </a:r>
          </a:p>
        </p:txBody>
      </p:sp>
      <p:sp>
        <p:nvSpPr>
          <p:cNvPr id="14" name="Rounded Rectangle 13"/>
          <p:cNvSpPr/>
          <p:nvPr/>
        </p:nvSpPr>
        <p:spPr>
          <a:xfrm>
            <a:off x="2999232" y="2697480"/>
            <a:ext cx="2084831" cy="178308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218687" y="2898648"/>
            <a:ext cx="457200" cy="457200"/>
          </a:xfrm>
          <a:prstGeom prst="ellipse">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18687" y="2898648"/>
            <a:ext cx="457200" cy="457200"/>
          </a:xfrm>
          <a:prstGeom prst="rect">
            <a:avLst/>
          </a:prstGeom>
          <a:noFill/>
        </p:spPr>
        <p:txBody>
          <a:bodyPr wrap="square" anchor="ctr" lIns="0" rIns="0" tIns="0" bIns="0">
            <a:spAutoFit/>
          </a:bodyPr>
          <a:lstStyle/>
          <a:p>
            <a:pPr algn="ctr">
              <a:lnSpc>
                <a:spcPct val="100000"/>
              </a:lnSpc>
            </a:pPr>
            <a:r>
              <a:rPr sz="1200" b="1" i="0">
                <a:solidFill>
                  <a:srgbClr val="34E0A1"/>
                </a:solidFill>
                <a:latin typeface="Avenir Next"/>
              </a:rPr>
              <a:t>FR</a:t>
            </a:r>
          </a:p>
        </p:txBody>
      </p:sp>
      <p:sp>
        <p:nvSpPr>
          <p:cNvPr id="17" name="TextBox 16"/>
          <p:cNvSpPr txBox="1"/>
          <p:nvPr/>
        </p:nvSpPr>
        <p:spPr>
          <a:xfrm>
            <a:off x="3776472" y="2935224"/>
            <a:ext cx="1216151" cy="411480"/>
          </a:xfrm>
          <a:prstGeom prst="rect">
            <a:avLst/>
          </a:prstGeom>
          <a:noFill/>
        </p:spPr>
        <p:txBody>
          <a:bodyPr wrap="square" anchor="t" lIns="0" rIns="0" tIns="0" bIns="0">
            <a:spAutoFit/>
          </a:bodyPr>
          <a:lstStyle/>
          <a:p>
            <a:pPr algn="l">
              <a:lnSpc>
                <a:spcPct val="95000"/>
              </a:lnSpc>
            </a:pPr>
            <a:r>
              <a:rPr sz="1150" b="1" i="0">
                <a:solidFill>
                  <a:srgbClr val="13221C"/>
                </a:solidFill>
                <a:latin typeface="Avenir Next"/>
              </a:rPr>
              <a:t>Read with caution</a:t>
            </a:r>
          </a:p>
        </p:txBody>
      </p:sp>
      <p:sp>
        <p:nvSpPr>
          <p:cNvPr id="18" name="TextBox 17"/>
          <p:cNvSpPr txBox="1"/>
          <p:nvPr/>
        </p:nvSpPr>
        <p:spPr>
          <a:xfrm>
            <a:off x="3218687" y="3474720"/>
            <a:ext cx="1700784" cy="548640"/>
          </a:xfrm>
          <a:prstGeom prst="rect">
            <a:avLst/>
          </a:prstGeom>
          <a:noFill/>
        </p:spPr>
        <p:txBody>
          <a:bodyPr wrap="square" anchor="t" lIns="0" rIns="0" tIns="0" bIns="0">
            <a:spAutoFit/>
          </a:bodyPr>
          <a:lstStyle/>
          <a:p>
            <a:pPr algn="l">
              <a:lnSpc>
                <a:spcPct val="102000"/>
              </a:lnSpc>
            </a:pPr>
            <a:r>
              <a:rPr sz="1000" b="0" i="0">
                <a:solidFill>
                  <a:srgbClr val="53635C"/>
                </a:solidFill>
                <a:latin typeface="Helvetica Neue"/>
              </a:rPr>
              <a:t>Targeting issue makes 58% directional, not fact.</a:t>
            </a:r>
          </a:p>
        </p:txBody>
      </p:sp>
      <p:sp>
        <p:nvSpPr>
          <p:cNvPr id="19" name="TextBox 18"/>
          <p:cNvSpPr txBox="1"/>
          <p:nvPr/>
        </p:nvSpPr>
        <p:spPr>
          <a:xfrm>
            <a:off x="3218687" y="4023360"/>
            <a:ext cx="1700784" cy="411480"/>
          </a:xfrm>
          <a:prstGeom prst="rect">
            <a:avLst/>
          </a:prstGeom>
          <a:noFill/>
        </p:spPr>
        <p:txBody>
          <a:bodyPr wrap="square" anchor="t" lIns="0" rIns="0" tIns="0" bIns="0">
            <a:spAutoFit/>
          </a:bodyPr>
          <a:lstStyle/>
          <a:p>
            <a:pPr algn="l">
              <a:lnSpc>
                <a:spcPct val="100000"/>
              </a:lnSpc>
            </a:pPr>
            <a:r>
              <a:rPr sz="950" b="1" i="0">
                <a:solidFill>
                  <a:srgbClr val="00543D"/>
                </a:solidFill>
                <a:latin typeface="Helvetica Neue"/>
              </a:rPr>
              <a:t>Use for: </a:t>
            </a:r>
            <a:r>
              <a:rPr sz="950" b="0" i="0">
                <a:solidFill>
                  <a:srgbClr val="53635C"/>
                </a:solidFill>
                <a:latin typeface="Helvetica Neue"/>
              </a:rPr>
              <a:t>What to fix before we test here.</a:t>
            </a:r>
          </a:p>
        </p:txBody>
      </p:sp>
      <p:sp>
        <p:nvSpPr>
          <p:cNvPr id="20" name="Rounded Rectangle 19"/>
          <p:cNvSpPr/>
          <p:nvPr/>
        </p:nvSpPr>
        <p:spPr>
          <a:xfrm>
            <a:off x="5221223" y="2697480"/>
            <a:ext cx="2084831" cy="178308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440679" y="2898648"/>
            <a:ext cx="457200" cy="457200"/>
          </a:xfrm>
          <a:prstGeom prst="ellipse">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40679" y="2898648"/>
            <a:ext cx="457200" cy="457200"/>
          </a:xfrm>
          <a:prstGeom prst="rect">
            <a:avLst/>
          </a:prstGeom>
          <a:noFill/>
        </p:spPr>
        <p:txBody>
          <a:bodyPr wrap="square" anchor="ctr" lIns="0" rIns="0" tIns="0" bIns="0">
            <a:spAutoFit/>
          </a:bodyPr>
          <a:lstStyle/>
          <a:p>
            <a:pPr algn="ctr">
              <a:lnSpc>
                <a:spcPct val="100000"/>
              </a:lnSpc>
            </a:pPr>
            <a:r>
              <a:rPr sz="1200" b="1" i="0">
                <a:solidFill>
                  <a:srgbClr val="34E0A1"/>
                </a:solidFill>
                <a:latin typeface="Avenir Next"/>
              </a:rPr>
              <a:t>DE</a:t>
            </a:r>
          </a:p>
        </p:txBody>
      </p:sp>
      <p:sp>
        <p:nvSpPr>
          <p:cNvPr id="23" name="TextBox 22"/>
          <p:cNvSpPr txBox="1"/>
          <p:nvPr/>
        </p:nvSpPr>
        <p:spPr>
          <a:xfrm>
            <a:off x="5998463" y="2935224"/>
            <a:ext cx="1216151" cy="411480"/>
          </a:xfrm>
          <a:prstGeom prst="rect">
            <a:avLst/>
          </a:prstGeom>
          <a:noFill/>
        </p:spPr>
        <p:txBody>
          <a:bodyPr wrap="square" anchor="t" lIns="0" rIns="0" tIns="0" bIns="0">
            <a:spAutoFit/>
          </a:bodyPr>
          <a:lstStyle/>
          <a:p>
            <a:pPr algn="l">
              <a:lnSpc>
                <a:spcPct val="95000"/>
              </a:lnSpc>
            </a:pPr>
            <a:r>
              <a:rPr sz="1150" b="1" i="0">
                <a:solidFill>
                  <a:srgbClr val="13221C"/>
                </a:solidFill>
                <a:latin typeface="Avenir Next"/>
              </a:rPr>
              <a:t>Framing-sensitive</a:t>
            </a:r>
          </a:p>
        </p:txBody>
      </p:sp>
      <p:sp>
        <p:nvSpPr>
          <p:cNvPr id="24" name="TextBox 23"/>
          <p:cNvSpPr txBox="1"/>
          <p:nvPr/>
        </p:nvSpPr>
        <p:spPr>
          <a:xfrm>
            <a:off x="5440679" y="3474720"/>
            <a:ext cx="1700784" cy="548640"/>
          </a:xfrm>
          <a:prstGeom prst="rect">
            <a:avLst/>
          </a:prstGeom>
          <a:noFill/>
        </p:spPr>
        <p:txBody>
          <a:bodyPr wrap="square" anchor="t" lIns="0" rIns="0" tIns="0" bIns="0">
            <a:spAutoFit/>
          </a:bodyPr>
          <a:lstStyle/>
          <a:p>
            <a:pPr algn="l">
              <a:lnSpc>
                <a:spcPct val="102000"/>
              </a:lnSpc>
            </a:pPr>
            <a:r>
              <a:rPr sz="1000" b="0" i="0">
                <a:solidFill>
                  <a:srgbClr val="53635C"/>
                </a:solidFill>
                <a:latin typeface="Helvetica Neue"/>
              </a:rPr>
              <a:t>Strong first-purchase; prefers fixed value (qual).</a:t>
            </a:r>
          </a:p>
        </p:txBody>
      </p:sp>
      <p:sp>
        <p:nvSpPr>
          <p:cNvPr id="25" name="TextBox 24"/>
          <p:cNvSpPr txBox="1"/>
          <p:nvPr/>
        </p:nvSpPr>
        <p:spPr>
          <a:xfrm>
            <a:off x="5440679" y="4023360"/>
            <a:ext cx="1700784" cy="411480"/>
          </a:xfrm>
          <a:prstGeom prst="rect">
            <a:avLst/>
          </a:prstGeom>
          <a:noFill/>
        </p:spPr>
        <p:txBody>
          <a:bodyPr wrap="square" anchor="t" lIns="0" rIns="0" tIns="0" bIns="0">
            <a:spAutoFit/>
          </a:bodyPr>
          <a:lstStyle/>
          <a:p>
            <a:pPr algn="l">
              <a:lnSpc>
                <a:spcPct val="100000"/>
              </a:lnSpc>
            </a:pPr>
            <a:r>
              <a:rPr sz="950" b="1" i="0">
                <a:solidFill>
                  <a:srgbClr val="00543D"/>
                </a:solidFill>
                <a:latin typeface="Helvetica Neue"/>
              </a:rPr>
              <a:t>Use for: </a:t>
            </a:r>
            <a:r>
              <a:rPr sz="950" b="0" i="0">
                <a:solidFill>
                  <a:srgbClr val="53635C"/>
                </a:solidFill>
                <a:latin typeface="Helvetica Neue"/>
              </a:rPr>
              <a:t>Pre-test fixed vs % at equal cost.</a:t>
            </a:r>
          </a:p>
        </p:txBody>
      </p:sp>
      <p:sp>
        <p:nvSpPr>
          <p:cNvPr id="26" name="Rounded Rectangle 25"/>
          <p:cNvSpPr/>
          <p:nvPr/>
        </p:nvSpPr>
        <p:spPr>
          <a:xfrm>
            <a:off x="7443215" y="2697480"/>
            <a:ext cx="2084831" cy="178308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62671" y="2898648"/>
            <a:ext cx="457200" cy="457200"/>
          </a:xfrm>
          <a:prstGeom prst="ellipse">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62671" y="2898648"/>
            <a:ext cx="457200" cy="457200"/>
          </a:xfrm>
          <a:prstGeom prst="rect">
            <a:avLst/>
          </a:prstGeom>
          <a:noFill/>
        </p:spPr>
        <p:txBody>
          <a:bodyPr wrap="square" anchor="ctr" lIns="0" rIns="0" tIns="0" bIns="0">
            <a:spAutoFit/>
          </a:bodyPr>
          <a:lstStyle/>
          <a:p>
            <a:pPr algn="ctr">
              <a:lnSpc>
                <a:spcPct val="100000"/>
              </a:lnSpc>
            </a:pPr>
            <a:r>
              <a:rPr sz="1200" b="1" i="0">
                <a:solidFill>
                  <a:srgbClr val="34E0A1"/>
                </a:solidFill>
                <a:latin typeface="Avenir Next"/>
              </a:rPr>
              <a:t>IT</a:t>
            </a:r>
          </a:p>
        </p:txBody>
      </p:sp>
      <p:sp>
        <p:nvSpPr>
          <p:cNvPr id="29" name="TextBox 28"/>
          <p:cNvSpPr txBox="1"/>
          <p:nvPr/>
        </p:nvSpPr>
        <p:spPr>
          <a:xfrm>
            <a:off x="8220455" y="2935224"/>
            <a:ext cx="1216151" cy="411480"/>
          </a:xfrm>
          <a:prstGeom prst="rect">
            <a:avLst/>
          </a:prstGeom>
          <a:noFill/>
        </p:spPr>
        <p:txBody>
          <a:bodyPr wrap="square" anchor="t" lIns="0" rIns="0" tIns="0" bIns="0">
            <a:spAutoFit/>
          </a:bodyPr>
          <a:lstStyle/>
          <a:p>
            <a:pPr algn="l">
              <a:lnSpc>
                <a:spcPct val="95000"/>
              </a:lnSpc>
            </a:pPr>
            <a:r>
              <a:rPr sz="1150" b="1" i="0">
                <a:solidFill>
                  <a:srgbClr val="13221C"/>
                </a:solidFill>
                <a:latin typeface="Avenir Next"/>
              </a:rPr>
              <a:t>Read with caution</a:t>
            </a:r>
          </a:p>
        </p:txBody>
      </p:sp>
      <p:sp>
        <p:nvSpPr>
          <p:cNvPr id="30" name="TextBox 29"/>
          <p:cNvSpPr txBox="1"/>
          <p:nvPr/>
        </p:nvSpPr>
        <p:spPr>
          <a:xfrm>
            <a:off x="7662671" y="3474720"/>
            <a:ext cx="1700784" cy="548640"/>
          </a:xfrm>
          <a:prstGeom prst="rect">
            <a:avLst/>
          </a:prstGeom>
          <a:noFill/>
        </p:spPr>
        <p:txBody>
          <a:bodyPr wrap="square" anchor="t" lIns="0" rIns="0" tIns="0" bIns="0">
            <a:spAutoFit/>
          </a:bodyPr>
          <a:lstStyle/>
          <a:p>
            <a:pPr algn="l">
              <a:lnSpc>
                <a:spcPct val="102000"/>
              </a:lnSpc>
            </a:pPr>
            <a:r>
              <a:rPr sz="1000" b="0" i="0">
                <a:solidFill>
                  <a:srgbClr val="53635C"/>
                </a:solidFill>
                <a:latin typeface="Helvetica Neue"/>
              </a:rPr>
              <a:t>Flagged; low basket (€79) shifts fixed-offer maths.</a:t>
            </a:r>
          </a:p>
        </p:txBody>
      </p:sp>
      <p:sp>
        <p:nvSpPr>
          <p:cNvPr id="31" name="TextBox 30"/>
          <p:cNvSpPr txBox="1"/>
          <p:nvPr/>
        </p:nvSpPr>
        <p:spPr>
          <a:xfrm>
            <a:off x="7662671" y="4023360"/>
            <a:ext cx="1700784" cy="411480"/>
          </a:xfrm>
          <a:prstGeom prst="rect">
            <a:avLst/>
          </a:prstGeom>
          <a:noFill/>
        </p:spPr>
        <p:txBody>
          <a:bodyPr wrap="square" anchor="t" lIns="0" rIns="0" tIns="0" bIns="0">
            <a:spAutoFit/>
          </a:bodyPr>
          <a:lstStyle/>
          <a:p>
            <a:pPr algn="l">
              <a:lnSpc>
                <a:spcPct val="100000"/>
              </a:lnSpc>
            </a:pPr>
            <a:r>
              <a:rPr sz="950" b="1" i="0">
                <a:solidFill>
                  <a:srgbClr val="00543D"/>
                </a:solidFill>
                <a:latin typeface="Helvetica Neue"/>
              </a:rPr>
              <a:t>Use for: </a:t>
            </a:r>
            <a:r>
              <a:rPr sz="950" b="0" i="0">
                <a:solidFill>
                  <a:srgbClr val="53635C"/>
                </a:solidFill>
                <a:latin typeface="Helvetica Neue"/>
              </a:rPr>
              <a:t>Sequencing: measure first, spend later.</a:t>
            </a:r>
          </a:p>
        </p:txBody>
      </p:sp>
      <p:sp>
        <p:nvSpPr>
          <p:cNvPr id="32" name="Rounded Rectangle 31"/>
          <p:cNvSpPr/>
          <p:nvPr/>
        </p:nvSpPr>
        <p:spPr>
          <a:xfrm>
            <a:off x="9665207" y="2697480"/>
            <a:ext cx="2084831" cy="178308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884663" y="2898648"/>
            <a:ext cx="457200" cy="457200"/>
          </a:xfrm>
          <a:prstGeom prst="ellipse">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84663" y="2898648"/>
            <a:ext cx="457200" cy="457200"/>
          </a:xfrm>
          <a:prstGeom prst="rect">
            <a:avLst/>
          </a:prstGeom>
          <a:noFill/>
        </p:spPr>
        <p:txBody>
          <a:bodyPr wrap="square" anchor="ctr" lIns="0" rIns="0" tIns="0" bIns="0">
            <a:spAutoFit/>
          </a:bodyPr>
          <a:lstStyle/>
          <a:p>
            <a:pPr algn="ctr">
              <a:lnSpc>
                <a:spcPct val="100000"/>
              </a:lnSpc>
            </a:pPr>
            <a:r>
              <a:rPr sz="1200" b="1" i="0">
                <a:solidFill>
                  <a:srgbClr val="34E0A1"/>
                </a:solidFill>
                <a:latin typeface="Avenir Next"/>
              </a:rPr>
              <a:t>ES</a:t>
            </a:r>
          </a:p>
        </p:txBody>
      </p:sp>
      <p:sp>
        <p:nvSpPr>
          <p:cNvPr id="35" name="TextBox 34"/>
          <p:cNvSpPr txBox="1"/>
          <p:nvPr/>
        </p:nvSpPr>
        <p:spPr>
          <a:xfrm>
            <a:off x="10442447" y="2935224"/>
            <a:ext cx="1216151" cy="411480"/>
          </a:xfrm>
          <a:prstGeom prst="rect">
            <a:avLst/>
          </a:prstGeom>
          <a:noFill/>
        </p:spPr>
        <p:txBody>
          <a:bodyPr wrap="square" anchor="t" lIns="0" rIns="0" tIns="0" bIns="0">
            <a:spAutoFit/>
          </a:bodyPr>
          <a:lstStyle/>
          <a:p>
            <a:pPr algn="l">
              <a:lnSpc>
                <a:spcPct val="95000"/>
              </a:lnSpc>
            </a:pPr>
            <a:r>
              <a:rPr sz="1150" b="1" i="0">
                <a:solidFill>
                  <a:srgbClr val="13221C"/>
                </a:solidFill>
                <a:latin typeface="Avenir Next"/>
              </a:rPr>
              <a:t>Clean but marginal</a:t>
            </a:r>
          </a:p>
        </p:txBody>
      </p:sp>
      <p:sp>
        <p:nvSpPr>
          <p:cNvPr id="36" name="TextBox 35"/>
          <p:cNvSpPr txBox="1"/>
          <p:nvPr/>
        </p:nvSpPr>
        <p:spPr>
          <a:xfrm>
            <a:off x="9884663" y="3474720"/>
            <a:ext cx="1700784" cy="548640"/>
          </a:xfrm>
          <a:prstGeom prst="rect">
            <a:avLst/>
          </a:prstGeom>
          <a:noFill/>
        </p:spPr>
        <p:txBody>
          <a:bodyPr wrap="square" anchor="t" lIns="0" rIns="0" tIns="0" bIns="0">
            <a:spAutoFit/>
          </a:bodyPr>
          <a:lstStyle/>
          <a:p>
            <a:pPr algn="l">
              <a:lnSpc>
                <a:spcPct val="102000"/>
              </a:lnSpc>
            </a:pPr>
            <a:r>
              <a:rPr sz="1000" b="0" i="0">
                <a:solidFill>
                  <a:srgbClr val="53635C"/>
                </a:solidFill>
                <a:latin typeface="Helvetica Neue"/>
              </a:rPr>
              <a:t>48% on the lowest basket (€75).</a:t>
            </a:r>
          </a:p>
        </p:txBody>
      </p:sp>
      <p:sp>
        <p:nvSpPr>
          <p:cNvPr id="37" name="TextBox 36"/>
          <p:cNvSpPr txBox="1"/>
          <p:nvPr/>
        </p:nvSpPr>
        <p:spPr>
          <a:xfrm>
            <a:off x="9884663" y="4023360"/>
            <a:ext cx="1700784" cy="411480"/>
          </a:xfrm>
          <a:prstGeom prst="rect">
            <a:avLst/>
          </a:prstGeom>
          <a:noFill/>
        </p:spPr>
        <p:txBody>
          <a:bodyPr wrap="square" anchor="t" lIns="0" rIns="0" tIns="0" bIns="0">
            <a:spAutoFit/>
          </a:bodyPr>
          <a:lstStyle/>
          <a:p>
            <a:pPr algn="l">
              <a:lnSpc>
                <a:spcPct val="100000"/>
              </a:lnSpc>
            </a:pPr>
            <a:r>
              <a:rPr sz="950" b="1" i="0">
                <a:solidFill>
                  <a:srgbClr val="00543D"/>
                </a:solidFill>
                <a:latin typeface="Helvetica Neue"/>
              </a:rPr>
              <a:t>Use for: </a:t>
            </a:r>
            <a:r>
              <a:rPr sz="950" b="0" i="0">
                <a:solidFill>
                  <a:srgbClr val="53635C"/>
                </a:solidFill>
                <a:latin typeface="Helvetica Neue"/>
              </a:rPr>
              <a:t>How shallow a discount still acquires.</a:t>
            </a:r>
          </a:p>
        </p:txBody>
      </p:sp>
      <p:sp>
        <p:nvSpPr>
          <p:cNvPr id="38" name="Rounded Rectangle 37"/>
          <p:cNvSpPr/>
          <p:nvPr/>
        </p:nvSpPr>
        <p:spPr>
          <a:xfrm>
            <a:off x="777240" y="4663440"/>
            <a:ext cx="5257800" cy="141732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77240" y="4663440"/>
            <a:ext cx="5257800" cy="73152"/>
          </a:xfrm>
          <a:prstGeom prst="rect">
            <a:avLst/>
          </a:prstGeom>
          <a:solidFill>
            <a:srgbClr val="14B0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51560" y="4809744"/>
            <a:ext cx="4800600" cy="320040"/>
          </a:xfrm>
          <a:prstGeom prst="rect">
            <a:avLst/>
          </a:prstGeom>
          <a:noFill/>
        </p:spPr>
        <p:txBody>
          <a:bodyPr wrap="square" anchor="t" lIns="0" rIns="0" tIns="0" bIns="0">
            <a:spAutoFit/>
          </a:bodyPr>
          <a:lstStyle/>
          <a:p>
            <a:pPr algn="l">
              <a:lnSpc>
                <a:spcPct val="100000"/>
              </a:lnSpc>
            </a:pPr>
            <a:r>
              <a:rPr sz="1100" b="1" i="0">
                <a:solidFill>
                  <a:srgbClr val="14B083"/>
                </a:solidFill>
                <a:latin typeface="Avenir Next"/>
              </a:rPr>
              <a:t>HOW I KEEP THEM HONEST</a:t>
            </a:r>
          </a:p>
        </p:txBody>
      </p:sp>
      <p:sp>
        <p:nvSpPr>
          <p:cNvPr id="41" name="TextBox 40"/>
          <p:cNvSpPr txBox="1"/>
          <p:nvPr/>
        </p:nvSpPr>
        <p:spPr>
          <a:xfrm>
            <a:off x="1051560" y="5166359"/>
            <a:ext cx="4754880" cy="868680"/>
          </a:xfrm>
          <a:prstGeom prst="rect">
            <a:avLst/>
          </a:prstGeom>
          <a:noFill/>
        </p:spPr>
        <p:txBody>
          <a:bodyPr wrap="square" anchor="t" lIns="0" rIns="0" tIns="0" bIns="0">
            <a:spAutoFit/>
          </a:bodyPr>
          <a:lstStyle/>
          <a:p>
            <a:pPr algn="l">
              <a:lnSpc>
                <a:spcPct val="106000"/>
              </a:lnSpc>
            </a:pPr>
            <a:r>
              <a:rPr sz="1050" b="1" i="0">
                <a:solidFill>
                  <a:srgbClr val="00976E"/>
                </a:solidFill>
                <a:latin typeface="Helvetica Neue"/>
              </a:rPr>
              <a:t>▸  </a:t>
            </a:r>
            <a:r>
              <a:rPr sz="1050" b="0" i="0">
                <a:solidFill>
                  <a:srgbClr val="53635C"/>
                </a:solidFill>
                <a:latin typeface="Helvetica Neue"/>
              </a:rPr>
              <a:t>Every trait traces to a booking or holdout number, not a stereotype.</a:t>
            </a:r>
          </a:p>
          <a:p>
            <a:pPr algn="l">
              <a:lnSpc>
                <a:spcPct val="106000"/>
              </a:lnSpc>
            </a:pPr>
            <a:r>
              <a:rPr sz="1050" b="1" i="0">
                <a:solidFill>
                  <a:srgbClr val="00976E"/>
                </a:solidFill>
                <a:latin typeface="Helvetica Neue"/>
              </a:rPr>
              <a:t>▸  </a:t>
            </a:r>
            <a:r>
              <a:rPr sz="1050" b="0" i="0">
                <a:solidFill>
                  <a:srgbClr val="53635C"/>
                </a:solidFill>
                <a:latin typeface="Helvetica Neue"/>
              </a:rPr>
              <a:t>Log persona predictions vs live results and recalibrate. A persona that always agrees is a red flag.</a:t>
            </a:r>
          </a:p>
        </p:txBody>
      </p:sp>
      <p:sp>
        <p:nvSpPr>
          <p:cNvPr id="42" name="Rounded Rectangle 41"/>
          <p:cNvSpPr/>
          <p:nvPr/>
        </p:nvSpPr>
        <p:spPr>
          <a:xfrm>
            <a:off x="6172200" y="4663440"/>
            <a:ext cx="5257800" cy="141732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72200" y="4663440"/>
            <a:ext cx="5257800" cy="73152"/>
          </a:xfrm>
          <a:prstGeom prst="rect">
            <a:avLst/>
          </a:prstGeom>
          <a:solidFill>
            <a:srgbClr val="F0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46520" y="4809744"/>
            <a:ext cx="4800600" cy="320040"/>
          </a:xfrm>
          <a:prstGeom prst="rect">
            <a:avLst/>
          </a:prstGeom>
          <a:noFill/>
        </p:spPr>
        <p:txBody>
          <a:bodyPr wrap="square" anchor="t" lIns="0" rIns="0" tIns="0" bIns="0">
            <a:spAutoFit/>
          </a:bodyPr>
          <a:lstStyle/>
          <a:p>
            <a:pPr algn="l">
              <a:lnSpc>
                <a:spcPct val="100000"/>
              </a:lnSpc>
            </a:pPr>
            <a:r>
              <a:rPr sz="1100" b="1" i="0">
                <a:solidFill>
                  <a:srgbClr val="F05B5B"/>
                </a:solidFill>
                <a:latin typeface="Avenir Next"/>
              </a:rPr>
              <a:t>WHEN I IGNORE IT</a:t>
            </a:r>
          </a:p>
        </p:txBody>
      </p:sp>
      <p:sp>
        <p:nvSpPr>
          <p:cNvPr id="45" name="TextBox 44"/>
          <p:cNvSpPr txBox="1"/>
          <p:nvPr/>
        </p:nvSpPr>
        <p:spPr>
          <a:xfrm>
            <a:off x="6446520" y="5166359"/>
            <a:ext cx="4754880" cy="868680"/>
          </a:xfrm>
          <a:prstGeom prst="rect">
            <a:avLst/>
          </a:prstGeom>
          <a:noFill/>
        </p:spPr>
        <p:txBody>
          <a:bodyPr wrap="square" anchor="t" lIns="0" rIns="0" tIns="0" bIns="0">
            <a:spAutoFit/>
          </a:bodyPr>
          <a:lstStyle/>
          <a:p>
            <a:pPr algn="l">
              <a:lnSpc>
                <a:spcPct val="106000"/>
              </a:lnSpc>
            </a:pPr>
            <a:r>
              <a:rPr sz="1050" b="1" i="0">
                <a:solidFill>
                  <a:srgbClr val="F05B5B"/>
                </a:solidFill>
                <a:latin typeface="Helvetica Neue"/>
              </a:rPr>
              <a:t>▸  </a:t>
            </a:r>
            <a:r>
              <a:rPr sz="1050" b="0" i="0">
                <a:solidFill>
                  <a:srgbClr val="53635C"/>
                </a:solidFill>
                <a:latin typeface="Helvetica Neue"/>
              </a:rPr>
              <a:t>When a live holdout contradicts it. Real data always wins.</a:t>
            </a:r>
          </a:p>
          <a:p>
            <a:pPr algn="l">
              <a:lnSpc>
                <a:spcPct val="106000"/>
              </a:lnSpc>
            </a:pPr>
            <a:r>
              <a:rPr sz="1050" b="1" i="0">
                <a:solidFill>
                  <a:srgbClr val="F05B5B"/>
                </a:solidFill>
                <a:latin typeface="Helvetica Neue"/>
              </a:rPr>
              <a:t>▸  </a:t>
            </a:r>
            <a:r>
              <a:rPr sz="1050" b="0" i="0">
                <a:solidFill>
                  <a:srgbClr val="53635C"/>
                </a:solidFill>
                <a:latin typeface="Helvetica Neue"/>
              </a:rPr>
              <a:t>On flagged markets, novel offers, or high-stakes one-way doors. It prompts a test, it doesn't replace one.</a:t>
            </a:r>
          </a:p>
        </p:txBody>
      </p:sp>
      <p:sp>
        <p:nvSpPr>
          <p:cNvPr id="46" name="TextBox 45"/>
          <p:cNvSpPr txBox="1"/>
          <p:nvPr/>
        </p:nvSpPr>
        <p:spPr>
          <a:xfrm>
            <a:off x="548640" y="6400800"/>
            <a:ext cx="7315200" cy="274320"/>
          </a:xfrm>
          <a:prstGeom prst="rect">
            <a:avLst/>
          </a:prstGeom>
          <a:noFill/>
        </p:spPr>
        <p:txBody>
          <a:bodyPr wrap="square" anchor="t" lIns="0" rIns="0" tIns="0" bIns="0">
            <a:spAutoFit/>
          </a:bodyPr>
          <a:lstStyle/>
          <a:p>
            <a:pPr algn="l">
              <a:lnSpc>
                <a:spcPct val="100000"/>
              </a:lnSpc>
            </a:pPr>
            <a:r>
              <a:rPr sz="900" b="0" i="0">
                <a:solidFill>
                  <a:srgbClr val="53635C"/>
                </a:solidFill>
                <a:latin typeface="Helvetica Neue"/>
              </a:rPr>
              <a:t>Adrien Enjalbert  ·  AI Systems, Personalization &amp; Growth</a:t>
            </a:r>
          </a:p>
        </p:txBody>
      </p:sp>
      <p:sp>
        <p:nvSpPr>
          <p:cNvPr id="47" name="TextBox 46"/>
          <p:cNvSpPr txBox="1"/>
          <p:nvPr/>
        </p:nvSpPr>
        <p:spPr>
          <a:xfrm>
            <a:off x="10911535" y="6400800"/>
            <a:ext cx="731520" cy="274320"/>
          </a:xfrm>
          <a:prstGeom prst="rect">
            <a:avLst/>
          </a:prstGeom>
          <a:noFill/>
        </p:spPr>
        <p:txBody>
          <a:bodyPr wrap="square" anchor="t" lIns="0" rIns="0" tIns="0" bIns="0">
            <a:spAutoFit/>
          </a:bodyPr>
          <a:lstStyle/>
          <a:p>
            <a:pPr algn="r">
              <a:lnSpc>
                <a:spcPct val="100000"/>
              </a:lnSpc>
            </a:pPr>
            <a:r>
              <a:rPr sz="900" b="1" i="0">
                <a:solidFill>
                  <a:srgbClr val="53635C"/>
                </a:solidFill>
                <a:latin typeface="Avenir Nex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566928"/>
            <a:ext cx="749808" cy="420624"/>
          </a:xfrm>
          <a:prstGeom prst="roundRect">
            <a:avLst>
              <a:gd name="adj" fmla="val 50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548640"/>
            <a:ext cx="749808" cy="420624"/>
          </a:xfrm>
          <a:prstGeom prst="rect">
            <a:avLst/>
          </a:prstGeom>
          <a:noFill/>
        </p:spPr>
        <p:txBody>
          <a:bodyPr wrap="square" anchor="ctr" lIns="0" rIns="0" tIns="0" bIns="0">
            <a:spAutoFit/>
          </a:bodyPr>
          <a:lstStyle/>
          <a:p>
            <a:pPr algn="ctr">
              <a:lnSpc>
                <a:spcPct val="100000"/>
              </a:lnSpc>
            </a:pPr>
            <a:r>
              <a:rPr sz="1400" b="1" i="0">
                <a:solidFill>
                  <a:srgbClr val="0A1512"/>
                </a:solidFill>
                <a:latin typeface="Avenir Next"/>
              </a:rPr>
              <a:t>2.5</a:t>
            </a:r>
          </a:p>
        </p:txBody>
      </p:sp>
      <p:sp>
        <p:nvSpPr>
          <p:cNvPr id="5" name="TextBox 4"/>
          <p:cNvSpPr txBox="1"/>
          <p:nvPr/>
        </p:nvSpPr>
        <p:spPr>
          <a:xfrm>
            <a:off x="1728216" y="548640"/>
            <a:ext cx="10058400" cy="457200"/>
          </a:xfrm>
          <a:prstGeom prst="rect">
            <a:avLst/>
          </a:prstGeom>
          <a:noFill/>
        </p:spPr>
        <p:txBody>
          <a:bodyPr wrap="square" anchor="ctr" lIns="0" rIns="0" tIns="0" bIns="0">
            <a:spAutoFit/>
          </a:bodyPr>
          <a:lstStyle/>
          <a:p>
            <a:pPr algn="l">
              <a:lnSpc>
                <a:spcPct val="100000"/>
              </a:lnSpc>
            </a:pPr>
            <a:r>
              <a:rPr sz="900" b="1" i="0">
                <a:solidFill>
                  <a:srgbClr val="A7BDB2"/>
                </a:solidFill>
                <a:latin typeface="Avenir Next"/>
              </a:rPr>
              <a:t>ANSWERING  </a:t>
            </a:r>
            <a:r>
              <a:rPr sz="1250" b="1" i="0">
                <a:solidFill>
                  <a:srgbClr val="13221C"/>
                </a:solidFill>
                <a:latin typeface="Avenir Next"/>
              </a:rPr>
              <a:t>How would you measure success at six months?</a:t>
            </a:r>
          </a:p>
        </p:txBody>
      </p:sp>
      <p:sp>
        <p:nvSpPr>
          <p:cNvPr id="6" name="TextBox 5"/>
          <p:cNvSpPr txBox="1"/>
          <p:nvPr/>
        </p:nvSpPr>
        <p:spPr>
          <a:xfrm>
            <a:off x="731520" y="1188720"/>
            <a:ext cx="10881360" cy="914400"/>
          </a:xfrm>
          <a:prstGeom prst="rect">
            <a:avLst/>
          </a:prstGeom>
          <a:noFill/>
        </p:spPr>
        <p:txBody>
          <a:bodyPr wrap="square" anchor="t" lIns="0" rIns="0" tIns="0" bIns="0">
            <a:spAutoFit/>
          </a:bodyPr>
          <a:lstStyle/>
          <a:p>
            <a:pPr algn="l">
              <a:lnSpc>
                <a:spcPct val="100000"/>
              </a:lnSpc>
            </a:pPr>
            <a:r>
              <a:rPr sz="2800" b="1" i="0">
                <a:solidFill>
                  <a:srgbClr val="13221C"/>
                </a:solidFill>
                <a:latin typeface="Avenir Next"/>
              </a:rPr>
              <a:t>Different metrics matter at different stages.</a:t>
            </a:r>
          </a:p>
        </p:txBody>
      </p:sp>
      <p:sp>
        <p:nvSpPr>
          <p:cNvPr id="7" name="TextBox 6"/>
          <p:cNvSpPr txBox="1"/>
          <p:nvPr/>
        </p:nvSpPr>
        <p:spPr>
          <a:xfrm>
            <a:off x="777240" y="2103120"/>
            <a:ext cx="10515600" cy="548640"/>
          </a:xfrm>
          <a:prstGeom prst="rect">
            <a:avLst/>
          </a:prstGeom>
          <a:noFill/>
        </p:spPr>
        <p:txBody>
          <a:bodyPr wrap="square" anchor="t" lIns="0" rIns="0" tIns="0" bIns="0">
            <a:spAutoFit/>
          </a:bodyPr>
          <a:lstStyle/>
          <a:p>
            <a:pPr algn="l">
              <a:lnSpc>
                <a:spcPct val="106000"/>
              </a:lnSpc>
            </a:pPr>
            <a:r>
              <a:rPr sz="1300" b="1" i="0">
                <a:solidFill>
                  <a:srgbClr val="13221C"/>
                </a:solidFill>
                <a:latin typeface="Helvetica Neue"/>
              </a:rPr>
              <a:t>Time saved</a:t>
            </a:r>
            <a:r>
              <a:rPr sz="1300" b="0" i="0">
                <a:solidFill>
                  <a:srgbClr val="53635C"/>
                </a:solidFill>
                <a:latin typeface="Helvetica Neue"/>
              </a:rPr>
              <a:t> is the hypothesis that wins the go-ahead; </a:t>
            </a:r>
            <a:r>
              <a:rPr sz="1300" b="1" i="0">
                <a:solidFill>
                  <a:srgbClr val="13221C"/>
                </a:solidFill>
                <a:latin typeface="Helvetica Neue"/>
              </a:rPr>
              <a:t>quality</a:t>
            </a:r>
            <a:r>
              <a:rPr sz="1300" b="0" i="0">
                <a:solidFill>
                  <a:srgbClr val="53635C"/>
                </a:solidFill>
                <a:latin typeface="Helvetica Neue"/>
              </a:rPr>
              <a:t> proves it works; </a:t>
            </a:r>
            <a:r>
              <a:rPr sz="1300" b="1" i="0">
                <a:solidFill>
                  <a:srgbClr val="13221C"/>
                </a:solidFill>
                <a:latin typeface="Helvetica Neue"/>
              </a:rPr>
              <a:t>adoption</a:t>
            </a:r>
            <a:r>
              <a:rPr sz="1300" b="0" i="0">
                <a:solidFill>
                  <a:srgbClr val="53635C"/>
                </a:solidFill>
                <a:latin typeface="Helvetica Neue"/>
              </a:rPr>
              <a:t> proves it landed; </a:t>
            </a:r>
            <a:r>
              <a:rPr sz="1300" b="1" i="0">
                <a:solidFill>
                  <a:srgbClr val="13221C"/>
                </a:solidFill>
                <a:latin typeface="Helvetica Neue"/>
              </a:rPr>
              <a:t>ROI</a:t>
            </a:r>
            <a:r>
              <a:rPr sz="1300" b="0" i="0">
                <a:solidFill>
                  <a:srgbClr val="53635C"/>
                </a:solidFill>
                <a:latin typeface="Helvetica Neue"/>
              </a:rPr>
              <a:t> proves it was worth running.</a:t>
            </a:r>
          </a:p>
        </p:txBody>
      </p:sp>
      <p:sp>
        <p:nvSpPr>
          <p:cNvPr id="8" name="Rectangle 7"/>
          <p:cNvSpPr/>
          <p:nvPr/>
        </p:nvSpPr>
        <p:spPr>
          <a:xfrm>
            <a:off x="914400" y="3328415"/>
            <a:ext cx="10332720" cy="27432"/>
          </a:xfrm>
          <a:prstGeom prst="rect">
            <a:avLst/>
          </a:prstGeom>
          <a:solidFill>
            <a:srgbClr val="DDE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880360"/>
            <a:ext cx="2514600" cy="310896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7240" y="2880360"/>
            <a:ext cx="2514600" cy="896112"/>
          </a:xfrm>
          <a:prstGeom prst="roundRect">
            <a:avLst>
              <a:gd name="adj" fmla="val 9000"/>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328415"/>
            <a:ext cx="2514600" cy="448056"/>
          </a:xfrm>
          <a:prstGeom prst="rect">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6695" y="3008376"/>
            <a:ext cx="2148840" cy="274320"/>
          </a:xfrm>
          <a:prstGeom prst="rect">
            <a:avLst/>
          </a:prstGeom>
          <a:noFill/>
        </p:spPr>
        <p:txBody>
          <a:bodyPr wrap="square" anchor="t" lIns="0" rIns="0" tIns="0" bIns="0">
            <a:spAutoFit/>
          </a:bodyPr>
          <a:lstStyle/>
          <a:p>
            <a:pPr algn="l">
              <a:lnSpc>
                <a:spcPct val="100000"/>
              </a:lnSpc>
            </a:pPr>
            <a:r>
              <a:rPr sz="1100" b="1" i="0">
                <a:solidFill>
                  <a:srgbClr val="34E0A1"/>
                </a:solidFill>
                <a:latin typeface="Avenir Next"/>
              </a:rPr>
              <a:t>1  </a:t>
            </a:r>
            <a:r>
              <a:rPr sz="1100" b="1" i="0">
                <a:solidFill>
                  <a:srgbClr val="FFFFFF"/>
                </a:solidFill>
                <a:latin typeface="Avenir Next"/>
              </a:rPr>
              <a:t>BEFORE</a:t>
            </a:r>
          </a:p>
        </p:txBody>
      </p:sp>
      <p:sp>
        <p:nvSpPr>
          <p:cNvPr id="13" name="TextBox 12"/>
          <p:cNvSpPr txBox="1"/>
          <p:nvPr/>
        </p:nvSpPr>
        <p:spPr>
          <a:xfrm>
            <a:off x="996695" y="3264408"/>
            <a:ext cx="2148840" cy="274320"/>
          </a:xfrm>
          <a:prstGeom prst="rect">
            <a:avLst/>
          </a:prstGeom>
          <a:noFill/>
        </p:spPr>
        <p:txBody>
          <a:bodyPr wrap="square" anchor="t" lIns="0" rIns="0" tIns="0" bIns="0">
            <a:spAutoFit/>
          </a:bodyPr>
          <a:lstStyle/>
          <a:p>
            <a:pPr algn="l">
              <a:lnSpc>
                <a:spcPct val="100000"/>
              </a:lnSpc>
            </a:pPr>
            <a:r>
              <a:rPr sz="1000" b="0" i="1">
                <a:solidFill>
                  <a:srgbClr val="A7C3B8"/>
                </a:solidFill>
                <a:latin typeface="Helvetica Neue"/>
              </a:rPr>
              <a:t>the hypothesis</a:t>
            </a:r>
          </a:p>
        </p:txBody>
      </p:sp>
      <p:sp>
        <p:nvSpPr>
          <p:cNvPr id="14" name="TextBox 13"/>
          <p:cNvSpPr txBox="1"/>
          <p:nvPr/>
        </p:nvSpPr>
        <p:spPr>
          <a:xfrm>
            <a:off x="996695" y="3483864"/>
            <a:ext cx="2148840" cy="274320"/>
          </a:xfrm>
          <a:prstGeom prst="rect">
            <a:avLst/>
          </a:prstGeom>
          <a:noFill/>
        </p:spPr>
        <p:txBody>
          <a:bodyPr wrap="square" anchor="t" lIns="0" rIns="0" tIns="0" bIns="0">
            <a:spAutoFit/>
          </a:bodyPr>
          <a:lstStyle/>
          <a:p>
            <a:pPr algn="l">
              <a:lnSpc>
                <a:spcPct val="100000"/>
              </a:lnSpc>
            </a:pPr>
            <a:r>
              <a:rPr sz="1350" b="1" i="0">
                <a:solidFill>
                  <a:srgbClr val="34E0A1"/>
                </a:solidFill>
                <a:latin typeface="Avenir Next"/>
              </a:rPr>
              <a:t>Time saved</a:t>
            </a:r>
          </a:p>
        </p:txBody>
      </p:sp>
      <p:sp>
        <p:nvSpPr>
          <p:cNvPr id="15" name="TextBox 14"/>
          <p:cNvSpPr txBox="1"/>
          <p:nvPr/>
        </p:nvSpPr>
        <p:spPr>
          <a:xfrm>
            <a:off x="996695" y="3941063"/>
            <a:ext cx="2112264" cy="1920240"/>
          </a:xfrm>
          <a:prstGeom prst="rect">
            <a:avLst/>
          </a:prstGeom>
          <a:noFill/>
        </p:spPr>
        <p:txBody>
          <a:bodyPr wrap="square" anchor="t" lIns="0" rIns="0" tIns="0" bIns="0">
            <a:spAutoFit/>
          </a:bodyPr>
          <a:lstStyle/>
          <a:p>
            <a:pPr algn="l">
              <a:lnSpc>
                <a:spcPct val="128000"/>
              </a:lnSpc>
            </a:pPr>
            <a:r>
              <a:rPr sz="1050" b="1" i="0">
                <a:solidFill>
                  <a:srgbClr val="00976E"/>
                </a:solidFill>
                <a:latin typeface="Helvetica Neue"/>
              </a:rPr>
              <a:t>▸  </a:t>
            </a:r>
            <a:r>
              <a:rPr sz="1050" b="0" i="0">
                <a:solidFill>
                  <a:srgbClr val="53635C"/>
                </a:solidFill>
                <a:latin typeface="Helvetica Neue"/>
              </a:rPr>
              <a:t>Analyst hours per experiment reclaimed</a:t>
            </a:r>
          </a:p>
          <a:p>
            <a:pPr algn="l">
              <a:lnSpc>
                <a:spcPct val="128000"/>
              </a:lnSpc>
            </a:pPr>
            <a:r>
              <a:rPr sz="1050" b="1" i="0">
                <a:solidFill>
                  <a:srgbClr val="00976E"/>
                </a:solidFill>
                <a:latin typeface="Helvetica Neue"/>
              </a:rPr>
              <a:t>▸  </a:t>
            </a:r>
            <a:r>
              <a:rPr sz="1050" b="0" i="0">
                <a:solidFill>
                  <a:srgbClr val="53635C"/>
                </a:solidFill>
                <a:latin typeface="Helvetica Neue"/>
              </a:rPr>
              <a:t>Idea-to-launch time (−60% target)</a:t>
            </a:r>
          </a:p>
          <a:p>
            <a:pPr algn="l">
              <a:lnSpc>
                <a:spcPct val="128000"/>
              </a:lnSpc>
            </a:pPr>
            <a:r>
              <a:rPr sz="1050" b="1" i="0">
                <a:solidFill>
                  <a:srgbClr val="00976E"/>
                </a:solidFill>
                <a:latin typeface="Helvetica Neue"/>
              </a:rPr>
              <a:t>▸  </a:t>
            </a:r>
            <a:r>
              <a:rPr sz="1050" b="0" i="0">
                <a:solidFill>
                  <a:srgbClr val="53635C"/>
                </a:solidFill>
                <a:latin typeface="Helvetica Neue"/>
              </a:rPr>
              <a:t>The business case that wins the go-ahead</a:t>
            </a:r>
          </a:p>
        </p:txBody>
      </p:sp>
      <p:sp>
        <p:nvSpPr>
          <p:cNvPr id="16" name="Rounded Rectangle 15"/>
          <p:cNvSpPr/>
          <p:nvPr/>
        </p:nvSpPr>
        <p:spPr>
          <a:xfrm>
            <a:off x="3474720" y="2880360"/>
            <a:ext cx="2514600" cy="310896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474720" y="2880360"/>
            <a:ext cx="2514600" cy="896112"/>
          </a:xfrm>
          <a:prstGeom prst="roundRect">
            <a:avLst>
              <a:gd name="adj" fmla="val 9000"/>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74720" y="3328415"/>
            <a:ext cx="2514600" cy="448056"/>
          </a:xfrm>
          <a:prstGeom prst="rect">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94176" y="3008376"/>
            <a:ext cx="2148840" cy="274320"/>
          </a:xfrm>
          <a:prstGeom prst="rect">
            <a:avLst/>
          </a:prstGeom>
          <a:noFill/>
        </p:spPr>
        <p:txBody>
          <a:bodyPr wrap="square" anchor="t" lIns="0" rIns="0" tIns="0" bIns="0">
            <a:spAutoFit/>
          </a:bodyPr>
          <a:lstStyle/>
          <a:p>
            <a:pPr algn="l">
              <a:lnSpc>
                <a:spcPct val="100000"/>
              </a:lnSpc>
            </a:pPr>
            <a:r>
              <a:rPr sz="1100" b="1" i="0">
                <a:solidFill>
                  <a:srgbClr val="34E0A1"/>
                </a:solidFill>
                <a:latin typeface="Avenir Next"/>
              </a:rPr>
              <a:t>2  </a:t>
            </a:r>
            <a:r>
              <a:rPr sz="1100" b="1" i="0">
                <a:solidFill>
                  <a:srgbClr val="FFFFFF"/>
                </a:solidFill>
                <a:latin typeface="Avenir Next"/>
              </a:rPr>
              <a:t>DURING BUILD</a:t>
            </a:r>
          </a:p>
        </p:txBody>
      </p:sp>
      <p:sp>
        <p:nvSpPr>
          <p:cNvPr id="20" name="TextBox 19"/>
          <p:cNvSpPr txBox="1"/>
          <p:nvPr/>
        </p:nvSpPr>
        <p:spPr>
          <a:xfrm>
            <a:off x="3694176" y="3264408"/>
            <a:ext cx="2148840" cy="274320"/>
          </a:xfrm>
          <a:prstGeom prst="rect">
            <a:avLst/>
          </a:prstGeom>
          <a:noFill/>
        </p:spPr>
        <p:txBody>
          <a:bodyPr wrap="square" anchor="t" lIns="0" rIns="0" tIns="0" bIns="0">
            <a:spAutoFit/>
          </a:bodyPr>
          <a:lstStyle/>
          <a:p>
            <a:pPr algn="l">
              <a:lnSpc>
                <a:spcPct val="100000"/>
              </a:lnSpc>
            </a:pPr>
            <a:r>
              <a:rPr sz="1000" b="0" i="1">
                <a:solidFill>
                  <a:srgbClr val="A7C3B8"/>
                </a:solidFill>
                <a:latin typeface="Helvetica Neue"/>
              </a:rPr>
              <a:t>does it work?</a:t>
            </a:r>
          </a:p>
        </p:txBody>
      </p:sp>
      <p:sp>
        <p:nvSpPr>
          <p:cNvPr id="21" name="TextBox 20"/>
          <p:cNvSpPr txBox="1"/>
          <p:nvPr/>
        </p:nvSpPr>
        <p:spPr>
          <a:xfrm>
            <a:off x="3694176" y="3483864"/>
            <a:ext cx="2148840" cy="274320"/>
          </a:xfrm>
          <a:prstGeom prst="rect">
            <a:avLst/>
          </a:prstGeom>
          <a:noFill/>
        </p:spPr>
        <p:txBody>
          <a:bodyPr wrap="square" anchor="t" lIns="0" rIns="0" tIns="0" bIns="0">
            <a:spAutoFit/>
          </a:bodyPr>
          <a:lstStyle/>
          <a:p>
            <a:pPr algn="l">
              <a:lnSpc>
                <a:spcPct val="100000"/>
              </a:lnSpc>
            </a:pPr>
            <a:r>
              <a:rPr sz="1350" b="1" i="0">
                <a:solidFill>
                  <a:srgbClr val="34E0A1"/>
                </a:solidFill>
                <a:latin typeface="Avenir Next"/>
              </a:rPr>
              <a:t>System quality</a:t>
            </a:r>
          </a:p>
        </p:txBody>
      </p:sp>
      <p:sp>
        <p:nvSpPr>
          <p:cNvPr id="22" name="TextBox 21"/>
          <p:cNvSpPr txBox="1"/>
          <p:nvPr/>
        </p:nvSpPr>
        <p:spPr>
          <a:xfrm>
            <a:off x="3694176" y="3941063"/>
            <a:ext cx="2112264" cy="1920240"/>
          </a:xfrm>
          <a:prstGeom prst="rect">
            <a:avLst/>
          </a:prstGeom>
          <a:noFill/>
        </p:spPr>
        <p:txBody>
          <a:bodyPr wrap="square" anchor="t" lIns="0" rIns="0" tIns="0" bIns="0">
            <a:spAutoFit/>
          </a:bodyPr>
          <a:lstStyle/>
          <a:p>
            <a:pPr algn="l">
              <a:lnSpc>
                <a:spcPct val="128000"/>
              </a:lnSpc>
            </a:pPr>
            <a:r>
              <a:rPr sz="1050" b="1" i="0">
                <a:solidFill>
                  <a:srgbClr val="00976E"/>
                </a:solidFill>
                <a:latin typeface="Helvetica Neue"/>
              </a:rPr>
              <a:t>▸  </a:t>
            </a:r>
            <a:r>
              <a:rPr sz="1050" b="0" i="0">
                <a:solidFill>
                  <a:srgbClr val="53635C"/>
                </a:solidFill>
                <a:latin typeface="Helvetica Neue"/>
              </a:rPr>
              <a:t>Spec accuracy &amp; acceptance rate</a:t>
            </a:r>
          </a:p>
          <a:p>
            <a:pPr algn="l">
              <a:lnSpc>
                <a:spcPct val="128000"/>
              </a:lnSpc>
            </a:pPr>
            <a:r>
              <a:rPr sz="1050" b="1" i="0">
                <a:solidFill>
                  <a:srgbClr val="00976E"/>
                </a:solidFill>
                <a:latin typeface="Helvetica Neue"/>
              </a:rPr>
              <a:t>▸  </a:t>
            </a:r>
            <a:r>
              <a:rPr sz="1050" b="0" i="0">
                <a:solidFill>
                  <a:srgbClr val="53635C"/>
                </a:solidFill>
                <a:latin typeface="Helvetica Neue"/>
              </a:rPr>
              <a:t>Experiment quality (reach significance)</a:t>
            </a:r>
          </a:p>
          <a:p>
            <a:pPr algn="l">
              <a:lnSpc>
                <a:spcPct val="128000"/>
              </a:lnSpc>
            </a:pPr>
            <a:r>
              <a:rPr sz="1050" b="1" i="0">
                <a:solidFill>
                  <a:srgbClr val="00976E"/>
                </a:solidFill>
                <a:latin typeface="Helvetica Neue"/>
              </a:rPr>
              <a:t>▸  </a:t>
            </a:r>
            <a:r>
              <a:rPr sz="1050" b="0" i="0">
                <a:solidFill>
                  <a:srgbClr val="53635C"/>
                </a:solidFill>
                <a:latin typeface="Helvetica Neue"/>
              </a:rPr>
              <a:t>QA catch rate; recommendation hit-rate</a:t>
            </a:r>
          </a:p>
        </p:txBody>
      </p:sp>
      <p:sp>
        <p:nvSpPr>
          <p:cNvPr id="23" name="Rounded Rectangle 22"/>
          <p:cNvSpPr/>
          <p:nvPr/>
        </p:nvSpPr>
        <p:spPr>
          <a:xfrm>
            <a:off x="6172200" y="2880360"/>
            <a:ext cx="2514600" cy="310896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72200" y="2880360"/>
            <a:ext cx="2514600" cy="896112"/>
          </a:xfrm>
          <a:prstGeom prst="roundRect">
            <a:avLst>
              <a:gd name="adj" fmla="val 9000"/>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72200" y="3328415"/>
            <a:ext cx="2514600" cy="448056"/>
          </a:xfrm>
          <a:prstGeom prst="rect">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91656" y="3008376"/>
            <a:ext cx="2148840" cy="274320"/>
          </a:xfrm>
          <a:prstGeom prst="rect">
            <a:avLst/>
          </a:prstGeom>
          <a:noFill/>
        </p:spPr>
        <p:txBody>
          <a:bodyPr wrap="square" anchor="t" lIns="0" rIns="0" tIns="0" bIns="0">
            <a:spAutoFit/>
          </a:bodyPr>
          <a:lstStyle/>
          <a:p>
            <a:pPr algn="l">
              <a:lnSpc>
                <a:spcPct val="100000"/>
              </a:lnSpc>
            </a:pPr>
            <a:r>
              <a:rPr sz="1100" b="1" i="0">
                <a:solidFill>
                  <a:srgbClr val="34E0A1"/>
                </a:solidFill>
                <a:latin typeface="Avenir Next"/>
              </a:rPr>
              <a:t>3  </a:t>
            </a:r>
            <a:r>
              <a:rPr sz="1100" b="1" i="0">
                <a:solidFill>
                  <a:srgbClr val="FFFFFF"/>
                </a:solidFill>
                <a:latin typeface="Avenir Next"/>
              </a:rPr>
              <a:t>AT LAUNCH</a:t>
            </a:r>
          </a:p>
        </p:txBody>
      </p:sp>
      <p:sp>
        <p:nvSpPr>
          <p:cNvPr id="27" name="TextBox 26"/>
          <p:cNvSpPr txBox="1"/>
          <p:nvPr/>
        </p:nvSpPr>
        <p:spPr>
          <a:xfrm>
            <a:off x="6391656" y="3264408"/>
            <a:ext cx="2148840" cy="274320"/>
          </a:xfrm>
          <a:prstGeom prst="rect">
            <a:avLst/>
          </a:prstGeom>
          <a:noFill/>
        </p:spPr>
        <p:txBody>
          <a:bodyPr wrap="square" anchor="t" lIns="0" rIns="0" tIns="0" bIns="0">
            <a:spAutoFit/>
          </a:bodyPr>
          <a:lstStyle/>
          <a:p>
            <a:pPr algn="l">
              <a:lnSpc>
                <a:spcPct val="100000"/>
              </a:lnSpc>
            </a:pPr>
            <a:r>
              <a:rPr sz="1000" b="0" i="1">
                <a:solidFill>
                  <a:srgbClr val="A7C3B8"/>
                </a:solidFill>
                <a:latin typeface="Helvetica Neue"/>
              </a:rPr>
              <a:t>did it land?</a:t>
            </a:r>
          </a:p>
        </p:txBody>
      </p:sp>
      <p:sp>
        <p:nvSpPr>
          <p:cNvPr id="28" name="TextBox 27"/>
          <p:cNvSpPr txBox="1"/>
          <p:nvPr/>
        </p:nvSpPr>
        <p:spPr>
          <a:xfrm>
            <a:off x="6391656" y="3483864"/>
            <a:ext cx="2148840" cy="274320"/>
          </a:xfrm>
          <a:prstGeom prst="rect">
            <a:avLst/>
          </a:prstGeom>
          <a:noFill/>
        </p:spPr>
        <p:txBody>
          <a:bodyPr wrap="square" anchor="t" lIns="0" rIns="0" tIns="0" bIns="0">
            <a:spAutoFit/>
          </a:bodyPr>
          <a:lstStyle/>
          <a:p>
            <a:pPr algn="l">
              <a:lnSpc>
                <a:spcPct val="100000"/>
              </a:lnSpc>
            </a:pPr>
            <a:r>
              <a:rPr sz="1350" b="1" i="0">
                <a:solidFill>
                  <a:srgbClr val="34E0A1"/>
                </a:solidFill>
                <a:latin typeface="Avenir Next"/>
              </a:rPr>
              <a:t>Adoption</a:t>
            </a:r>
          </a:p>
        </p:txBody>
      </p:sp>
      <p:sp>
        <p:nvSpPr>
          <p:cNvPr id="29" name="TextBox 28"/>
          <p:cNvSpPr txBox="1"/>
          <p:nvPr/>
        </p:nvSpPr>
        <p:spPr>
          <a:xfrm>
            <a:off x="6391656" y="3941063"/>
            <a:ext cx="2112264" cy="1920240"/>
          </a:xfrm>
          <a:prstGeom prst="rect">
            <a:avLst/>
          </a:prstGeom>
          <a:noFill/>
        </p:spPr>
        <p:txBody>
          <a:bodyPr wrap="square" anchor="t" lIns="0" rIns="0" tIns="0" bIns="0">
            <a:spAutoFit/>
          </a:bodyPr>
          <a:lstStyle/>
          <a:p>
            <a:pPr algn="l">
              <a:lnSpc>
                <a:spcPct val="128000"/>
              </a:lnSpc>
            </a:pPr>
            <a:r>
              <a:rPr sz="1050" b="1" i="0">
                <a:solidFill>
                  <a:srgbClr val="00976E"/>
                </a:solidFill>
                <a:latin typeface="Helvetica Neue"/>
              </a:rPr>
              <a:t>▸  </a:t>
            </a:r>
            <a:r>
              <a:rPr sz="1050" b="0" i="0">
                <a:solidFill>
                  <a:srgbClr val="53635C"/>
                </a:solidFill>
                <a:latin typeface="Helvetica Neue"/>
              </a:rPr>
              <a:t>Active users &amp; experiments run through it</a:t>
            </a:r>
          </a:p>
          <a:p>
            <a:pPr algn="l">
              <a:lnSpc>
                <a:spcPct val="128000"/>
              </a:lnSpc>
            </a:pPr>
            <a:r>
              <a:rPr sz="1050" b="1" i="0">
                <a:solidFill>
                  <a:srgbClr val="00976E"/>
                </a:solidFill>
                <a:latin typeface="Helvetica Neue"/>
              </a:rPr>
              <a:t>▸  </a:t>
            </a:r>
            <a:r>
              <a:rPr sz="1050" b="0" i="0">
                <a:solidFill>
                  <a:srgbClr val="53635C"/>
                </a:solidFill>
                <a:latin typeface="Helvetica Neue"/>
              </a:rPr>
              <a:t>Rests on UX + enablement + change mgmt</a:t>
            </a:r>
          </a:p>
          <a:p>
            <a:pPr algn="l">
              <a:lnSpc>
                <a:spcPct val="128000"/>
              </a:lnSpc>
            </a:pPr>
            <a:r>
              <a:rPr sz="1050" b="1" i="0">
                <a:solidFill>
                  <a:srgbClr val="00976E"/>
                </a:solidFill>
                <a:latin typeface="Helvetica Neue"/>
              </a:rPr>
              <a:t>▸  </a:t>
            </a:r>
            <a:r>
              <a:rPr sz="1050" b="0" i="0">
                <a:solidFill>
                  <a:srgbClr val="53635C"/>
                </a:solidFill>
                <a:latin typeface="Helvetica Neue"/>
              </a:rPr>
              <a:t>Then: stakeholder satisfaction</a:t>
            </a:r>
          </a:p>
        </p:txBody>
      </p:sp>
      <p:sp>
        <p:nvSpPr>
          <p:cNvPr id="30" name="Rounded Rectangle 29"/>
          <p:cNvSpPr/>
          <p:nvPr/>
        </p:nvSpPr>
        <p:spPr>
          <a:xfrm>
            <a:off x="8869680" y="2880360"/>
            <a:ext cx="2514600" cy="310896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869680" y="2880360"/>
            <a:ext cx="2514600" cy="896112"/>
          </a:xfrm>
          <a:prstGeom prst="roundRect">
            <a:avLst>
              <a:gd name="adj" fmla="val 9000"/>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69680" y="3328415"/>
            <a:ext cx="2514600" cy="448056"/>
          </a:xfrm>
          <a:prstGeom prst="rect">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89136" y="3008376"/>
            <a:ext cx="2148840" cy="274320"/>
          </a:xfrm>
          <a:prstGeom prst="rect">
            <a:avLst/>
          </a:prstGeom>
          <a:noFill/>
        </p:spPr>
        <p:txBody>
          <a:bodyPr wrap="square" anchor="t" lIns="0" rIns="0" tIns="0" bIns="0">
            <a:spAutoFit/>
          </a:bodyPr>
          <a:lstStyle/>
          <a:p>
            <a:pPr algn="l">
              <a:lnSpc>
                <a:spcPct val="100000"/>
              </a:lnSpc>
            </a:pPr>
            <a:r>
              <a:rPr sz="1100" b="1" i="0">
                <a:solidFill>
                  <a:srgbClr val="34E0A1"/>
                </a:solidFill>
                <a:latin typeface="Avenir Next"/>
              </a:rPr>
              <a:t>4  </a:t>
            </a:r>
            <a:r>
              <a:rPr sz="1100" b="1" i="0">
                <a:solidFill>
                  <a:srgbClr val="FFFFFF"/>
                </a:solidFill>
                <a:latin typeface="Avenir Next"/>
              </a:rPr>
              <a:t>6 MONTHS</a:t>
            </a:r>
          </a:p>
        </p:txBody>
      </p:sp>
      <p:sp>
        <p:nvSpPr>
          <p:cNvPr id="34" name="TextBox 33"/>
          <p:cNvSpPr txBox="1"/>
          <p:nvPr/>
        </p:nvSpPr>
        <p:spPr>
          <a:xfrm>
            <a:off x="9089136" y="3264408"/>
            <a:ext cx="2148840" cy="274320"/>
          </a:xfrm>
          <a:prstGeom prst="rect">
            <a:avLst/>
          </a:prstGeom>
          <a:noFill/>
        </p:spPr>
        <p:txBody>
          <a:bodyPr wrap="square" anchor="t" lIns="0" rIns="0" tIns="0" bIns="0">
            <a:spAutoFit/>
          </a:bodyPr>
          <a:lstStyle/>
          <a:p>
            <a:pPr algn="l">
              <a:lnSpc>
                <a:spcPct val="100000"/>
              </a:lnSpc>
            </a:pPr>
            <a:r>
              <a:rPr sz="1000" b="0" i="1">
                <a:solidFill>
                  <a:srgbClr val="A7C3B8"/>
                </a:solidFill>
                <a:latin typeface="Helvetica Neue"/>
              </a:rPr>
              <a:t>was it worth it?</a:t>
            </a:r>
          </a:p>
        </p:txBody>
      </p:sp>
      <p:sp>
        <p:nvSpPr>
          <p:cNvPr id="35" name="TextBox 34"/>
          <p:cNvSpPr txBox="1"/>
          <p:nvPr/>
        </p:nvSpPr>
        <p:spPr>
          <a:xfrm>
            <a:off x="9089136" y="3483864"/>
            <a:ext cx="2148840" cy="274320"/>
          </a:xfrm>
          <a:prstGeom prst="rect">
            <a:avLst/>
          </a:prstGeom>
          <a:noFill/>
        </p:spPr>
        <p:txBody>
          <a:bodyPr wrap="square" anchor="t" lIns="0" rIns="0" tIns="0" bIns="0">
            <a:spAutoFit/>
          </a:bodyPr>
          <a:lstStyle/>
          <a:p>
            <a:pPr algn="l">
              <a:lnSpc>
                <a:spcPct val="100000"/>
              </a:lnSpc>
            </a:pPr>
            <a:r>
              <a:rPr sz="1350" b="1" i="0">
                <a:solidFill>
                  <a:srgbClr val="34E0A1"/>
                </a:solidFill>
                <a:latin typeface="Avenir Next"/>
              </a:rPr>
              <a:t>Revenue &amp; ROI</a:t>
            </a:r>
          </a:p>
        </p:txBody>
      </p:sp>
      <p:sp>
        <p:nvSpPr>
          <p:cNvPr id="36" name="TextBox 35"/>
          <p:cNvSpPr txBox="1"/>
          <p:nvPr/>
        </p:nvSpPr>
        <p:spPr>
          <a:xfrm>
            <a:off x="9089136" y="3941063"/>
            <a:ext cx="2112264" cy="1920240"/>
          </a:xfrm>
          <a:prstGeom prst="rect">
            <a:avLst/>
          </a:prstGeom>
          <a:noFill/>
        </p:spPr>
        <p:txBody>
          <a:bodyPr wrap="square" anchor="t" lIns="0" rIns="0" tIns="0" bIns="0">
            <a:spAutoFit/>
          </a:bodyPr>
          <a:lstStyle/>
          <a:p>
            <a:pPr algn="l">
              <a:lnSpc>
                <a:spcPct val="128000"/>
              </a:lnSpc>
            </a:pPr>
            <a:r>
              <a:rPr sz="1050" b="1" i="0">
                <a:solidFill>
                  <a:srgbClr val="00976E"/>
                </a:solidFill>
                <a:latin typeface="Helvetica Neue"/>
              </a:rPr>
              <a:t>▸  </a:t>
            </a:r>
            <a:r>
              <a:rPr sz="1050" b="0" i="0">
                <a:solidFill>
                  <a:srgbClr val="53635C"/>
                </a:solidFill>
                <a:latin typeface="Helvetica Neue"/>
              </a:rPr>
              <a:t>Net incremental revenue per £ of promo</a:t>
            </a:r>
          </a:p>
          <a:p>
            <a:pPr algn="l">
              <a:lnSpc>
                <a:spcPct val="128000"/>
              </a:lnSpc>
            </a:pPr>
            <a:r>
              <a:rPr sz="1050" b="1" i="0">
                <a:solidFill>
                  <a:srgbClr val="00976E"/>
                </a:solidFill>
                <a:latin typeface="Helvetica Neue"/>
              </a:rPr>
              <a:t>▸  </a:t>
            </a:r>
            <a:r>
              <a:rPr sz="1050" b="0" i="0">
                <a:solidFill>
                  <a:srgbClr val="53635C"/>
                </a:solidFill>
                <a:latin typeface="Helvetica Neue"/>
              </a:rPr>
              <a:t>Spend cut while bookings hold</a:t>
            </a:r>
          </a:p>
          <a:p>
            <a:pPr algn="l">
              <a:lnSpc>
                <a:spcPct val="128000"/>
              </a:lnSpc>
            </a:pPr>
            <a:r>
              <a:rPr sz="1050" b="1" i="0">
                <a:solidFill>
                  <a:srgbClr val="00976E"/>
                </a:solidFill>
                <a:latin typeface="Helvetica Neue"/>
              </a:rPr>
              <a:t>▸  </a:t>
            </a:r>
            <a:r>
              <a:rPr sz="1050" b="0" i="0">
                <a:solidFill>
                  <a:srgbClr val="53635C"/>
                </a:solidFill>
                <a:latin typeface="Helvetica Neue"/>
              </a:rPr>
              <a:t>ROI net of run-cost (AI isn't free to run)</a:t>
            </a:r>
          </a:p>
        </p:txBody>
      </p:sp>
      <p:sp>
        <p:nvSpPr>
          <p:cNvPr id="37" name="TextBox 36"/>
          <p:cNvSpPr txBox="1"/>
          <p:nvPr/>
        </p:nvSpPr>
        <p:spPr>
          <a:xfrm>
            <a:off x="777240" y="6144768"/>
            <a:ext cx="10607040" cy="365760"/>
          </a:xfrm>
          <a:prstGeom prst="rect">
            <a:avLst/>
          </a:prstGeom>
          <a:noFill/>
        </p:spPr>
        <p:txBody>
          <a:bodyPr wrap="square" anchor="t" lIns="0" rIns="0" tIns="0" bIns="0">
            <a:spAutoFit/>
          </a:bodyPr>
          <a:lstStyle/>
          <a:p>
            <a:pPr algn="l">
              <a:lnSpc>
                <a:spcPct val="100000"/>
              </a:lnSpc>
            </a:pPr>
            <a:r>
              <a:rPr sz="1100" b="1" i="0">
                <a:solidFill>
                  <a:srgbClr val="13221C"/>
                </a:solidFill>
                <a:latin typeface="Helvetica Neue"/>
              </a:rPr>
              <a:t>Adoption is the real leading indicator: </a:t>
            </a:r>
            <a:r>
              <a:rPr sz="1100" b="0" i="0">
                <a:solidFill>
                  <a:srgbClr val="53635C"/>
                </a:solidFill>
                <a:latin typeface="Helvetica Neue"/>
              </a:rPr>
              <a:t>a technically great system nobody uses returns nothing, which is why UX and enablement sit inside the metric, not beside it.</a:t>
            </a:r>
          </a:p>
        </p:txBody>
      </p:sp>
      <p:sp>
        <p:nvSpPr>
          <p:cNvPr id="38" name="TextBox 37"/>
          <p:cNvSpPr txBox="1"/>
          <p:nvPr/>
        </p:nvSpPr>
        <p:spPr>
          <a:xfrm>
            <a:off x="548640" y="6400800"/>
            <a:ext cx="7315200" cy="274320"/>
          </a:xfrm>
          <a:prstGeom prst="rect">
            <a:avLst/>
          </a:prstGeom>
          <a:noFill/>
        </p:spPr>
        <p:txBody>
          <a:bodyPr wrap="square" anchor="t" lIns="0" rIns="0" tIns="0" bIns="0">
            <a:spAutoFit/>
          </a:bodyPr>
          <a:lstStyle/>
          <a:p>
            <a:pPr algn="l">
              <a:lnSpc>
                <a:spcPct val="100000"/>
              </a:lnSpc>
            </a:pPr>
            <a:r>
              <a:rPr sz="900" b="0" i="0">
                <a:solidFill>
                  <a:srgbClr val="53635C"/>
                </a:solidFill>
                <a:latin typeface="Helvetica Neue"/>
              </a:rPr>
              <a:t>Adrien Enjalbert  ·  AI Systems, Personalization &amp; Growth</a:t>
            </a:r>
          </a:p>
        </p:txBody>
      </p:sp>
      <p:sp>
        <p:nvSpPr>
          <p:cNvPr id="39" name="TextBox 38"/>
          <p:cNvSpPr txBox="1"/>
          <p:nvPr/>
        </p:nvSpPr>
        <p:spPr>
          <a:xfrm>
            <a:off x="10911535" y="6400800"/>
            <a:ext cx="731520" cy="274320"/>
          </a:xfrm>
          <a:prstGeom prst="rect">
            <a:avLst/>
          </a:prstGeom>
          <a:noFill/>
        </p:spPr>
        <p:txBody>
          <a:bodyPr wrap="square" anchor="t" lIns="0" rIns="0" tIns="0" bIns="0">
            <a:spAutoFit/>
          </a:bodyPr>
          <a:lstStyle/>
          <a:p>
            <a:pPr algn="r">
              <a:lnSpc>
                <a:spcPct val="100000"/>
              </a:lnSpc>
            </a:pPr>
            <a:r>
              <a:rPr sz="900" b="1" i="0">
                <a:solidFill>
                  <a:srgbClr val="53635C"/>
                </a:solidFill>
                <a:latin typeface="Avenir Nex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640080"/>
            <a:ext cx="502920" cy="50292"/>
          </a:xfrm>
          <a:prstGeom prst="rect">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68680"/>
            <a:ext cx="7315200" cy="320040"/>
          </a:xfrm>
          <a:prstGeom prst="rect">
            <a:avLst/>
          </a:prstGeom>
          <a:noFill/>
        </p:spPr>
        <p:txBody>
          <a:bodyPr wrap="square" anchor="t" lIns="0" rIns="0" tIns="0" bIns="0">
            <a:spAutoFit/>
          </a:bodyPr>
          <a:lstStyle/>
          <a:p>
            <a:pPr algn="l">
              <a:lnSpc>
                <a:spcPct val="100000"/>
              </a:lnSpc>
            </a:pPr>
            <a:r>
              <a:rPr sz="1200" b="1" i="0">
                <a:solidFill>
                  <a:srgbClr val="00976E"/>
                </a:solidFill>
                <a:latin typeface="Avenir Next"/>
              </a:rPr>
              <a:t>IN PRACTICE  ·  PART 2  ·  INTEGRATION</a:t>
            </a:r>
          </a:p>
        </p:txBody>
      </p:sp>
      <p:sp>
        <p:nvSpPr>
          <p:cNvPr id="5" name="TextBox 4"/>
          <p:cNvSpPr txBox="1"/>
          <p:nvPr/>
        </p:nvSpPr>
        <p:spPr>
          <a:xfrm>
            <a:off x="731520" y="1188720"/>
            <a:ext cx="10881360" cy="914400"/>
          </a:xfrm>
          <a:prstGeom prst="rect">
            <a:avLst/>
          </a:prstGeom>
          <a:noFill/>
        </p:spPr>
        <p:txBody>
          <a:bodyPr wrap="square" anchor="t" lIns="0" rIns="0" tIns="0" bIns="0">
            <a:spAutoFit/>
          </a:bodyPr>
          <a:lstStyle/>
          <a:p>
            <a:pPr algn="l">
              <a:lnSpc>
                <a:spcPct val="100000"/>
              </a:lnSpc>
            </a:pPr>
            <a:r>
              <a:rPr sz="3000" b="1" i="0">
                <a:solidFill>
                  <a:srgbClr val="13221C"/>
                </a:solidFill>
                <a:latin typeface="Avenir Next"/>
              </a:rPr>
              <a:t>Integration, not islands.</a:t>
            </a:r>
          </a:p>
        </p:txBody>
      </p:sp>
      <p:sp>
        <p:nvSpPr>
          <p:cNvPr id="6" name="TextBox 5"/>
          <p:cNvSpPr txBox="1"/>
          <p:nvPr/>
        </p:nvSpPr>
        <p:spPr>
          <a:xfrm>
            <a:off x="777240" y="2103120"/>
            <a:ext cx="10424160" cy="640080"/>
          </a:xfrm>
          <a:prstGeom prst="rect">
            <a:avLst/>
          </a:prstGeom>
          <a:noFill/>
        </p:spPr>
        <p:txBody>
          <a:bodyPr wrap="square" anchor="t" lIns="0" rIns="0" tIns="0" bIns="0">
            <a:spAutoFit/>
          </a:bodyPr>
          <a:lstStyle/>
          <a:p>
            <a:pPr algn="l">
              <a:lnSpc>
                <a:spcPct val="110000"/>
              </a:lnSpc>
            </a:pPr>
            <a:r>
              <a:rPr sz="1350" b="0" i="0">
                <a:solidFill>
                  <a:srgbClr val="53635C"/>
                </a:solidFill>
                <a:latin typeface="Helvetica Neue"/>
              </a:rPr>
              <a:t>The value only lands if this plugs into the systems teams already run. A standalone tool gets ignored. So the AI layer sits in the middle of the existing stack, reading clean data and writing back into the tools where work happens.</a:t>
            </a:r>
          </a:p>
        </p:txBody>
      </p:sp>
      <p:sp>
        <p:nvSpPr>
          <p:cNvPr id="7" name="Rounded Rectangle 6"/>
          <p:cNvSpPr/>
          <p:nvPr/>
        </p:nvSpPr>
        <p:spPr>
          <a:xfrm>
            <a:off x="777240" y="3108960"/>
            <a:ext cx="2514600" cy="105156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255264"/>
            <a:ext cx="2148840" cy="457200"/>
          </a:xfrm>
          <a:prstGeom prst="rect">
            <a:avLst/>
          </a:prstGeom>
          <a:noFill/>
        </p:spPr>
        <p:txBody>
          <a:bodyPr wrap="square" anchor="t" lIns="0" rIns="0" tIns="0" bIns="0">
            <a:spAutoFit/>
          </a:bodyPr>
          <a:lstStyle/>
          <a:p>
            <a:pPr algn="l">
              <a:lnSpc>
                <a:spcPct val="98000"/>
              </a:lnSpc>
            </a:pPr>
            <a:r>
              <a:rPr sz="1300" b="1" i="0">
                <a:solidFill>
                  <a:srgbClr val="13221C"/>
                </a:solidFill>
                <a:latin typeface="Avenir Next"/>
              </a:rPr>
              <a:t>Data warehouse</a:t>
            </a:r>
          </a:p>
        </p:txBody>
      </p:sp>
      <p:sp>
        <p:nvSpPr>
          <p:cNvPr id="9" name="TextBox 8"/>
          <p:cNvSpPr txBox="1"/>
          <p:nvPr/>
        </p:nvSpPr>
        <p:spPr>
          <a:xfrm>
            <a:off x="960120" y="3593591"/>
            <a:ext cx="2148840" cy="502920"/>
          </a:xfrm>
          <a:prstGeom prst="rect">
            <a:avLst/>
          </a:prstGeom>
          <a:noFill/>
        </p:spPr>
        <p:txBody>
          <a:bodyPr wrap="square" anchor="t" lIns="0" rIns="0" tIns="0" bIns="0">
            <a:spAutoFit/>
          </a:bodyPr>
          <a:lstStyle/>
          <a:p>
            <a:pPr algn="l">
              <a:lnSpc>
                <a:spcPct val="100000"/>
              </a:lnSpc>
            </a:pPr>
            <a:r>
              <a:rPr sz="950" b="0" i="0">
                <a:solidFill>
                  <a:srgbClr val="53635C"/>
                </a:solidFill>
                <a:latin typeface="Helvetica Neue"/>
              </a:rPr>
              <a:t>Bookings, CLV, margin</a:t>
            </a:r>
          </a:p>
        </p:txBody>
      </p:sp>
      <p:sp>
        <p:nvSpPr>
          <p:cNvPr id="10" name="Rounded Rectangle 9"/>
          <p:cNvSpPr/>
          <p:nvPr/>
        </p:nvSpPr>
        <p:spPr>
          <a:xfrm>
            <a:off x="777240" y="4343400"/>
            <a:ext cx="2514600" cy="105156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489704"/>
            <a:ext cx="2148840" cy="457200"/>
          </a:xfrm>
          <a:prstGeom prst="rect">
            <a:avLst/>
          </a:prstGeom>
          <a:noFill/>
        </p:spPr>
        <p:txBody>
          <a:bodyPr wrap="square" anchor="t" lIns="0" rIns="0" tIns="0" bIns="0">
            <a:spAutoFit/>
          </a:bodyPr>
          <a:lstStyle/>
          <a:p>
            <a:pPr algn="l">
              <a:lnSpc>
                <a:spcPct val="98000"/>
              </a:lnSpc>
            </a:pPr>
            <a:r>
              <a:rPr sz="1300" b="1" i="0">
                <a:solidFill>
                  <a:srgbClr val="13221C"/>
                </a:solidFill>
                <a:latin typeface="Avenir Next"/>
              </a:rPr>
              <a:t>Backend tracking</a:t>
            </a:r>
          </a:p>
        </p:txBody>
      </p:sp>
      <p:sp>
        <p:nvSpPr>
          <p:cNvPr id="12" name="TextBox 11"/>
          <p:cNvSpPr txBox="1"/>
          <p:nvPr/>
        </p:nvSpPr>
        <p:spPr>
          <a:xfrm>
            <a:off x="960120" y="4828032"/>
            <a:ext cx="2148840" cy="502920"/>
          </a:xfrm>
          <a:prstGeom prst="rect">
            <a:avLst/>
          </a:prstGeom>
          <a:noFill/>
        </p:spPr>
        <p:txBody>
          <a:bodyPr wrap="square" anchor="t" lIns="0" rIns="0" tIns="0" bIns="0">
            <a:spAutoFit/>
          </a:bodyPr>
          <a:lstStyle/>
          <a:p>
            <a:pPr algn="l">
              <a:lnSpc>
                <a:spcPct val="100000"/>
              </a:lnSpc>
            </a:pPr>
            <a:r>
              <a:rPr sz="950" b="0" i="0">
                <a:solidFill>
                  <a:srgbClr val="53635C"/>
                </a:solidFill>
                <a:latin typeface="Helvetica Neue"/>
              </a:rPr>
              <a:t>Web &amp; app events</a:t>
            </a:r>
          </a:p>
        </p:txBody>
      </p:sp>
      <p:sp>
        <p:nvSpPr>
          <p:cNvPr id="13" name="Rounded Rectangle 12"/>
          <p:cNvSpPr/>
          <p:nvPr/>
        </p:nvSpPr>
        <p:spPr>
          <a:xfrm>
            <a:off x="3703320" y="3429000"/>
            <a:ext cx="1874519" cy="1737360"/>
          </a:xfrm>
          <a:prstGeom prst="roundRect">
            <a:avLst>
              <a:gd name="adj" fmla="val 6000"/>
            </a:avLst>
          </a:prstGeom>
          <a:solidFill>
            <a:srgbClr val="F5F8F5"/>
          </a:solidFill>
          <a:ln w="12700">
            <a:solidFill>
              <a:srgbClr val="0097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86200" y="3575304"/>
            <a:ext cx="1508760" cy="457200"/>
          </a:xfrm>
          <a:prstGeom prst="rect">
            <a:avLst/>
          </a:prstGeom>
          <a:noFill/>
        </p:spPr>
        <p:txBody>
          <a:bodyPr wrap="square" anchor="t" lIns="0" rIns="0" tIns="0" bIns="0">
            <a:spAutoFit/>
          </a:bodyPr>
          <a:lstStyle/>
          <a:p>
            <a:pPr algn="l">
              <a:lnSpc>
                <a:spcPct val="98000"/>
              </a:lnSpc>
            </a:pPr>
            <a:r>
              <a:rPr sz="1300" b="1" i="0">
                <a:solidFill>
                  <a:srgbClr val="00543D"/>
                </a:solidFill>
                <a:latin typeface="Avenir Next"/>
              </a:rPr>
              <a:t>ETL &amp; clean-up</a:t>
            </a:r>
          </a:p>
        </p:txBody>
      </p:sp>
      <p:sp>
        <p:nvSpPr>
          <p:cNvPr id="15" name="TextBox 14"/>
          <p:cNvSpPr txBox="1"/>
          <p:nvPr/>
        </p:nvSpPr>
        <p:spPr>
          <a:xfrm>
            <a:off x="3886200" y="4599432"/>
            <a:ext cx="1508760" cy="502920"/>
          </a:xfrm>
          <a:prstGeom prst="rect">
            <a:avLst/>
          </a:prstGeom>
          <a:noFill/>
        </p:spPr>
        <p:txBody>
          <a:bodyPr wrap="square" anchor="t" lIns="0" rIns="0" tIns="0" bIns="0">
            <a:spAutoFit/>
          </a:bodyPr>
          <a:lstStyle/>
          <a:p>
            <a:pPr algn="l">
              <a:lnSpc>
                <a:spcPct val="100000"/>
              </a:lnSpc>
            </a:pPr>
            <a:r>
              <a:rPr sz="950" b="0" i="0">
                <a:solidFill>
                  <a:srgbClr val="53635C"/>
                </a:solidFill>
                <a:latin typeface="Helvetica Neue"/>
              </a:rPr>
              <a:t>Trust layer</a:t>
            </a:r>
          </a:p>
        </p:txBody>
      </p:sp>
      <p:sp>
        <p:nvSpPr>
          <p:cNvPr id="16" name="Rounded Rectangle 15"/>
          <p:cNvSpPr/>
          <p:nvPr/>
        </p:nvSpPr>
        <p:spPr>
          <a:xfrm>
            <a:off x="5989320" y="3429000"/>
            <a:ext cx="2148840" cy="1737360"/>
          </a:xfrm>
          <a:prstGeom prst="roundRect">
            <a:avLst>
              <a:gd name="adj" fmla="val 6000"/>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72200" y="3575304"/>
            <a:ext cx="1783080" cy="457200"/>
          </a:xfrm>
          <a:prstGeom prst="rect">
            <a:avLst/>
          </a:prstGeom>
          <a:noFill/>
        </p:spPr>
        <p:txBody>
          <a:bodyPr wrap="square" anchor="t" lIns="0" rIns="0" tIns="0" bIns="0">
            <a:spAutoFit/>
          </a:bodyPr>
          <a:lstStyle/>
          <a:p>
            <a:pPr algn="l">
              <a:lnSpc>
                <a:spcPct val="98000"/>
              </a:lnSpc>
            </a:pPr>
            <a:r>
              <a:rPr sz="1400" b="1" i="0">
                <a:solidFill>
                  <a:srgbClr val="FFFFFF"/>
                </a:solidFill>
                <a:latin typeface="Avenir Next"/>
              </a:rPr>
              <a:t>AI incentive layer</a:t>
            </a:r>
          </a:p>
        </p:txBody>
      </p:sp>
      <p:sp>
        <p:nvSpPr>
          <p:cNvPr id="18" name="TextBox 17"/>
          <p:cNvSpPr txBox="1"/>
          <p:nvPr/>
        </p:nvSpPr>
        <p:spPr>
          <a:xfrm>
            <a:off x="6172200" y="4599432"/>
            <a:ext cx="1783080" cy="502920"/>
          </a:xfrm>
          <a:prstGeom prst="rect">
            <a:avLst/>
          </a:prstGeom>
          <a:noFill/>
        </p:spPr>
        <p:txBody>
          <a:bodyPr wrap="square" anchor="t" lIns="0" rIns="0" tIns="0" bIns="0">
            <a:spAutoFit/>
          </a:bodyPr>
          <a:lstStyle/>
          <a:p>
            <a:pPr algn="l">
              <a:lnSpc>
                <a:spcPct val="100000"/>
              </a:lnSpc>
            </a:pPr>
            <a:r>
              <a:rPr sz="950" b="0" i="0">
                <a:solidFill>
                  <a:srgbClr val="A7C3B8"/>
                </a:solidFill>
                <a:latin typeface="Helvetica Neue"/>
              </a:rPr>
              <a:t>Spec · recall · QA · learning</a:t>
            </a:r>
          </a:p>
        </p:txBody>
      </p:sp>
      <p:sp>
        <p:nvSpPr>
          <p:cNvPr id="19" name="Rectangle 18"/>
          <p:cNvSpPr/>
          <p:nvPr/>
        </p:nvSpPr>
        <p:spPr>
          <a:xfrm>
            <a:off x="5989320" y="4846320"/>
            <a:ext cx="2148840" cy="54864"/>
          </a:xfrm>
          <a:prstGeom prst="rect">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549640" y="3108960"/>
            <a:ext cx="2880360" cy="105156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32519" y="3255264"/>
            <a:ext cx="2514600" cy="457200"/>
          </a:xfrm>
          <a:prstGeom prst="rect">
            <a:avLst/>
          </a:prstGeom>
          <a:noFill/>
        </p:spPr>
        <p:txBody>
          <a:bodyPr wrap="square" anchor="t" lIns="0" rIns="0" tIns="0" bIns="0">
            <a:spAutoFit/>
          </a:bodyPr>
          <a:lstStyle/>
          <a:p>
            <a:pPr algn="l">
              <a:lnSpc>
                <a:spcPct val="98000"/>
              </a:lnSpc>
            </a:pPr>
            <a:r>
              <a:rPr sz="1300" b="1" i="0">
                <a:solidFill>
                  <a:srgbClr val="13221C"/>
                </a:solidFill>
                <a:latin typeface="Avenir Next"/>
              </a:rPr>
              <a:t>Braze</a:t>
            </a:r>
          </a:p>
        </p:txBody>
      </p:sp>
      <p:sp>
        <p:nvSpPr>
          <p:cNvPr id="22" name="TextBox 21"/>
          <p:cNvSpPr txBox="1"/>
          <p:nvPr/>
        </p:nvSpPr>
        <p:spPr>
          <a:xfrm>
            <a:off x="8732519" y="3593591"/>
            <a:ext cx="2514600" cy="502920"/>
          </a:xfrm>
          <a:prstGeom prst="rect">
            <a:avLst/>
          </a:prstGeom>
          <a:noFill/>
        </p:spPr>
        <p:txBody>
          <a:bodyPr wrap="square" anchor="t" lIns="0" rIns="0" tIns="0" bIns="0">
            <a:spAutoFit/>
          </a:bodyPr>
          <a:lstStyle/>
          <a:p>
            <a:pPr algn="l">
              <a:lnSpc>
                <a:spcPct val="100000"/>
              </a:lnSpc>
            </a:pPr>
            <a:r>
              <a:rPr sz="950" b="0" i="0">
                <a:solidFill>
                  <a:srgbClr val="53635C"/>
                </a:solidFill>
                <a:latin typeface="Helvetica Neue"/>
              </a:rPr>
              <a:t>Lifecycle &amp; CRM activation</a:t>
            </a:r>
          </a:p>
        </p:txBody>
      </p:sp>
      <p:sp>
        <p:nvSpPr>
          <p:cNvPr id="23" name="Rounded Rectangle 22"/>
          <p:cNvSpPr/>
          <p:nvPr/>
        </p:nvSpPr>
        <p:spPr>
          <a:xfrm>
            <a:off x="8549640" y="4343400"/>
            <a:ext cx="2880360" cy="105156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32519" y="4489704"/>
            <a:ext cx="2514600" cy="457200"/>
          </a:xfrm>
          <a:prstGeom prst="rect">
            <a:avLst/>
          </a:prstGeom>
          <a:noFill/>
        </p:spPr>
        <p:txBody>
          <a:bodyPr wrap="square" anchor="t" lIns="0" rIns="0" tIns="0" bIns="0">
            <a:spAutoFit/>
          </a:bodyPr>
          <a:lstStyle/>
          <a:p>
            <a:pPr algn="l">
              <a:lnSpc>
                <a:spcPct val="98000"/>
              </a:lnSpc>
            </a:pPr>
            <a:r>
              <a:rPr sz="1300" b="1" i="0">
                <a:solidFill>
                  <a:srgbClr val="13221C"/>
                </a:solidFill>
                <a:latin typeface="Avenir Next"/>
              </a:rPr>
              <a:t>Experimentation platform</a:t>
            </a:r>
          </a:p>
        </p:txBody>
      </p:sp>
      <p:sp>
        <p:nvSpPr>
          <p:cNvPr id="25" name="TextBox 24"/>
          <p:cNvSpPr txBox="1"/>
          <p:nvPr/>
        </p:nvSpPr>
        <p:spPr>
          <a:xfrm>
            <a:off x="8732519" y="4828032"/>
            <a:ext cx="2514600" cy="502920"/>
          </a:xfrm>
          <a:prstGeom prst="rect">
            <a:avLst/>
          </a:prstGeom>
          <a:noFill/>
        </p:spPr>
        <p:txBody>
          <a:bodyPr wrap="square" anchor="t" lIns="0" rIns="0" tIns="0" bIns="0">
            <a:spAutoFit/>
          </a:bodyPr>
          <a:lstStyle/>
          <a:p>
            <a:pPr algn="l">
              <a:lnSpc>
                <a:spcPct val="100000"/>
              </a:lnSpc>
            </a:pPr>
            <a:r>
              <a:rPr sz="950" b="0" i="0">
                <a:solidFill>
                  <a:srgbClr val="53635C"/>
                </a:solidFill>
                <a:latin typeface="Helvetica Neue"/>
              </a:rPr>
              <a:t>Launch &amp; holdouts</a:t>
            </a:r>
          </a:p>
        </p:txBody>
      </p:sp>
      <p:sp>
        <p:nvSpPr>
          <p:cNvPr id="26" name="Right Arrow 25"/>
          <p:cNvSpPr/>
          <p:nvPr/>
        </p:nvSpPr>
        <p:spPr>
          <a:xfrm>
            <a:off x="3310128" y="3931920"/>
            <a:ext cx="365760" cy="292608"/>
          </a:xfrm>
          <a:prstGeom prst="rightArrow">
            <a:avLst/>
          </a:prstGeom>
          <a:solidFill>
            <a:srgbClr val="A7BD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ight Arrow 26"/>
          <p:cNvSpPr/>
          <p:nvPr/>
        </p:nvSpPr>
        <p:spPr>
          <a:xfrm>
            <a:off x="5596128" y="4206240"/>
            <a:ext cx="365760" cy="292608"/>
          </a:xfrm>
          <a:prstGeom prst="rightArrow">
            <a:avLst/>
          </a:prstGeom>
          <a:solidFill>
            <a:srgbClr val="A7BD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ight Arrow 27"/>
          <p:cNvSpPr/>
          <p:nvPr/>
        </p:nvSpPr>
        <p:spPr>
          <a:xfrm>
            <a:off x="8156448" y="4206240"/>
            <a:ext cx="365760" cy="292608"/>
          </a:xfrm>
          <a:prstGeom prst="rightArrow">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440680"/>
            <a:ext cx="10607040" cy="822960"/>
          </a:xfrm>
          <a:prstGeom prst="rect">
            <a:avLst/>
          </a:prstGeom>
          <a:noFill/>
        </p:spPr>
        <p:txBody>
          <a:bodyPr wrap="square" anchor="t" lIns="0" rIns="0" tIns="0" bIns="0">
            <a:spAutoFit/>
          </a:bodyPr>
          <a:lstStyle/>
          <a:p>
            <a:pPr algn="l">
              <a:lnSpc>
                <a:spcPct val="108000"/>
              </a:lnSpc>
            </a:pPr>
            <a:r>
              <a:rPr sz="1250" b="1" i="0">
                <a:solidFill>
                  <a:srgbClr val="13221C"/>
                </a:solidFill>
                <a:latin typeface="Helvetica Neue"/>
              </a:rPr>
              <a:t>The unsexy truth: </a:t>
            </a:r>
            <a:r>
              <a:rPr sz="1250" b="0" i="0">
                <a:solidFill>
                  <a:srgbClr val="53635C"/>
                </a:solidFill>
                <a:latin typeface="Helvetica Neue"/>
              </a:rPr>
              <a:t>most of the build is connectors, schema and permissions, not prompts. I'd scope those dependencies on day one, because in a lean org an un-owned integration is where projects quietly die.</a:t>
            </a:r>
          </a:p>
        </p:txBody>
      </p:sp>
      <p:sp>
        <p:nvSpPr>
          <p:cNvPr id="30" name="TextBox 29"/>
          <p:cNvSpPr txBox="1"/>
          <p:nvPr/>
        </p:nvSpPr>
        <p:spPr>
          <a:xfrm>
            <a:off x="548640" y="6400800"/>
            <a:ext cx="7315200" cy="274320"/>
          </a:xfrm>
          <a:prstGeom prst="rect">
            <a:avLst/>
          </a:prstGeom>
          <a:noFill/>
        </p:spPr>
        <p:txBody>
          <a:bodyPr wrap="square" anchor="t" lIns="0" rIns="0" tIns="0" bIns="0">
            <a:spAutoFit/>
          </a:bodyPr>
          <a:lstStyle/>
          <a:p>
            <a:pPr algn="l">
              <a:lnSpc>
                <a:spcPct val="100000"/>
              </a:lnSpc>
            </a:pPr>
            <a:r>
              <a:rPr sz="900" b="0" i="0">
                <a:solidFill>
                  <a:srgbClr val="53635C"/>
                </a:solidFill>
                <a:latin typeface="Helvetica Neue"/>
              </a:rPr>
              <a:t>Adrien Enjalbert  ·  AI Systems, Personalization &amp; Growth</a:t>
            </a:r>
          </a:p>
        </p:txBody>
      </p:sp>
      <p:sp>
        <p:nvSpPr>
          <p:cNvPr id="31" name="TextBox 30"/>
          <p:cNvSpPr txBox="1"/>
          <p:nvPr/>
        </p:nvSpPr>
        <p:spPr>
          <a:xfrm>
            <a:off x="10911535" y="6400800"/>
            <a:ext cx="731520" cy="274320"/>
          </a:xfrm>
          <a:prstGeom prst="rect">
            <a:avLst/>
          </a:prstGeom>
          <a:noFill/>
        </p:spPr>
        <p:txBody>
          <a:bodyPr wrap="square" anchor="t" lIns="0" rIns="0" tIns="0" bIns="0">
            <a:spAutoFit/>
          </a:bodyPr>
          <a:lstStyle/>
          <a:p>
            <a:pPr algn="r">
              <a:lnSpc>
                <a:spcPct val="100000"/>
              </a:lnSpc>
            </a:pPr>
            <a:r>
              <a:rPr sz="900" b="1" i="0">
                <a:solidFill>
                  <a:srgbClr val="53635C"/>
                </a:solidFill>
                <a:latin typeface="Avenir Nex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685800"/>
            <a:ext cx="502920" cy="50292"/>
          </a:xfrm>
          <a:prstGeom prst="rect">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914400"/>
            <a:ext cx="7315200" cy="320040"/>
          </a:xfrm>
          <a:prstGeom prst="rect">
            <a:avLst/>
          </a:prstGeom>
          <a:noFill/>
        </p:spPr>
        <p:txBody>
          <a:bodyPr wrap="square" anchor="t" lIns="0" rIns="0" tIns="0" bIns="0">
            <a:spAutoFit/>
          </a:bodyPr>
          <a:lstStyle/>
          <a:p>
            <a:pPr algn="l">
              <a:lnSpc>
                <a:spcPct val="100000"/>
              </a:lnSpc>
            </a:pPr>
            <a:r>
              <a:rPr sz="1200" b="1" i="0">
                <a:solidFill>
                  <a:srgbClr val="34E0A1"/>
                </a:solidFill>
                <a:latin typeface="Avenir Next"/>
              </a:rPr>
              <a:t>IN PRACTICE  ·  PART 2  ·  UX &amp; ADOPTION</a:t>
            </a:r>
          </a:p>
        </p:txBody>
      </p:sp>
      <p:sp>
        <p:nvSpPr>
          <p:cNvPr id="5" name="TextBox 4"/>
          <p:cNvSpPr txBox="1"/>
          <p:nvPr/>
        </p:nvSpPr>
        <p:spPr>
          <a:xfrm>
            <a:off x="731520" y="1234440"/>
            <a:ext cx="10881360" cy="914400"/>
          </a:xfrm>
          <a:prstGeom prst="rect">
            <a:avLst/>
          </a:prstGeom>
          <a:noFill/>
        </p:spPr>
        <p:txBody>
          <a:bodyPr wrap="square" anchor="t" lIns="0" rIns="0" tIns="0" bIns="0">
            <a:spAutoFit/>
          </a:bodyPr>
          <a:lstStyle/>
          <a:p>
            <a:pPr algn="l">
              <a:lnSpc>
                <a:spcPct val="100000"/>
              </a:lnSpc>
            </a:pPr>
            <a:r>
              <a:rPr sz="3000" b="1" i="0">
                <a:solidFill>
                  <a:srgbClr val="FFFFFF"/>
                </a:solidFill>
                <a:latin typeface="Avenir Next"/>
              </a:rPr>
              <a:t>Why this won't be “a chatbot”.</a:t>
            </a:r>
          </a:p>
        </p:txBody>
      </p:sp>
      <p:sp>
        <p:nvSpPr>
          <p:cNvPr id="6" name="TextBox 5"/>
          <p:cNvSpPr txBox="1"/>
          <p:nvPr/>
        </p:nvSpPr>
        <p:spPr>
          <a:xfrm>
            <a:off x="777240" y="2148840"/>
            <a:ext cx="10424160" cy="640080"/>
          </a:xfrm>
          <a:prstGeom prst="rect">
            <a:avLst/>
          </a:prstGeom>
          <a:noFill/>
        </p:spPr>
        <p:txBody>
          <a:bodyPr wrap="square" anchor="t" lIns="0" rIns="0" tIns="0" bIns="0">
            <a:spAutoFit/>
          </a:bodyPr>
          <a:lstStyle/>
          <a:p>
            <a:pPr algn="l">
              <a:lnSpc>
                <a:spcPct val="110000"/>
              </a:lnSpc>
            </a:pPr>
            <a:r>
              <a:rPr sz="1400" b="0" i="0">
                <a:solidFill>
                  <a:srgbClr val="A7C3B8"/>
                </a:solidFill>
                <a:latin typeface="Helvetica Neue"/>
              </a:rPr>
              <a:t>A generic prompt box is too vague to be used properly, so it gets abandoned. Adoption comes from AI that does one job, for one role, inside the tool they already work in.</a:t>
            </a:r>
          </a:p>
        </p:txBody>
      </p:sp>
      <p:sp>
        <p:nvSpPr>
          <p:cNvPr id="7" name="Rounded Rectangle 6"/>
          <p:cNvSpPr/>
          <p:nvPr/>
        </p:nvSpPr>
        <p:spPr>
          <a:xfrm>
            <a:off x="777240" y="3063240"/>
            <a:ext cx="3108960" cy="3017520"/>
          </a:xfrm>
          <a:prstGeom prst="roundRect">
            <a:avLst>
              <a:gd name="adj" fmla="val 6000"/>
            </a:avLst>
          </a:prstGeom>
          <a:solidFill>
            <a:srgbClr val="0E1F18"/>
          </a:solidFill>
          <a:ln w="12700">
            <a:solidFill>
              <a:srgbClr val="5A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3291840"/>
            <a:ext cx="2651760" cy="365760"/>
          </a:xfrm>
          <a:prstGeom prst="rect">
            <a:avLst/>
          </a:prstGeom>
          <a:noFill/>
        </p:spPr>
        <p:txBody>
          <a:bodyPr wrap="square" anchor="t" lIns="0" rIns="0" tIns="0" bIns="0">
            <a:spAutoFit/>
          </a:bodyPr>
          <a:lstStyle/>
          <a:p>
            <a:pPr algn="l">
              <a:lnSpc>
                <a:spcPct val="100000"/>
              </a:lnSpc>
            </a:pPr>
            <a:r>
              <a:rPr sz="1200" b="1" i="0">
                <a:solidFill>
                  <a:srgbClr val="F05B5B"/>
                </a:solidFill>
                <a:latin typeface="Avenir Next"/>
              </a:rPr>
              <a:t>✕  A GENERIC CHATBOT</a:t>
            </a:r>
          </a:p>
        </p:txBody>
      </p:sp>
      <p:sp>
        <p:nvSpPr>
          <p:cNvPr id="9" name="TextBox 8"/>
          <p:cNvSpPr txBox="1"/>
          <p:nvPr/>
        </p:nvSpPr>
        <p:spPr>
          <a:xfrm>
            <a:off x="1051560" y="3749039"/>
            <a:ext cx="2606040" cy="2194560"/>
          </a:xfrm>
          <a:prstGeom prst="rect">
            <a:avLst/>
          </a:prstGeom>
          <a:noFill/>
        </p:spPr>
        <p:txBody>
          <a:bodyPr wrap="square" anchor="t" lIns="0" rIns="0" tIns="0" bIns="0">
            <a:spAutoFit/>
          </a:bodyPr>
          <a:lstStyle/>
          <a:p>
            <a:pPr algn="l">
              <a:lnSpc>
                <a:spcPct val="140000"/>
              </a:lnSpc>
            </a:pPr>
            <a:r>
              <a:rPr sz="1250" b="0" i="0">
                <a:solidFill>
                  <a:srgbClr val="A7C3B8"/>
                </a:solidFill>
                <a:latin typeface="Helvetica Neue"/>
              </a:rPr>
              <a:t>Vague, blank-box prompts</a:t>
            </a:r>
          </a:p>
          <a:p>
            <a:pPr algn="l">
              <a:lnSpc>
                <a:spcPct val="140000"/>
              </a:lnSpc>
            </a:pPr>
            <a:r>
              <a:rPr sz="1250" b="0" i="0">
                <a:solidFill>
                  <a:srgbClr val="A7C3B8"/>
                </a:solidFill>
                <a:latin typeface="Helvetica Neue"/>
              </a:rPr>
              <a:t>No workflow, no context</a:t>
            </a:r>
          </a:p>
          <a:p>
            <a:pPr algn="l">
              <a:lnSpc>
                <a:spcPct val="140000"/>
              </a:lnSpc>
            </a:pPr>
            <a:r>
              <a:rPr sz="1250" b="0" i="0">
                <a:solidFill>
                  <a:srgbClr val="A7C3B8"/>
                </a:solidFill>
                <a:latin typeface="Helvetica Neue"/>
              </a:rPr>
              <a:t>“Interesting” once, then ignored</a:t>
            </a:r>
          </a:p>
          <a:p>
            <a:pPr algn="l">
              <a:lnSpc>
                <a:spcPct val="140000"/>
              </a:lnSpc>
            </a:pPr>
            <a:r>
              <a:rPr sz="1250" b="0" i="0">
                <a:solidFill>
                  <a:srgbClr val="A7C3B8"/>
                </a:solidFill>
                <a:latin typeface="Helvetica Neue"/>
              </a:rPr>
              <a:t>Trust never builds</a:t>
            </a:r>
          </a:p>
        </p:txBody>
      </p:sp>
      <p:sp>
        <p:nvSpPr>
          <p:cNvPr id="10" name="Rounded Rectangle 9"/>
          <p:cNvSpPr/>
          <p:nvPr/>
        </p:nvSpPr>
        <p:spPr>
          <a:xfrm>
            <a:off x="4160520" y="3063240"/>
            <a:ext cx="7269480" cy="3017520"/>
          </a:xfrm>
          <a:prstGeom prst="roundRect">
            <a:avLst>
              <a:gd name="adj" fmla="val 6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3291840"/>
            <a:ext cx="6766560" cy="365760"/>
          </a:xfrm>
          <a:prstGeom prst="rect">
            <a:avLst/>
          </a:prstGeom>
          <a:noFill/>
        </p:spPr>
        <p:txBody>
          <a:bodyPr wrap="square" anchor="t" lIns="0" rIns="0" tIns="0" bIns="0">
            <a:spAutoFit/>
          </a:bodyPr>
          <a:lstStyle/>
          <a:p>
            <a:pPr algn="l">
              <a:lnSpc>
                <a:spcPct val="100000"/>
              </a:lnSpc>
            </a:pPr>
            <a:r>
              <a:rPr sz="1200" b="1" i="0">
                <a:solidFill>
                  <a:srgbClr val="34E0A1"/>
                </a:solidFill>
                <a:latin typeface="Avenir Next"/>
              </a:rPr>
              <a:t>✓  EMBEDDED, PER ROLE, PER WORKFLOW</a:t>
            </a:r>
          </a:p>
        </p:txBody>
      </p:sp>
      <p:sp>
        <p:nvSpPr>
          <p:cNvPr id="12" name="Rounded Rectangle 11"/>
          <p:cNvSpPr/>
          <p:nvPr/>
        </p:nvSpPr>
        <p:spPr>
          <a:xfrm>
            <a:off x="4480560" y="3794760"/>
            <a:ext cx="6629400" cy="658368"/>
          </a:xfrm>
          <a:prstGeom prst="roundRect">
            <a:avLst>
              <a:gd name="adj" fmla="val 6000"/>
            </a:avLst>
          </a:prstGeom>
          <a:solidFill>
            <a:srgbClr val="0A1512"/>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60" y="3849624"/>
            <a:ext cx="1828800" cy="548640"/>
          </a:xfrm>
          <a:prstGeom prst="rect">
            <a:avLst/>
          </a:prstGeom>
          <a:noFill/>
        </p:spPr>
        <p:txBody>
          <a:bodyPr wrap="square" anchor="ctr" lIns="0" rIns="0" tIns="0" bIns="0">
            <a:spAutoFit/>
          </a:bodyPr>
          <a:lstStyle/>
          <a:p>
            <a:pPr algn="l">
              <a:lnSpc>
                <a:spcPct val="100000"/>
              </a:lnSpc>
            </a:pPr>
            <a:r>
              <a:rPr sz="1300" b="1" i="0">
                <a:solidFill>
                  <a:srgbClr val="34E0A1"/>
                </a:solidFill>
                <a:latin typeface="Avenir Next"/>
              </a:rPr>
              <a:t>Analyst</a:t>
            </a:r>
          </a:p>
        </p:txBody>
      </p:sp>
      <p:sp>
        <p:nvSpPr>
          <p:cNvPr id="14" name="TextBox 13"/>
          <p:cNvSpPr txBox="1"/>
          <p:nvPr/>
        </p:nvSpPr>
        <p:spPr>
          <a:xfrm>
            <a:off x="6400800" y="3849624"/>
            <a:ext cx="4572000" cy="548640"/>
          </a:xfrm>
          <a:prstGeom prst="rect">
            <a:avLst/>
          </a:prstGeom>
          <a:noFill/>
        </p:spPr>
        <p:txBody>
          <a:bodyPr wrap="square" anchor="ctr" lIns="0" rIns="0" tIns="0" bIns="0">
            <a:spAutoFit/>
          </a:bodyPr>
          <a:lstStyle/>
          <a:p>
            <a:pPr algn="l">
              <a:lnSpc>
                <a:spcPct val="100000"/>
              </a:lnSpc>
            </a:pPr>
            <a:r>
              <a:rPr sz="1200" b="0" i="0">
                <a:solidFill>
                  <a:srgbClr val="A7C3B8"/>
                </a:solidFill>
                <a:latin typeface="Helvetica Neue"/>
              </a:rPr>
              <a:t>gets a drafted, powered spec inside the experiment tool.</a:t>
            </a:r>
          </a:p>
        </p:txBody>
      </p:sp>
      <p:sp>
        <p:nvSpPr>
          <p:cNvPr id="15" name="Rounded Rectangle 14"/>
          <p:cNvSpPr/>
          <p:nvPr/>
        </p:nvSpPr>
        <p:spPr>
          <a:xfrm>
            <a:off x="4480560" y="4544568"/>
            <a:ext cx="6629400" cy="658368"/>
          </a:xfrm>
          <a:prstGeom prst="roundRect">
            <a:avLst>
              <a:gd name="adj" fmla="val 6000"/>
            </a:avLst>
          </a:prstGeom>
          <a:solidFill>
            <a:srgbClr val="0A1512"/>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09160" y="4599432"/>
            <a:ext cx="1828800" cy="548640"/>
          </a:xfrm>
          <a:prstGeom prst="rect">
            <a:avLst/>
          </a:prstGeom>
          <a:noFill/>
        </p:spPr>
        <p:txBody>
          <a:bodyPr wrap="square" anchor="ctr" lIns="0" rIns="0" tIns="0" bIns="0">
            <a:spAutoFit/>
          </a:bodyPr>
          <a:lstStyle/>
          <a:p>
            <a:pPr algn="l">
              <a:lnSpc>
                <a:spcPct val="100000"/>
              </a:lnSpc>
            </a:pPr>
            <a:r>
              <a:rPr sz="1300" b="1" i="0">
                <a:solidFill>
                  <a:srgbClr val="34E0A1"/>
                </a:solidFill>
                <a:latin typeface="Avenir Next"/>
              </a:rPr>
              <a:t>Marketer</a:t>
            </a:r>
          </a:p>
        </p:txBody>
      </p:sp>
      <p:sp>
        <p:nvSpPr>
          <p:cNvPr id="17" name="TextBox 16"/>
          <p:cNvSpPr txBox="1"/>
          <p:nvPr/>
        </p:nvSpPr>
        <p:spPr>
          <a:xfrm>
            <a:off x="6400800" y="4599432"/>
            <a:ext cx="4572000" cy="548640"/>
          </a:xfrm>
          <a:prstGeom prst="rect">
            <a:avLst/>
          </a:prstGeom>
          <a:noFill/>
        </p:spPr>
        <p:txBody>
          <a:bodyPr wrap="square" anchor="ctr" lIns="0" rIns="0" tIns="0" bIns="0">
            <a:spAutoFit/>
          </a:bodyPr>
          <a:lstStyle/>
          <a:p>
            <a:pPr algn="l">
              <a:lnSpc>
                <a:spcPct val="100000"/>
              </a:lnSpc>
            </a:pPr>
            <a:r>
              <a:rPr sz="1200" b="0" i="0">
                <a:solidFill>
                  <a:srgbClr val="A7C3B8"/>
                </a:solidFill>
                <a:latin typeface="Helvetica Neue"/>
              </a:rPr>
              <a:t>gets a vetted recommendation inside Braze, where they build sends.</a:t>
            </a:r>
          </a:p>
        </p:txBody>
      </p:sp>
      <p:sp>
        <p:nvSpPr>
          <p:cNvPr id="18" name="Rounded Rectangle 17"/>
          <p:cNvSpPr/>
          <p:nvPr/>
        </p:nvSpPr>
        <p:spPr>
          <a:xfrm>
            <a:off x="4480560" y="5294376"/>
            <a:ext cx="6629400" cy="658368"/>
          </a:xfrm>
          <a:prstGeom prst="roundRect">
            <a:avLst>
              <a:gd name="adj" fmla="val 6000"/>
            </a:avLst>
          </a:prstGeom>
          <a:solidFill>
            <a:srgbClr val="0A1512"/>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09160" y="5349240"/>
            <a:ext cx="1828800" cy="548640"/>
          </a:xfrm>
          <a:prstGeom prst="rect">
            <a:avLst/>
          </a:prstGeom>
          <a:noFill/>
        </p:spPr>
        <p:txBody>
          <a:bodyPr wrap="square" anchor="ctr" lIns="0" rIns="0" tIns="0" bIns="0">
            <a:spAutoFit/>
          </a:bodyPr>
          <a:lstStyle/>
          <a:p>
            <a:pPr algn="l">
              <a:lnSpc>
                <a:spcPct val="100000"/>
              </a:lnSpc>
            </a:pPr>
            <a:r>
              <a:rPr sz="1300" b="1" i="0">
                <a:solidFill>
                  <a:srgbClr val="34E0A1"/>
                </a:solidFill>
                <a:latin typeface="Avenir Next"/>
              </a:rPr>
              <a:t>Leadership</a:t>
            </a:r>
          </a:p>
        </p:txBody>
      </p:sp>
      <p:sp>
        <p:nvSpPr>
          <p:cNvPr id="20" name="TextBox 19"/>
          <p:cNvSpPr txBox="1"/>
          <p:nvPr/>
        </p:nvSpPr>
        <p:spPr>
          <a:xfrm>
            <a:off x="6400800" y="5349240"/>
            <a:ext cx="4572000" cy="548640"/>
          </a:xfrm>
          <a:prstGeom prst="rect">
            <a:avLst/>
          </a:prstGeom>
          <a:noFill/>
        </p:spPr>
        <p:txBody>
          <a:bodyPr wrap="square" anchor="ctr" lIns="0" rIns="0" tIns="0" bIns="0">
            <a:spAutoFit/>
          </a:bodyPr>
          <a:lstStyle/>
          <a:p>
            <a:pPr algn="l">
              <a:lnSpc>
                <a:spcPct val="100000"/>
              </a:lnSpc>
            </a:pPr>
            <a:r>
              <a:rPr sz="1200" b="0" i="0">
                <a:solidFill>
                  <a:srgbClr val="A7C3B8"/>
                </a:solidFill>
                <a:latin typeface="Helvetica Neue"/>
              </a:rPr>
              <a:t>gets the plain-English learning brief inside the dashboard.</a:t>
            </a:r>
          </a:p>
        </p:txBody>
      </p:sp>
      <p:sp>
        <p:nvSpPr>
          <p:cNvPr id="21" name="TextBox 20"/>
          <p:cNvSpPr txBox="1"/>
          <p:nvPr/>
        </p:nvSpPr>
        <p:spPr>
          <a:xfrm>
            <a:off x="548640" y="6400800"/>
            <a:ext cx="7315200" cy="274320"/>
          </a:xfrm>
          <a:prstGeom prst="rect">
            <a:avLst/>
          </a:prstGeom>
          <a:noFill/>
        </p:spPr>
        <p:txBody>
          <a:bodyPr wrap="square" anchor="t" lIns="0" rIns="0" tIns="0" bIns="0">
            <a:spAutoFit/>
          </a:bodyPr>
          <a:lstStyle/>
          <a:p>
            <a:pPr algn="l">
              <a:lnSpc>
                <a:spcPct val="100000"/>
              </a:lnSpc>
            </a:pPr>
            <a:r>
              <a:rPr sz="900" b="0" i="0">
                <a:solidFill>
                  <a:srgbClr val="A7C3B8"/>
                </a:solidFill>
                <a:latin typeface="Helvetica Neue"/>
              </a:rPr>
              <a:t>Adrien Enjalbert  ·  AI Systems, Personalization &amp; Growth</a:t>
            </a:r>
          </a:p>
        </p:txBody>
      </p:sp>
      <p:sp>
        <p:nvSpPr>
          <p:cNvPr id="22" name="TextBox 21"/>
          <p:cNvSpPr txBox="1"/>
          <p:nvPr/>
        </p:nvSpPr>
        <p:spPr>
          <a:xfrm>
            <a:off x="10911535" y="6400800"/>
            <a:ext cx="731520" cy="274320"/>
          </a:xfrm>
          <a:prstGeom prst="rect">
            <a:avLst/>
          </a:prstGeom>
          <a:noFill/>
        </p:spPr>
        <p:txBody>
          <a:bodyPr wrap="square" anchor="t" lIns="0" rIns="0" tIns="0" bIns="0">
            <a:spAutoFit/>
          </a:bodyPr>
          <a:lstStyle/>
          <a:p>
            <a:pPr algn="r">
              <a:lnSpc>
                <a:spcPct val="100000"/>
              </a:lnSpc>
            </a:pPr>
            <a:r>
              <a:rPr sz="900" b="1" i="0">
                <a:solidFill>
                  <a:srgbClr val="A7C3B8"/>
                </a:solidFill>
                <a:latin typeface="Avenir Nex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566928"/>
            <a:ext cx="749808" cy="420624"/>
          </a:xfrm>
          <a:prstGeom prst="roundRect">
            <a:avLst>
              <a:gd name="adj" fmla="val 50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548640"/>
            <a:ext cx="749808" cy="420624"/>
          </a:xfrm>
          <a:prstGeom prst="rect">
            <a:avLst/>
          </a:prstGeom>
          <a:noFill/>
        </p:spPr>
        <p:txBody>
          <a:bodyPr wrap="square" anchor="ctr" lIns="0" rIns="0" tIns="0" bIns="0">
            <a:spAutoFit/>
          </a:bodyPr>
          <a:lstStyle/>
          <a:p>
            <a:pPr algn="ctr">
              <a:lnSpc>
                <a:spcPct val="100000"/>
              </a:lnSpc>
            </a:pPr>
            <a:r>
              <a:rPr sz="1400" b="1" i="0">
                <a:solidFill>
                  <a:srgbClr val="0A1512"/>
                </a:solidFill>
                <a:latin typeface="Avenir Next"/>
              </a:rPr>
              <a:t>P3</a:t>
            </a:r>
          </a:p>
        </p:txBody>
      </p:sp>
      <p:sp>
        <p:nvSpPr>
          <p:cNvPr id="5" name="TextBox 4"/>
          <p:cNvSpPr txBox="1"/>
          <p:nvPr/>
        </p:nvSpPr>
        <p:spPr>
          <a:xfrm>
            <a:off x="1728216" y="548640"/>
            <a:ext cx="10058400" cy="457200"/>
          </a:xfrm>
          <a:prstGeom prst="rect">
            <a:avLst/>
          </a:prstGeom>
          <a:noFill/>
        </p:spPr>
        <p:txBody>
          <a:bodyPr wrap="square" anchor="ctr" lIns="0" rIns="0" tIns="0" bIns="0">
            <a:spAutoFit/>
          </a:bodyPr>
          <a:lstStyle/>
          <a:p>
            <a:pPr algn="l">
              <a:lnSpc>
                <a:spcPct val="100000"/>
              </a:lnSpc>
            </a:pPr>
            <a:r>
              <a:rPr sz="900" b="1" i="0">
                <a:solidFill>
                  <a:srgbClr val="A7C3B8"/>
                </a:solidFill>
                <a:latin typeface="Avenir Next"/>
              </a:rPr>
              <a:t>ANSWERING  </a:t>
            </a:r>
            <a:r>
              <a:rPr sz="1250" b="1" i="0">
                <a:solidFill>
                  <a:srgbClr val="FFFFFF"/>
                </a:solidFill>
                <a:latin typeface="Avenir Next"/>
              </a:rPr>
              <a:t>Give 5+ reasons the AI recommendation failed.</a:t>
            </a:r>
          </a:p>
        </p:txBody>
      </p:sp>
      <p:sp>
        <p:nvSpPr>
          <p:cNvPr id="6" name="TextBox 5"/>
          <p:cNvSpPr txBox="1"/>
          <p:nvPr/>
        </p:nvSpPr>
        <p:spPr>
          <a:xfrm>
            <a:off x="731520" y="1234440"/>
            <a:ext cx="10972800" cy="1005840"/>
          </a:xfrm>
          <a:prstGeom prst="rect">
            <a:avLst/>
          </a:prstGeom>
          <a:noFill/>
        </p:spPr>
        <p:txBody>
          <a:bodyPr wrap="square" anchor="t" lIns="0" rIns="0" tIns="0" bIns="0">
            <a:spAutoFit/>
          </a:bodyPr>
          <a:lstStyle/>
          <a:p>
            <a:pPr algn="l">
              <a:lnSpc>
                <a:spcPct val="102000"/>
              </a:lnSpc>
            </a:pPr>
            <a:r>
              <a:rPr sz="2400" b="1" i="0">
                <a:solidFill>
                  <a:srgbClr val="FFFFFF"/>
                </a:solidFill>
                <a:latin typeface="Avenir Next"/>
              </a:rPr>
              <a:t>The engine swapped 15% for a €10 offer in Germany. It flopped. Why?</a:t>
            </a:r>
          </a:p>
        </p:txBody>
      </p:sp>
      <p:sp>
        <p:nvSpPr>
          <p:cNvPr id="7" name="TextBox 6"/>
          <p:cNvSpPr txBox="1"/>
          <p:nvPr/>
        </p:nvSpPr>
        <p:spPr>
          <a:xfrm>
            <a:off x="777240" y="2331720"/>
            <a:ext cx="10607040" cy="548640"/>
          </a:xfrm>
          <a:prstGeom prst="rect">
            <a:avLst/>
          </a:prstGeom>
          <a:noFill/>
        </p:spPr>
        <p:txBody>
          <a:bodyPr wrap="square" anchor="t" lIns="0" rIns="0" tIns="0" bIns="0">
            <a:spAutoFit/>
          </a:bodyPr>
          <a:lstStyle/>
          <a:p>
            <a:pPr algn="l">
              <a:lnSpc>
                <a:spcPct val="108000"/>
              </a:lnSpc>
            </a:pPr>
            <a:r>
              <a:rPr sz="1350" b="0" i="0">
                <a:solidFill>
                  <a:srgbClr val="A7C3B8"/>
                </a:solidFill>
                <a:latin typeface="Helvetica Neue"/>
              </a:rPr>
              <a:t>First suspect: a flat €10 is </a:t>
            </a:r>
            <a:r>
              <a:rPr sz="1350" b="1" i="0">
                <a:solidFill>
                  <a:srgbClr val="34E0A1"/>
                </a:solidFill>
                <a:latin typeface="Helvetica Neue"/>
              </a:rPr>
              <a:t>less</a:t>
            </a:r>
            <a:r>
              <a:rPr sz="1350" b="0" i="0">
                <a:solidFill>
                  <a:srgbClr val="A7C3B8"/>
                </a:solidFill>
                <a:latin typeface="Helvetica Neue"/>
              </a:rPr>
              <a:t> than the €15.30 that 15% gave on a €102 basket, and it was even quoted in pounds. It under-priced the offer.</a:t>
            </a:r>
          </a:p>
        </p:txBody>
      </p:sp>
      <p:sp>
        <p:nvSpPr>
          <p:cNvPr id="8" name="Rounded Rectangle 7"/>
          <p:cNvSpPr/>
          <p:nvPr/>
        </p:nvSpPr>
        <p:spPr>
          <a:xfrm>
            <a:off x="777240" y="2999232"/>
            <a:ext cx="3520440" cy="1280160"/>
          </a:xfrm>
          <a:prstGeom prst="roundRect">
            <a:avLst>
              <a:gd name="adj" fmla="val 6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3163824"/>
            <a:ext cx="548640" cy="365760"/>
          </a:xfrm>
          <a:prstGeom prst="rect">
            <a:avLst/>
          </a:prstGeom>
          <a:noFill/>
        </p:spPr>
        <p:txBody>
          <a:bodyPr wrap="square" anchor="t" lIns="0" rIns="0" tIns="0" bIns="0">
            <a:spAutoFit/>
          </a:bodyPr>
          <a:lstStyle/>
          <a:p>
            <a:pPr algn="l">
              <a:lnSpc>
                <a:spcPct val="100000"/>
              </a:lnSpc>
            </a:pPr>
            <a:r>
              <a:rPr sz="1600" b="1" i="0">
                <a:solidFill>
                  <a:srgbClr val="34E0A1"/>
                </a:solidFill>
                <a:latin typeface="Avenir Next"/>
              </a:rPr>
              <a:t>1</a:t>
            </a:r>
          </a:p>
        </p:txBody>
      </p:sp>
      <p:sp>
        <p:nvSpPr>
          <p:cNvPr id="10" name="TextBox 9"/>
          <p:cNvSpPr txBox="1"/>
          <p:nvPr/>
        </p:nvSpPr>
        <p:spPr>
          <a:xfrm>
            <a:off x="1527048" y="3145536"/>
            <a:ext cx="2560320" cy="457200"/>
          </a:xfrm>
          <a:prstGeom prst="rect">
            <a:avLst/>
          </a:prstGeom>
          <a:noFill/>
        </p:spPr>
        <p:txBody>
          <a:bodyPr wrap="square" anchor="t" lIns="0" rIns="0" tIns="0" bIns="0">
            <a:spAutoFit/>
          </a:bodyPr>
          <a:lstStyle/>
          <a:p>
            <a:pPr algn="l">
              <a:lnSpc>
                <a:spcPct val="96000"/>
              </a:lnSpc>
            </a:pPr>
            <a:r>
              <a:rPr sz="1250" b="1" i="0">
                <a:solidFill>
                  <a:srgbClr val="FFFFFF"/>
                </a:solidFill>
                <a:latin typeface="Avenir Next"/>
              </a:rPr>
              <a:t>Currency &amp; basket mismatch</a:t>
            </a:r>
          </a:p>
        </p:txBody>
      </p:sp>
      <p:sp>
        <p:nvSpPr>
          <p:cNvPr id="11" name="TextBox 10"/>
          <p:cNvSpPr txBox="1"/>
          <p:nvPr/>
        </p:nvSpPr>
        <p:spPr>
          <a:xfrm>
            <a:off x="1527048" y="3566160"/>
            <a:ext cx="2560320" cy="658368"/>
          </a:xfrm>
          <a:prstGeom prst="rect">
            <a:avLst/>
          </a:prstGeom>
          <a:noFill/>
        </p:spPr>
        <p:txBody>
          <a:bodyPr wrap="square" anchor="t" lIns="0" rIns="0" tIns="0" bIns="0">
            <a:spAutoFit/>
          </a:bodyPr>
          <a:lstStyle/>
          <a:p>
            <a:pPr algn="l">
              <a:lnSpc>
                <a:spcPct val="102000"/>
              </a:lnSpc>
            </a:pPr>
            <a:r>
              <a:rPr sz="969" b="1" i="0">
                <a:solidFill>
                  <a:srgbClr val="34E0A1"/>
                </a:solidFill>
                <a:latin typeface="Helvetica Neue"/>
              </a:rPr>
              <a:t>Investigate → </a:t>
            </a:r>
            <a:r>
              <a:rPr sz="969" b="0" i="0">
                <a:solidFill>
                  <a:srgbClr val="A7C3B8"/>
                </a:solidFill>
                <a:latin typeface="Helvetica Neue"/>
              </a:rPr>
              <a:t>Recompute effective discount vs the 15% baseline; check the currency field (£ vs €).</a:t>
            </a:r>
          </a:p>
        </p:txBody>
      </p:sp>
      <p:sp>
        <p:nvSpPr>
          <p:cNvPr id="12" name="Rounded Rectangle 11"/>
          <p:cNvSpPr/>
          <p:nvPr/>
        </p:nvSpPr>
        <p:spPr>
          <a:xfrm>
            <a:off x="4553712" y="2999232"/>
            <a:ext cx="3520440" cy="1280160"/>
          </a:xfrm>
          <a:prstGeom prst="roundRect">
            <a:avLst>
              <a:gd name="adj" fmla="val 6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9744" y="3163824"/>
            <a:ext cx="548640" cy="365760"/>
          </a:xfrm>
          <a:prstGeom prst="rect">
            <a:avLst/>
          </a:prstGeom>
          <a:noFill/>
        </p:spPr>
        <p:txBody>
          <a:bodyPr wrap="square" anchor="t" lIns="0" rIns="0" tIns="0" bIns="0">
            <a:spAutoFit/>
          </a:bodyPr>
          <a:lstStyle/>
          <a:p>
            <a:pPr algn="l">
              <a:lnSpc>
                <a:spcPct val="100000"/>
              </a:lnSpc>
            </a:pPr>
            <a:r>
              <a:rPr sz="1600" b="1" i="0">
                <a:solidFill>
                  <a:srgbClr val="34E0A1"/>
                </a:solidFill>
                <a:latin typeface="Avenir Next"/>
              </a:rPr>
              <a:t>2</a:t>
            </a:r>
          </a:p>
        </p:txBody>
      </p:sp>
      <p:sp>
        <p:nvSpPr>
          <p:cNvPr id="14" name="TextBox 13"/>
          <p:cNvSpPr txBox="1"/>
          <p:nvPr/>
        </p:nvSpPr>
        <p:spPr>
          <a:xfrm>
            <a:off x="5303520" y="3145536"/>
            <a:ext cx="2560320" cy="457200"/>
          </a:xfrm>
          <a:prstGeom prst="rect">
            <a:avLst/>
          </a:prstGeom>
          <a:noFill/>
        </p:spPr>
        <p:txBody>
          <a:bodyPr wrap="square" anchor="t" lIns="0" rIns="0" tIns="0" bIns="0">
            <a:spAutoFit/>
          </a:bodyPr>
          <a:lstStyle/>
          <a:p>
            <a:pPr algn="l">
              <a:lnSpc>
                <a:spcPct val="96000"/>
              </a:lnSpc>
            </a:pPr>
            <a:r>
              <a:rPr sz="1250" b="1" i="0">
                <a:solidFill>
                  <a:srgbClr val="FFFFFF"/>
                </a:solidFill>
                <a:latin typeface="Avenir Next"/>
              </a:rPr>
              <a:t>Applied to the wrong segment</a:t>
            </a:r>
          </a:p>
        </p:txBody>
      </p:sp>
      <p:sp>
        <p:nvSpPr>
          <p:cNvPr id="15" name="TextBox 14"/>
          <p:cNvSpPr txBox="1"/>
          <p:nvPr/>
        </p:nvSpPr>
        <p:spPr>
          <a:xfrm>
            <a:off x="5303520" y="3566160"/>
            <a:ext cx="2560320" cy="658368"/>
          </a:xfrm>
          <a:prstGeom prst="rect">
            <a:avLst/>
          </a:prstGeom>
          <a:noFill/>
        </p:spPr>
        <p:txBody>
          <a:bodyPr wrap="square" anchor="t" lIns="0" rIns="0" tIns="0" bIns="0">
            <a:spAutoFit/>
          </a:bodyPr>
          <a:lstStyle/>
          <a:p>
            <a:pPr algn="l">
              <a:lnSpc>
                <a:spcPct val="102000"/>
              </a:lnSpc>
            </a:pPr>
            <a:r>
              <a:rPr sz="969" b="1" i="0">
                <a:solidFill>
                  <a:srgbClr val="34E0A1"/>
                </a:solidFill>
                <a:latin typeface="Helvetica Neue"/>
              </a:rPr>
              <a:t>Investigate → </a:t>
            </a:r>
            <a:r>
              <a:rPr sz="969" b="0" i="0">
                <a:solidFill>
                  <a:srgbClr val="A7C3B8"/>
                </a:solidFill>
                <a:latin typeface="Helvetica Neue"/>
              </a:rPr>
              <a:t>Break the live result by segment; confirm who received it vs where the signal came from.</a:t>
            </a:r>
          </a:p>
        </p:txBody>
      </p:sp>
      <p:sp>
        <p:nvSpPr>
          <p:cNvPr id="16" name="Rounded Rectangle 15"/>
          <p:cNvSpPr/>
          <p:nvPr/>
        </p:nvSpPr>
        <p:spPr>
          <a:xfrm>
            <a:off x="8330183" y="2999232"/>
            <a:ext cx="3520440" cy="1280160"/>
          </a:xfrm>
          <a:prstGeom prst="roundRect">
            <a:avLst>
              <a:gd name="adj" fmla="val 6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86215" y="3163824"/>
            <a:ext cx="548640" cy="365760"/>
          </a:xfrm>
          <a:prstGeom prst="rect">
            <a:avLst/>
          </a:prstGeom>
          <a:noFill/>
        </p:spPr>
        <p:txBody>
          <a:bodyPr wrap="square" anchor="t" lIns="0" rIns="0" tIns="0" bIns="0">
            <a:spAutoFit/>
          </a:bodyPr>
          <a:lstStyle/>
          <a:p>
            <a:pPr algn="l">
              <a:lnSpc>
                <a:spcPct val="100000"/>
              </a:lnSpc>
            </a:pPr>
            <a:r>
              <a:rPr sz="1600" b="1" i="0">
                <a:solidFill>
                  <a:srgbClr val="34E0A1"/>
                </a:solidFill>
                <a:latin typeface="Avenir Next"/>
              </a:rPr>
              <a:t>3</a:t>
            </a:r>
          </a:p>
        </p:txBody>
      </p:sp>
      <p:sp>
        <p:nvSpPr>
          <p:cNvPr id="18" name="TextBox 17"/>
          <p:cNvSpPr txBox="1"/>
          <p:nvPr/>
        </p:nvSpPr>
        <p:spPr>
          <a:xfrm>
            <a:off x="9079992" y="3145536"/>
            <a:ext cx="2560320" cy="457200"/>
          </a:xfrm>
          <a:prstGeom prst="rect">
            <a:avLst/>
          </a:prstGeom>
          <a:noFill/>
        </p:spPr>
        <p:txBody>
          <a:bodyPr wrap="square" anchor="t" lIns="0" rIns="0" tIns="0" bIns="0">
            <a:spAutoFit/>
          </a:bodyPr>
          <a:lstStyle/>
          <a:p>
            <a:pPr algn="l">
              <a:lnSpc>
                <a:spcPct val="96000"/>
              </a:lnSpc>
            </a:pPr>
            <a:r>
              <a:rPr sz="1250" b="1" i="0">
                <a:solidFill>
                  <a:srgbClr val="FFFFFF"/>
                </a:solidFill>
                <a:latin typeface="Avenir Next"/>
              </a:rPr>
              <a:t>Soft signal as a hard rule</a:t>
            </a:r>
          </a:p>
        </p:txBody>
      </p:sp>
      <p:sp>
        <p:nvSpPr>
          <p:cNvPr id="19" name="TextBox 18"/>
          <p:cNvSpPr txBox="1"/>
          <p:nvPr/>
        </p:nvSpPr>
        <p:spPr>
          <a:xfrm>
            <a:off x="9079992" y="3566160"/>
            <a:ext cx="2560320" cy="658368"/>
          </a:xfrm>
          <a:prstGeom prst="rect">
            <a:avLst/>
          </a:prstGeom>
          <a:noFill/>
        </p:spPr>
        <p:txBody>
          <a:bodyPr wrap="square" anchor="t" lIns="0" rIns="0" tIns="0" bIns="0">
            <a:spAutoFit/>
          </a:bodyPr>
          <a:lstStyle/>
          <a:p>
            <a:pPr algn="l">
              <a:lnSpc>
                <a:spcPct val="102000"/>
              </a:lnSpc>
            </a:pPr>
            <a:r>
              <a:rPr sz="969" b="1" i="0">
                <a:solidFill>
                  <a:srgbClr val="34E0A1"/>
                </a:solidFill>
                <a:latin typeface="Helvetica Neue"/>
              </a:rPr>
              <a:t>Investigate → </a:t>
            </a:r>
            <a:r>
              <a:rPr sz="969" b="0" i="0">
                <a:solidFill>
                  <a:srgbClr val="A7C3B8"/>
                </a:solidFill>
                <a:latin typeface="Helvetica Neue"/>
              </a:rPr>
              <a:t>Pull the qual study's sample size, date and segment; test where the preference holds.</a:t>
            </a:r>
          </a:p>
        </p:txBody>
      </p:sp>
      <p:sp>
        <p:nvSpPr>
          <p:cNvPr id="20" name="Rounded Rectangle 19"/>
          <p:cNvSpPr/>
          <p:nvPr/>
        </p:nvSpPr>
        <p:spPr>
          <a:xfrm>
            <a:off x="777240" y="4443983"/>
            <a:ext cx="3520440" cy="1280160"/>
          </a:xfrm>
          <a:prstGeom prst="roundRect">
            <a:avLst>
              <a:gd name="adj" fmla="val 6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3271" y="4608575"/>
            <a:ext cx="548640" cy="365760"/>
          </a:xfrm>
          <a:prstGeom prst="rect">
            <a:avLst/>
          </a:prstGeom>
          <a:noFill/>
        </p:spPr>
        <p:txBody>
          <a:bodyPr wrap="square" anchor="t" lIns="0" rIns="0" tIns="0" bIns="0">
            <a:spAutoFit/>
          </a:bodyPr>
          <a:lstStyle/>
          <a:p>
            <a:pPr algn="l">
              <a:lnSpc>
                <a:spcPct val="100000"/>
              </a:lnSpc>
            </a:pPr>
            <a:r>
              <a:rPr sz="1600" b="1" i="0">
                <a:solidFill>
                  <a:srgbClr val="34E0A1"/>
                </a:solidFill>
                <a:latin typeface="Avenir Next"/>
              </a:rPr>
              <a:t>4</a:t>
            </a:r>
          </a:p>
        </p:txBody>
      </p:sp>
      <p:sp>
        <p:nvSpPr>
          <p:cNvPr id="22" name="TextBox 21"/>
          <p:cNvSpPr txBox="1"/>
          <p:nvPr/>
        </p:nvSpPr>
        <p:spPr>
          <a:xfrm>
            <a:off x="1527048" y="4590288"/>
            <a:ext cx="2560320" cy="457200"/>
          </a:xfrm>
          <a:prstGeom prst="rect">
            <a:avLst/>
          </a:prstGeom>
          <a:noFill/>
        </p:spPr>
        <p:txBody>
          <a:bodyPr wrap="square" anchor="t" lIns="0" rIns="0" tIns="0" bIns="0">
            <a:spAutoFit/>
          </a:bodyPr>
          <a:lstStyle/>
          <a:p>
            <a:pPr algn="l">
              <a:lnSpc>
                <a:spcPct val="96000"/>
              </a:lnSpc>
            </a:pPr>
            <a:r>
              <a:rPr sz="1250" b="1" i="0">
                <a:solidFill>
                  <a:srgbClr val="FFFFFF"/>
                </a:solidFill>
                <a:latin typeface="Avenir Next"/>
              </a:rPr>
              <a:t>Correlation, not incrementality</a:t>
            </a:r>
          </a:p>
        </p:txBody>
      </p:sp>
      <p:sp>
        <p:nvSpPr>
          <p:cNvPr id="23" name="TextBox 22"/>
          <p:cNvSpPr txBox="1"/>
          <p:nvPr/>
        </p:nvSpPr>
        <p:spPr>
          <a:xfrm>
            <a:off x="1527048" y="5010912"/>
            <a:ext cx="2560320" cy="658368"/>
          </a:xfrm>
          <a:prstGeom prst="rect">
            <a:avLst/>
          </a:prstGeom>
          <a:noFill/>
        </p:spPr>
        <p:txBody>
          <a:bodyPr wrap="square" anchor="t" lIns="0" rIns="0" tIns="0" bIns="0">
            <a:spAutoFit/>
          </a:bodyPr>
          <a:lstStyle/>
          <a:p>
            <a:pPr algn="l">
              <a:lnSpc>
                <a:spcPct val="102000"/>
              </a:lnSpc>
            </a:pPr>
            <a:r>
              <a:rPr sz="969" b="1" i="0">
                <a:solidFill>
                  <a:srgbClr val="34E0A1"/>
                </a:solidFill>
                <a:latin typeface="Helvetica Neue"/>
              </a:rPr>
              <a:t>Investigate → </a:t>
            </a:r>
            <a:r>
              <a:rPr sz="969" b="0" i="0">
                <a:solidFill>
                  <a:srgbClr val="A7C3B8"/>
                </a:solidFill>
                <a:latin typeface="Helvetica Neue"/>
              </a:rPr>
              <a:t>Audit the objective &amp; features; re-rank the pick on holdout incrementality only.</a:t>
            </a:r>
          </a:p>
        </p:txBody>
      </p:sp>
      <p:sp>
        <p:nvSpPr>
          <p:cNvPr id="24" name="Rounded Rectangle 23"/>
          <p:cNvSpPr/>
          <p:nvPr/>
        </p:nvSpPr>
        <p:spPr>
          <a:xfrm>
            <a:off x="4553712" y="4443983"/>
            <a:ext cx="3520440" cy="1280160"/>
          </a:xfrm>
          <a:prstGeom prst="roundRect">
            <a:avLst>
              <a:gd name="adj" fmla="val 6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09744" y="4608575"/>
            <a:ext cx="548640" cy="365760"/>
          </a:xfrm>
          <a:prstGeom prst="rect">
            <a:avLst/>
          </a:prstGeom>
          <a:noFill/>
        </p:spPr>
        <p:txBody>
          <a:bodyPr wrap="square" anchor="t" lIns="0" rIns="0" tIns="0" bIns="0">
            <a:spAutoFit/>
          </a:bodyPr>
          <a:lstStyle/>
          <a:p>
            <a:pPr algn="l">
              <a:lnSpc>
                <a:spcPct val="100000"/>
              </a:lnSpc>
            </a:pPr>
            <a:r>
              <a:rPr sz="1600" b="1" i="0">
                <a:solidFill>
                  <a:srgbClr val="34E0A1"/>
                </a:solidFill>
                <a:latin typeface="Avenir Next"/>
              </a:rPr>
              <a:t>5</a:t>
            </a:r>
          </a:p>
        </p:txBody>
      </p:sp>
      <p:sp>
        <p:nvSpPr>
          <p:cNvPr id="26" name="TextBox 25"/>
          <p:cNvSpPr txBox="1"/>
          <p:nvPr/>
        </p:nvSpPr>
        <p:spPr>
          <a:xfrm>
            <a:off x="5303520" y="4590288"/>
            <a:ext cx="2560320" cy="457200"/>
          </a:xfrm>
          <a:prstGeom prst="rect">
            <a:avLst/>
          </a:prstGeom>
          <a:noFill/>
        </p:spPr>
        <p:txBody>
          <a:bodyPr wrap="square" anchor="t" lIns="0" rIns="0" tIns="0" bIns="0">
            <a:spAutoFit/>
          </a:bodyPr>
          <a:lstStyle/>
          <a:p>
            <a:pPr algn="l">
              <a:lnSpc>
                <a:spcPct val="96000"/>
              </a:lnSpc>
            </a:pPr>
            <a:r>
              <a:rPr sz="1250" b="1" i="0">
                <a:solidFill>
                  <a:srgbClr val="FFFFFF"/>
                </a:solidFill>
                <a:latin typeface="Avenir Next"/>
              </a:rPr>
              <a:t>No clean baseline</a:t>
            </a:r>
          </a:p>
        </p:txBody>
      </p:sp>
      <p:sp>
        <p:nvSpPr>
          <p:cNvPr id="27" name="TextBox 26"/>
          <p:cNvSpPr txBox="1"/>
          <p:nvPr/>
        </p:nvSpPr>
        <p:spPr>
          <a:xfrm>
            <a:off x="5303520" y="5010912"/>
            <a:ext cx="2560320" cy="658368"/>
          </a:xfrm>
          <a:prstGeom prst="rect">
            <a:avLst/>
          </a:prstGeom>
          <a:noFill/>
        </p:spPr>
        <p:txBody>
          <a:bodyPr wrap="square" anchor="t" lIns="0" rIns="0" tIns="0" bIns="0">
            <a:spAutoFit/>
          </a:bodyPr>
          <a:lstStyle/>
          <a:p>
            <a:pPr algn="l">
              <a:lnSpc>
                <a:spcPct val="102000"/>
              </a:lnSpc>
            </a:pPr>
            <a:r>
              <a:rPr sz="969" b="1" i="0">
                <a:solidFill>
                  <a:srgbClr val="34E0A1"/>
                </a:solidFill>
                <a:latin typeface="Helvetica Neue"/>
              </a:rPr>
              <a:t>Investigate → </a:t>
            </a:r>
            <a:r>
              <a:rPr sz="969" b="0" i="0">
                <a:solidFill>
                  <a:srgbClr val="A7C3B8"/>
                </a:solidFill>
                <a:latin typeface="Helvetica Neue"/>
              </a:rPr>
              <a:t>Confirm a holdout existed; check seasonality, competitor promos and tracking breaks.</a:t>
            </a:r>
          </a:p>
        </p:txBody>
      </p:sp>
      <p:sp>
        <p:nvSpPr>
          <p:cNvPr id="28" name="Rounded Rectangle 27"/>
          <p:cNvSpPr/>
          <p:nvPr/>
        </p:nvSpPr>
        <p:spPr>
          <a:xfrm>
            <a:off x="8330183" y="4443983"/>
            <a:ext cx="3520440" cy="1280160"/>
          </a:xfrm>
          <a:prstGeom prst="roundRect">
            <a:avLst>
              <a:gd name="adj" fmla="val 6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86215" y="4608575"/>
            <a:ext cx="548640" cy="365760"/>
          </a:xfrm>
          <a:prstGeom prst="rect">
            <a:avLst/>
          </a:prstGeom>
          <a:noFill/>
        </p:spPr>
        <p:txBody>
          <a:bodyPr wrap="square" anchor="t" lIns="0" rIns="0" tIns="0" bIns="0">
            <a:spAutoFit/>
          </a:bodyPr>
          <a:lstStyle/>
          <a:p>
            <a:pPr algn="l">
              <a:lnSpc>
                <a:spcPct val="100000"/>
              </a:lnSpc>
            </a:pPr>
            <a:r>
              <a:rPr sz="1600" b="1" i="0">
                <a:solidFill>
                  <a:srgbClr val="34E0A1"/>
                </a:solidFill>
                <a:latin typeface="Avenir Next"/>
              </a:rPr>
              <a:t>6</a:t>
            </a:r>
          </a:p>
        </p:txBody>
      </p:sp>
      <p:sp>
        <p:nvSpPr>
          <p:cNvPr id="30" name="TextBox 29"/>
          <p:cNvSpPr txBox="1"/>
          <p:nvPr/>
        </p:nvSpPr>
        <p:spPr>
          <a:xfrm>
            <a:off x="9079992" y="4590288"/>
            <a:ext cx="2560320" cy="457200"/>
          </a:xfrm>
          <a:prstGeom prst="rect">
            <a:avLst/>
          </a:prstGeom>
          <a:noFill/>
        </p:spPr>
        <p:txBody>
          <a:bodyPr wrap="square" anchor="t" lIns="0" rIns="0" tIns="0" bIns="0">
            <a:spAutoFit/>
          </a:bodyPr>
          <a:lstStyle/>
          <a:p>
            <a:pPr algn="l">
              <a:lnSpc>
                <a:spcPct val="96000"/>
              </a:lnSpc>
            </a:pPr>
            <a:r>
              <a:rPr sz="1250" b="1" i="0">
                <a:solidFill>
                  <a:srgbClr val="FFFFFF"/>
                </a:solidFill>
                <a:latin typeface="Avenir Next"/>
              </a:rPr>
              <a:t>Confident on thin data</a:t>
            </a:r>
          </a:p>
        </p:txBody>
      </p:sp>
      <p:sp>
        <p:nvSpPr>
          <p:cNvPr id="31" name="TextBox 30"/>
          <p:cNvSpPr txBox="1"/>
          <p:nvPr/>
        </p:nvSpPr>
        <p:spPr>
          <a:xfrm>
            <a:off x="9079992" y="5010912"/>
            <a:ext cx="2560320" cy="658368"/>
          </a:xfrm>
          <a:prstGeom prst="rect">
            <a:avLst/>
          </a:prstGeom>
          <a:noFill/>
        </p:spPr>
        <p:txBody>
          <a:bodyPr wrap="square" anchor="t" lIns="0" rIns="0" tIns="0" bIns="0">
            <a:spAutoFit/>
          </a:bodyPr>
          <a:lstStyle/>
          <a:p>
            <a:pPr algn="l">
              <a:lnSpc>
                <a:spcPct val="102000"/>
              </a:lnSpc>
            </a:pPr>
            <a:r>
              <a:rPr sz="969" b="1" i="0">
                <a:solidFill>
                  <a:srgbClr val="34E0A1"/>
                </a:solidFill>
                <a:latin typeface="Helvetica Neue"/>
              </a:rPr>
              <a:t>Investigate → </a:t>
            </a:r>
            <a:r>
              <a:rPr sz="969" b="0" i="0">
                <a:solidFill>
                  <a:srgbClr val="A7C3B8"/>
                </a:solidFill>
                <a:latin typeface="Helvetica Neue"/>
              </a:rPr>
              <a:t>Check training-data coverage for fixed-value offers and whether a confidence score was ignored.</a:t>
            </a:r>
          </a:p>
        </p:txBody>
      </p:sp>
      <p:sp>
        <p:nvSpPr>
          <p:cNvPr id="32" name="TextBox 31"/>
          <p:cNvSpPr txBox="1"/>
          <p:nvPr/>
        </p:nvSpPr>
        <p:spPr>
          <a:xfrm>
            <a:off x="777240" y="5943600"/>
            <a:ext cx="10607040" cy="548640"/>
          </a:xfrm>
          <a:prstGeom prst="rect">
            <a:avLst/>
          </a:prstGeom>
          <a:noFill/>
        </p:spPr>
        <p:txBody>
          <a:bodyPr wrap="square" anchor="t" lIns="0" rIns="0" tIns="0" bIns="0">
            <a:spAutoFit/>
          </a:bodyPr>
          <a:lstStyle/>
          <a:p>
            <a:pPr algn="l">
              <a:lnSpc>
                <a:spcPct val="104000"/>
              </a:lnSpc>
            </a:pPr>
            <a:r>
              <a:rPr sz="1150" b="1" i="0">
                <a:solidFill>
                  <a:srgbClr val="34E0A1"/>
                </a:solidFill>
                <a:latin typeface="Helvetica Neue"/>
              </a:rPr>
              <a:t>The lesson: </a:t>
            </a:r>
            <a:r>
              <a:rPr sz="1150" b="0" i="0">
                <a:solidFill>
                  <a:srgbClr val="A7C3B8"/>
                </a:solidFill>
                <a:latin typeface="Helvetica Neue"/>
              </a:rPr>
              <a:t>guardrails before autonomy. The QA assistant and an incrementality-first knowledge base would have caught this. That's why they rank above the engine.</a:t>
            </a:r>
          </a:p>
        </p:txBody>
      </p:sp>
      <p:sp>
        <p:nvSpPr>
          <p:cNvPr id="33" name="TextBox 32"/>
          <p:cNvSpPr txBox="1"/>
          <p:nvPr/>
        </p:nvSpPr>
        <p:spPr>
          <a:xfrm>
            <a:off x="548640" y="6400800"/>
            <a:ext cx="7315200" cy="274320"/>
          </a:xfrm>
          <a:prstGeom prst="rect">
            <a:avLst/>
          </a:prstGeom>
          <a:noFill/>
        </p:spPr>
        <p:txBody>
          <a:bodyPr wrap="square" anchor="t" lIns="0" rIns="0" tIns="0" bIns="0">
            <a:spAutoFit/>
          </a:bodyPr>
          <a:lstStyle/>
          <a:p>
            <a:pPr algn="l">
              <a:lnSpc>
                <a:spcPct val="100000"/>
              </a:lnSpc>
            </a:pPr>
            <a:r>
              <a:rPr sz="900" b="0" i="0">
                <a:solidFill>
                  <a:srgbClr val="A7C3B8"/>
                </a:solidFill>
                <a:latin typeface="Helvetica Neue"/>
              </a:rPr>
              <a:t>Adrien Enjalbert  ·  AI Systems, Personalization &amp; Growth</a:t>
            </a:r>
          </a:p>
        </p:txBody>
      </p:sp>
      <p:sp>
        <p:nvSpPr>
          <p:cNvPr id="34" name="TextBox 33"/>
          <p:cNvSpPr txBox="1"/>
          <p:nvPr/>
        </p:nvSpPr>
        <p:spPr>
          <a:xfrm>
            <a:off x="10911535" y="6400800"/>
            <a:ext cx="731520" cy="274320"/>
          </a:xfrm>
          <a:prstGeom prst="rect">
            <a:avLst/>
          </a:prstGeom>
          <a:noFill/>
        </p:spPr>
        <p:txBody>
          <a:bodyPr wrap="square" anchor="t" lIns="0" rIns="0" tIns="0" bIns="0">
            <a:spAutoFit/>
          </a:bodyPr>
          <a:lstStyle/>
          <a:p>
            <a:pPr algn="r">
              <a:lnSpc>
                <a:spcPct val="100000"/>
              </a:lnSpc>
            </a:pPr>
            <a:r>
              <a:rPr sz="900" b="1" i="0">
                <a:solidFill>
                  <a:srgbClr val="A7C3B8"/>
                </a:solidFill>
                <a:latin typeface="Avenir Nex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566928"/>
            <a:ext cx="749808" cy="420624"/>
          </a:xfrm>
          <a:prstGeom prst="roundRect">
            <a:avLst>
              <a:gd name="adj" fmla="val 50000"/>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548640"/>
            <a:ext cx="749808" cy="420624"/>
          </a:xfrm>
          <a:prstGeom prst="rect">
            <a:avLst/>
          </a:prstGeom>
          <a:noFill/>
        </p:spPr>
        <p:txBody>
          <a:bodyPr wrap="square" anchor="ctr" lIns="0" rIns="0" tIns="0" bIns="0">
            <a:spAutoFit/>
          </a:bodyPr>
          <a:lstStyle/>
          <a:p>
            <a:pPr algn="ctr">
              <a:lnSpc>
                <a:spcPct val="100000"/>
              </a:lnSpc>
            </a:pPr>
            <a:r>
              <a:rPr sz="1400" b="1" i="0">
                <a:solidFill>
                  <a:srgbClr val="0A1512"/>
                </a:solidFill>
                <a:latin typeface="Avenir Next"/>
              </a:rPr>
              <a:t>P4</a:t>
            </a:r>
          </a:p>
        </p:txBody>
      </p:sp>
      <p:sp>
        <p:nvSpPr>
          <p:cNvPr id="5" name="TextBox 4"/>
          <p:cNvSpPr txBox="1"/>
          <p:nvPr/>
        </p:nvSpPr>
        <p:spPr>
          <a:xfrm>
            <a:off x="1728216" y="548640"/>
            <a:ext cx="10058400" cy="457200"/>
          </a:xfrm>
          <a:prstGeom prst="rect">
            <a:avLst/>
          </a:prstGeom>
          <a:noFill/>
        </p:spPr>
        <p:txBody>
          <a:bodyPr wrap="square" anchor="ctr" lIns="0" rIns="0" tIns="0" bIns="0">
            <a:spAutoFit/>
          </a:bodyPr>
          <a:lstStyle/>
          <a:p>
            <a:pPr algn="l">
              <a:lnSpc>
                <a:spcPct val="100000"/>
              </a:lnSpc>
            </a:pPr>
            <a:r>
              <a:rPr sz="900" b="1" i="0">
                <a:solidFill>
                  <a:srgbClr val="A7C3B8"/>
                </a:solidFill>
                <a:latin typeface="Avenir Next"/>
              </a:rPr>
              <a:t>ANSWERING  </a:t>
            </a:r>
            <a:r>
              <a:rPr sz="1250" b="1" i="0">
                <a:solidFill>
                  <a:srgbClr val="FFFFFF"/>
                </a:solidFill>
                <a:latin typeface="Avenir Next"/>
              </a:rPr>
              <a:t>Align Finance and the Incentives Lead.</a:t>
            </a:r>
          </a:p>
        </p:txBody>
      </p:sp>
      <p:sp>
        <p:nvSpPr>
          <p:cNvPr id="6" name="TextBox 5"/>
          <p:cNvSpPr txBox="1"/>
          <p:nvPr/>
        </p:nvSpPr>
        <p:spPr>
          <a:xfrm>
            <a:off x="731520" y="1234440"/>
            <a:ext cx="10972800" cy="914400"/>
          </a:xfrm>
          <a:prstGeom prst="rect">
            <a:avLst/>
          </a:prstGeom>
          <a:noFill/>
        </p:spPr>
        <p:txBody>
          <a:bodyPr wrap="square" anchor="t" lIns="0" rIns="0" tIns="0" bIns="0">
            <a:spAutoFit/>
          </a:bodyPr>
          <a:lstStyle/>
          <a:p>
            <a:pPr algn="l">
              <a:lnSpc>
                <a:spcPct val="100000"/>
              </a:lnSpc>
            </a:pPr>
            <a:r>
              <a:rPr sz="2400" b="1" i="0">
                <a:solidFill>
                  <a:srgbClr val="FFFFFF"/>
                </a:solidFill>
                <a:latin typeface="Avenir Next"/>
              </a:rPr>
              <a:t>Finance wants proof. The Lead wants the waste gone. Both are right.</a:t>
            </a:r>
          </a:p>
        </p:txBody>
      </p:sp>
      <p:sp>
        <p:nvSpPr>
          <p:cNvPr id="7" name="Rounded Rectangle 6"/>
          <p:cNvSpPr/>
          <p:nvPr/>
        </p:nvSpPr>
        <p:spPr>
          <a:xfrm>
            <a:off x="777240" y="2331720"/>
            <a:ext cx="5257800" cy="1371600"/>
          </a:xfrm>
          <a:prstGeom prst="roundRect">
            <a:avLst>
              <a:gd name="adj" fmla="val 6000"/>
            </a:avLst>
          </a:prstGeom>
          <a:solidFill>
            <a:srgbClr val="0E1F18"/>
          </a:solidFill>
          <a:ln w="12700">
            <a:solidFill>
              <a:srgbClr val="5A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487168"/>
            <a:ext cx="4754880" cy="320040"/>
          </a:xfrm>
          <a:prstGeom prst="rect">
            <a:avLst/>
          </a:prstGeom>
          <a:noFill/>
        </p:spPr>
        <p:txBody>
          <a:bodyPr wrap="square" anchor="t" lIns="0" rIns="0" tIns="0" bIns="0">
            <a:spAutoFit/>
          </a:bodyPr>
          <a:lstStyle/>
          <a:p>
            <a:pPr algn="l">
              <a:lnSpc>
                <a:spcPct val="100000"/>
              </a:lnSpc>
            </a:pPr>
            <a:r>
              <a:rPr sz="1050" b="1" i="0">
                <a:solidFill>
                  <a:srgbClr val="F05B5B"/>
                </a:solidFill>
                <a:latin typeface="Avenir Next"/>
              </a:rPr>
              <a:t>FINANCE</a:t>
            </a:r>
          </a:p>
        </p:txBody>
      </p:sp>
      <p:sp>
        <p:nvSpPr>
          <p:cNvPr id="9" name="TextBox 8"/>
          <p:cNvSpPr txBox="1"/>
          <p:nvPr/>
        </p:nvSpPr>
        <p:spPr>
          <a:xfrm>
            <a:off x="1051560" y="2816352"/>
            <a:ext cx="4800600" cy="868680"/>
          </a:xfrm>
          <a:prstGeom prst="rect">
            <a:avLst/>
          </a:prstGeom>
          <a:noFill/>
        </p:spPr>
        <p:txBody>
          <a:bodyPr wrap="square" anchor="t" lIns="0" rIns="0" tIns="0" bIns="0">
            <a:spAutoFit/>
          </a:bodyPr>
          <a:lstStyle/>
          <a:p>
            <a:pPr algn="l">
              <a:lnSpc>
                <a:spcPct val="105000"/>
              </a:lnSpc>
            </a:pPr>
            <a:r>
              <a:rPr sz="1250" b="0" i="1">
                <a:solidFill>
                  <a:srgbClr val="E6EFEA"/>
                </a:solidFill>
                <a:latin typeface="Helvetica Neue"/>
              </a:rPr>
              <a:t>“It's delivering bookings. I'm uncomfortable reducing discounts before we have stronger evidence.”</a:t>
            </a:r>
          </a:p>
        </p:txBody>
      </p:sp>
      <p:sp>
        <p:nvSpPr>
          <p:cNvPr id="10" name="Rounded Rectangle 9"/>
          <p:cNvSpPr/>
          <p:nvPr/>
        </p:nvSpPr>
        <p:spPr>
          <a:xfrm>
            <a:off x="6172200" y="2331720"/>
            <a:ext cx="5257800" cy="1371600"/>
          </a:xfrm>
          <a:prstGeom prst="roundRect">
            <a:avLst>
              <a:gd name="adj" fmla="val 6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487168"/>
            <a:ext cx="4754880" cy="320040"/>
          </a:xfrm>
          <a:prstGeom prst="rect">
            <a:avLst/>
          </a:prstGeom>
          <a:noFill/>
        </p:spPr>
        <p:txBody>
          <a:bodyPr wrap="square" anchor="t" lIns="0" rIns="0" tIns="0" bIns="0">
            <a:spAutoFit/>
          </a:bodyPr>
          <a:lstStyle/>
          <a:p>
            <a:pPr algn="l">
              <a:lnSpc>
                <a:spcPct val="100000"/>
              </a:lnSpc>
            </a:pPr>
            <a:r>
              <a:rPr sz="1050" b="1" i="0">
                <a:solidFill>
                  <a:srgbClr val="34E0A1"/>
                </a:solidFill>
                <a:latin typeface="Avenir Next"/>
              </a:rPr>
              <a:t>INCENTIVES LEAD  ·  PRIVATELY</a:t>
            </a:r>
          </a:p>
        </p:txBody>
      </p:sp>
      <p:sp>
        <p:nvSpPr>
          <p:cNvPr id="12" name="TextBox 11"/>
          <p:cNvSpPr txBox="1"/>
          <p:nvPr/>
        </p:nvSpPr>
        <p:spPr>
          <a:xfrm>
            <a:off x="6446520" y="2816352"/>
            <a:ext cx="4800600" cy="868680"/>
          </a:xfrm>
          <a:prstGeom prst="rect">
            <a:avLst/>
          </a:prstGeom>
          <a:noFill/>
        </p:spPr>
        <p:txBody>
          <a:bodyPr wrap="square" anchor="t" lIns="0" rIns="0" tIns="0" bIns="0">
            <a:spAutoFit/>
          </a:bodyPr>
          <a:lstStyle/>
          <a:p>
            <a:pPr algn="l">
              <a:lnSpc>
                <a:spcPct val="105000"/>
              </a:lnSpc>
            </a:pPr>
            <a:r>
              <a:rPr sz="1250" b="0" i="1">
                <a:solidFill>
                  <a:srgbClr val="E6EFEA"/>
                </a:solidFill>
                <a:latin typeface="Helvetica Neue"/>
              </a:rPr>
              <a:t>“We're wasting promotional budget on customers who would have booked anyway.”</a:t>
            </a:r>
          </a:p>
        </p:txBody>
      </p:sp>
      <p:sp>
        <p:nvSpPr>
          <p:cNvPr id="13" name="Rounded Rectangle 12"/>
          <p:cNvSpPr/>
          <p:nvPr/>
        </p:nvSpPr>
        <p:spPr>
          <a:xfrm>
            <a:off x="777240" y="3931920"/>
            <a:ext cx="10652760" cy="1920240"/>
          </a:xfrm>
          <a:prstGeom prst="roundRect">
            <a:avLst>
              <a:gd name="adj" fmla="val 6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078224"/>
            <a:ext cx="10149840" cy="365760"/>
          </a:xfrm>
          <a:prstGeom prst="rect">
            <a:avLst/>
          </a:prstGeom>
          <a:noFill/>
        </p:spPr>
        <p:txBody>
          <a:bodyPr wrap="square" anchor="t" lIns="0" rIns="0" tIns="0" bIns="0">
            <a:spAutoFit/>
          </a:bodyPr>
          <a:lstStyle/>
          <a:p>
            <a:pPr algn="l">
              <a:lnSpc>
                <a:spcPct val="100000"/>
              </a:lnSpc>
            </a:pPr>
            <a:r>
              <a:rPr sz="1100" b="1" i="0">
                <a:solidFill>
                  <a:srgbClr val="34E0A1"/>
                </a:solidFill>
                <a:latin typeface="Avenir Next"/>
              </a:rPr>
              <a:t>MY MOVE  ·  TEST ON A SAMPLE  ·  DECIDE ON THE NUMBERS  ·  REPORT TO BOTH</a:t>
            </a:r>
          </a:p>
        </p:txBody>
      </p:sp>
      <p:sp>
        <p:nvSpPr>
          <p:cNvPr id="15" name="TextBox 14"/>
          <p:cNvSpPr txBox="1"/>
          <p:nvPr/>
        </p:nvSpPr>
        <p:spPr>
          <a:xfrm>
            <a:off x="1051560" y="4443984"/>
            <a:ext cx="10241280" cy="457200"/>
          </a:xfrm>
          <a:prstGeom prst="rect">
            <a:avLst/>
          </a:prstGeom>
          <a:noFill/>
        </p:spPr>
        <p:txBody>
          <a:bodyPr wrap="square" anchor="t" lIns="0" rIns="0" tIns="0" bIns="0">
            <a:spAutoFit/>
          </a:bodyPr>
          <a:lstStyle/>
          <a:p>
            <a:pPr algn="l">
              <a:lnSpc>
                <a:spcPct val="102000"/>
              </a:lnSpc>
            </a:pPr>
            <a:r>
              <a:rPr sz="1150" b="1" i="0">
                <a:solidFill>
                  <a:srgbClr val="34E0A1"/>
                </a:solidFill>
                <a:latin typeface="Helvetica Neue"/>
              </a:rPr>
              <a:t>▸  </a:t>
            </a:r>
            <a:r>
              <a:rPr sz="1150" b="1" i="0">
                <a:solidFill>
                  <a:srgbClr val="FFFFFF"/>
                </a:solidFill>
                <a:latin typeface="Helvetica Neue"/>
              </a:rPr>
              <a:t>Sample, don't switch. </a:t>
            </a:r>
            <a:r>
              <a:rPr sz="1150" b="0" i="0">
                <a:solidFill>
                  <a:srgbClr val="A7C3B8"/>
                </a:solidFill>
                <a:latin typeface="Helvetica Neue"/>
              </a:rPr>
              <a:t>A holdout on repeat buyers in 1–2 markets caps the downside. The promo runs everywhere else, so Finance's bookings stay protected.</a:t>
            </a:r>
          </a:p>
        </p:txBody>
      </p:sp>
      <p:sp>
        <p:nvSpPr>
          <p:cNvPr id="16" name="TextBox 15"/>
          <p:cNvSpPr txBox="1"/>
          <p:nvPr/>
        </p:nvSpPr>
        <p:spPr>
          <a:xfrm>
            <a:off x="1051560" y="4901184"/>
            <a:ext cx="10241280" cy="457200"/>
          </a:xfrm>
          <a:prstGeom prst="rect">
            <a:avLst/>
          </a:prstGeom>
          <a:noFill/>
        </p:spPr>
        <p:txBody>
          <a:bodyPr wrap="square" anchor="t" lIns="0" rIns="0" tIns="0" bIns="0">
            <a:spAutoFit/>
          </a:bodyPr>
          <a:lstStyle/>
          <a:p>
            <a:pPr algn="l">
              <a:lnSpc>
                <a:spcPct val="102000"/>
              </a:lnSpc>
            </a:pPr>
            <a:r>
              <a:rPr sz="1150" b="1" i="0">
                <a:solidFill>
                  <a:srgbClr val="34E0A1"/>
                </a:solidFill>
                <a:latin typeface="Helvetica Neue"/>
              </a:rPr>
              <a:t>▸  </a:t>
            </a:r>
            <a:r>
              <a:rPr sz="1150" b="1" i="0">
                <a:solidFill>
                  <a:srgbClr val="FFFFFF"/>
                </a:solidFill>
                <a:latin typeface="Helvetica Neue"/>
              </a:rPr>
              <a:t>Pre-agree the decision rule. </a:t>
            </a:r>
            <a:r>
              <a:rPr sz="1150" b="0" i="0">
                <a:solidFill>
                  <a:srgbClr val="A7C3B8"/>
                </a:solidFill>
                <a:latin typeface="Helvetica Neue"/>
              </a:rPr>
              <a:t>We write down now what result cuts, keeps or scales the discount, so evidence decides, not opinion or seniority.</a:t>
            </a:r>
          </a:p>
        </p:txBody>
      </p:sp>
      <p:sp>
        <p:nvSpPr>
          <p:cNvPr id="17" name="TextBox 16"/>
          <p:cNvSpPr txBox="1"/>
          <p:nvPr/>
        </p:nvSpPr>
        <p:spPr>
          <a:xfrm>
            <a:off x="1051560" y="5358384"/>
            <a:ext cx="10241280" cy="457200"/>
          </a:xfrm>
          <a:prstGeom prst="rect">
            <a:avLst/>
          </a:prstGeom>
          <a:noFill/>
        </p:spPr>
        <p:txBody>
          <a:bodyPr wrap="square" anchor="t" lIns="0" rIns="0" tIns="0" bIns="0">
            <a:spAutoFit/>
          </a:bodyPr>
          <a:lstStyle/>
          <a:p>
            <a:pPr algn="l">
              <a:lnSpc>
                <a:spcPct val="102000"/>
              </a:lnSpc>
            </a:pPr>
            <a:r>
              <a:rPr sz="1150" b="1" i="0">
                <a:solidFill>
                  <a:srgbClr val="34E0A1"/>
                </a:solidFill>
                <a:latin typeface="Helvetica Neue"/>
              </a:rPr>
              <a:t>▸  </a:t>
            </a:r>
            <a:r>
              <a:rPr sz="1150" b="1" i="0">
                <a:solidFill>
                  <a:srgbClr val="FFFFFF"/>
                </a:solidFill>
                <a:latin typeface="Helvetica Neue"/>
              </a:rPr>
              <a:t>One live scorecard, both in the loop. </a:t>
            </a:r>
            <a:r>
              <a:rPr sz="1150" b="0" i="0">
                <a:solidFill>
                  <a:srgbClr val="A7C3B8"/>
                </a:solidFill>
                <a:latin typeface="Helvetica Neue"/>
              </a:rPr>
              <a:t>Finance and the Lead see the same weekly read of spend, bookings and incrementality. Visibility replaces the debate.</a:t>
            </a:r>
          </a:p>
        </p:txBody>
      </p:sp>
      <p:sp>
        <p:nvSpPr>
          <p:cNvPr id="18" name="TextBox 17"/>
          <p:cNvSpPr txBox="1"/>
          <p:nvPr/>
        </p:nvSpPr>
        <p:spPr>
          <a:xfrm>
            <a:off x="548640" y="6400800"/>
            <a:ext cx="7315200" cy="274320"/>
          </a:xfrm>
          <a:prstGeom prst="rect">
            <a:avLst/>
          </a:prstGeom>
          <a:noFill/>
        </p:spPr>
        <p:txBody>
          <a:bodyPr wrap="square" anchor="t" lIns="0" rIns="0" tIns="0" bIns="0">
            <a:spAutoFit/>
          </a:bodyPr>
          <a:lstStyle/>
          <a:p>
            <a:pPr algn="l">
              <a:lnSpc>
                <a:spcPct val="100000"/>
              </a:lnSpc>
            </a:pPr>
            <a:r>
              <a:rPr sz="900" b="0" i="0">
                <a:solidFill>
                  <a:srgbClr val="A7C3B8"/>
                </a:solidFill>
                <a:latin typeface="Helvetica Neue"/>
              </a:rPr>
              <a:t>Adrien Enjalbert  ·  AI Systems, Personalization &amp; Growth</a:t>
            </a:r>
          </a:p>
        </p:txBody>
      </p:sp>
      <p:sp>
        <p:nvSpPr>
          <p:cNvPr id="19" name="TextBox 18"/>
          <p:cNvSpPr txBox="1"/>
          <p:nvPr/>
        </p:nvSpPr>
        <p:spPr>
          <a:xfrm>
            <a:off x="10911535" y="6400800"/>
            <a:ext cx="731520" cy="274320"/>
          </a:xfrm>
          <a:prstGeom prst="rect">
            <a:avLst/>
          </a:prstGeom>
          <a:noFill/>
        </p:spPr>
        <p:txBody>
          <a:bodyPr wrap="square" anchor="t" lIns="0" rIns="0" tIns="0" bIns="0">
            <a:spAutoFit/>
          </a:bodyPr>
          <a:lstStyle/>
          <a:p>
            <a:pPr algn="r">
              <a:lnSpc>
                <a:spcPct val="100000"/>
              </a:lnSpc>
            </a:pPr>
            <a:r>
              <a:rPr sz="900" b="1" i="0">
                <a:solidFill>
                  <a:srgbClr val="A7C3B8"/>
                </a:solidFill>
                <a:latin typeface="Avenir Nex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640080"/>
            <a:ext cx="502920" cy="50292"/>
          </a:xfrm>
          <a:prstGeom prst="rect">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68680"/>
            <a:ext cx="7315200" cy="320040"/>
          </a:xfrm>
          <a:prstGeom prst="rect">
            <a:avLst/>
          </a:prstGeom>
          <a:noFill/>
        </p:spPr>
        <p:txBody>
          <a:bodyPr wrap="square" anchor="t" lIns="0" rIns="0" tIns="0" bIns="0">
            <a:spAutoFit/>
          </a:bodyPr>
          <a:lstStyle/>
          <a:p>
            <a:pPr algn="l">
              <a:lnSpc>
                <a:spcPct val="100000"/>
              </a:lnSpc>
            </a:pPr>
            <a:r>
              <a:rPr sz="1200" b="1" i="0">
                <a:solidFill>
                  <a:srgbClr val="00976E"/>
                </a:solidFill>
                <a:latin typeface="Avenir Next"/>
              </a:rPr>
              <a:t>IN PRACTICE  ·  PART 4  ·  CHANGE MANAGEMENT</a:t>
            </a:r>
          </a:p>
        </p:txBody>
      </p:sp>
      <p:sp>
        <p:nvSpPr>
          <p:cNvPr id="5" name="TextBox 4"/>
          <p:cNvSpPr txBox="1"/>
          <p:nvPr/>
        </p:nvSpPr>
        <p:spPr>
          <a:xfrm>
            <a:off x="731520" y="1188720"/>
            <a:ext cx="10881360" cy="914400"/>
          </a:xfrm>
          <a:prstGeom prst="rect">
            <a:avLst/>
          </a:prstGeom>
          <a:noFill/>
        </p:spPr>
        <p:txBody>
          <a:bodyPr wrap="square" anchor="t" lIns="0" rIns="0" tIns="0" bIns="0">
            <a:spAutoFit/>
          </a:bodyPr>
          <a:lstStyle/>
          <a:p>
            <a:pPr algn="l">
              <a:lnSpc>
                <a:spcPct val="100000"/>
              </a:lnSpc>
            </a:pPr>
            <a:r>
              <a:rPr sz="2800" b="1" i="0">
                <a:solidFill>
                  <a:srgbClr val="13221C"/>
                </a:solidFill>
                <a:latin typeface="Avenir Next"/>
              </a:rPr>
              <a:t>Land it with small wins, not a big-bang rollout.</a:t>
            </a:r>
          </a:p>
        </p:txBody>
      </p:sp>
      <p:sp>
        <p:nvSpPr>
          <p:cNvPr id="6" name="TextBox 5"/>
          <p:cNvSpPr txBox="1"/>
          <p:nvPr/>
        </p:nvSpPr>
        <p:spPr>
          <a:xfrm>
            <a:off x="777240" y="2103120"/>
            <a:ext cx="10424160" cy="594360"/>
          </a:xfrm>
          <a:prstGeom prst="rect">
            <a:avLst/>
          </a:prstGeom>
          <a:noFill/>
        </p:spPr>
        <p:txBody>
          <a:bodyPr wrap="square" anchor="t" lIns="0" rIns="0" tIns="0" bIns="0">
            <a:spAutoFit/>
          </a:bodyPr>
          <a:lstStyle/>
          <a:p>
            <a:pPr algn="l">
              <a:lnSpc>
                <a:spcPct val="108000"/>
              </a:lnSpc>
            </a:pPr>
            <a:r>
              <a:rPr sz="1350" b="0" i="0">
                <a:solidFill>
                  <a:srgbClr val="53635C"/>
                </a:solidFill>
                <a:latin typeface="Helvetica Neue"/>
              </a:rPr>
              <a:t>A large, resource-constrained org with shifting priorities rewards proof over promises. So I'd earn trust and budget in stages, keeping dependencies small at each step.</a:t>
            </a:r>
          </a:p>
        </p:txBody>
      </p:sp>
      <p:sp>
        <p:nvSpPr>
          <p:cNvPr id="7" name="Rounded Rectangle 6"/>
          <p:cNvSpPr/>
          <p:nvPr/>
        </p:nvSpPr>
        <p:spPr>
          <a:xfrm>
            <a:off x="777240" y="2926080"/>
            <a:ext cx="2651760" cy="288036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926080"/>
            <a:ext cx="2651760" cy="82296"/>
          </a:xfrm>
          <a:prstGeom prst="rect">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5" y="3182112"/>
            <a:ext cx="2286000" cy="320040"/>
          </a:xfrm>
          <a:prstGeom prst="rect">
            <a:avLst/>
          </a:prstGeom>
          <a:noFill/>
        </p:spPr>
        <p:txBody>
          <a:bodyPr wrap="square" anchor="t" lIns="0" rIns="0" tIns="0" bIns="0">
            <a:spAutoFit/>
          </a:bodyPr>
          <a:lstStyle/>
          <a:p>
            <a:pPr algn="l">
              <a:lnSpc>
                <a:spcPct val="100000"/>
              </a:lnSpc>
            </a:pPr>
            <a:r>
              <a:rPr sz="1050" b="1" i="0">
                <a:solidFill>
                  <a:srgbClr val="00976E"/>
                </a:solidFill>
                <a:latin typeface="Avenir Next"/>
              </a:rPr>
              <a:t>WEEKS 0–4</a:t>
            </a:r>
          </a:p>
        </p:txBody>
      </p:sp>
      <p:sp>
        <p:nvSpPr>
          <p:cNvPr id="10" name="TextBox 9"/>
          <p:cNvSpPr txBox="1"/>
          <p:nvPr/>
        </p:nvSpPr>
        <p:spPr>
          <a:xfrm>
            <a:off x="996695" y="3529584"/>
            <a:ext cx="2240279" cy="457200"/>
          </a:xfrm>
          <a:prstGeom prst="rect">
            <a:avLst/>
          </a:prstGeom>
          <a:noFill/>
        </p:spPr>
        <p:txBody>
          <a:bodyPr wrap="square" anchor="t" lIns="0" rIns="0" tIns="0" bIns="0">
            <a:spAutoFit/>
          </a:bodyPr>
          <a:lstStyle/>
          <a:p>
            <a:pPr algn="l">
              <a:lnSpc>
                <a:spcPct val="98000"/>
              </a:lnSpc>
            </a:pPr>
            <a:r>
              <a:rPr sz="1500" b="1" i="0">
                <a:solidFill>
                  <a:srgbClr val="13221C"/>
                </a:solidFill>
                <a:latin typeface="Avenir Next"/>
              </a:rPr>
              <a:t>Prove the data</a:t>
            </a:r>
          </a:p>
        </p:txBody>
      </p:sp>
      <p:sp>
        <p:nvSpPr>
          <p:cNvPr id="11" name="TextBox 10"/>
          <p:cNvSpPr txBox="1"/>
          <p:nvPr/>
        </p:nvSpPr>
        <p:spPr>
          <a:xfrm>
            <a:off x="996695" y="4069080"/>
            <a:ext cx="2240279" cy="1280160"/>
          </a:xfrm>
          <a:prstGeom prst="rect">
            <a:avLst/>
          </a:prstGeom>
          <a:noFill/>
        </p:spPr>
        <p:txBody>
          <a:bodyPr wrap="square" anchor="t" lIns="0" rIns="0" tIns="0" bIns="0">
            <a:spAutoFit/>
          </a:bodyPr>
          <a:lstStyle/>
          <a:p>
            <a:pPr algn="l">
              <a:lnSpc>
                <a:spcPct val="106000"/>
              </a:lnSpc>
            </a:pPr>
            <a:r>
              <a:rPr sz="1100" b="0" i="0">
                <a:solidFill>
                  <a:srgbClr val="53635C"/>
                </a:solidFill>
                <a:latin typeface="Helvetica Neue"/>
              </a:rPr>
              <a:t>Data clean-up + re-run the France/Italy holdout. First visible win: numbers people trust.</a:t>
            </a:r>
          </a:p>
        </p:txBody>
      </p:sp>
      <p:sp>
        <p:nvSpPr>
          <p:cNvPr id="12" name="Rounded Rectangle 11"/>
          <p:cNvSpPr/>
          <p:nvPr/>
        </p:nvSpPr>
        <p:spPr>
          <a:xfrm>
            <a:off x="996695" y="5257800"/>
            <a:ext cx="2212848" cy="411480"/>
          </a:xfrm>
          <a:prstGeom prst="roundRect">
            <a:avLst>
              <a:gd name="adj" fmla="val 6000"/>
            </a:avLst>
          </a:prstGeom>
          <a:solidFill>
            <a:srgbClr val="F5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5" y="5257800"/>
            <a:ext cx="2212848" cy="411480"/>
          </a:xfrm>
          <a:prstGeom prst="rect">
            <a:avLst/>
          </a:prstGeom>
          <a:noFill/>
        </p:spPr>
        <p:txBody>
          <a:bodyPr wrap="square" anchor="ctr" lIns="0" rIns="0" tIns="0" bIns="0">
            <a:spAutoFit/>
          </a:bodyPr>
          <a:lstStyle/>
          <a:p>
            <a:pPr algn="ctr">
              <a:lnSpc>
                <a:spcPct val="100000"/>
              </a:lnSpc>
            </a:pPr>
            <a:r>
              <a:rPr sz="950" b="1" i="0">
                <a:solidFill>
                  <a:srgbClr val="00543D"/>
                </a:solidFill>
                <a:latin typeface="Avenir Next"/>
              </a:rPr>
              <a:t>No engineering ask yet</a:t>
            </a:r>
          </a:p>
        </p:txBody>
      </p:sp>
      <p:sp>
        <p:nvSpPr>
          <p:cNvPr id="14" name="Rounded Rectangle 13"/>
          <p:cNvSpPr/>
          <p:nvPr/>
        </p:nvSpPr>
        <p:spPr>
          <a:xfrm>
            <a:off x="3593592" y="2926080"/>
            <a:ext cx="2651760" cy="288036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93592" y="2926080"/>
            <a:ext cx="2651760" cy="82296"/>
          </a:xfrm>
          <a:prstGeom prst="rect">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13048" y="3182112"/>
            <a:ext cx="2286000" cy="320040"/>
          </a:xfrm>
          <a:prstGeom prst="rect">
            <a:avLst/>
          </a:prstGeom>
          <a:noFill/>
        </p:spPr>
        <p:txBody>
          <a:bodyPr wrap="square" anchor="t" lIns="0" rIns="0" tIns="0" bIns="0">
            <a:spAutoFit/>
          </a:bodyPr>
          <a:lstStyle/>
          <a:p>
            <a:pPr algn="l">
              <a:lnSpc>
                <a:spcPct val="100000"/>
              </a:lnSpc>
            </a:pPr>
            <a:r>
              <a:rPr sz="1050" b="1" i="0">
                <a:solidFill>
                  <a:srgbClr val="00976E"/>
                </a:solidFill>
                <a:latin typeface="Avenir Next"/>
              </a:rPr>
              <a:t>WEEKS 4–10</a:t>
            </a:r>
          </a:p>
        </p:txBody>
      </p:sp>
      <p:sp>
        <p:nvSpPr>
          <p:cNvPr id="17" name="TextBox 16"/>
          <p:cNvSpPr txBox="1"/>
          <p:nvPr/>
        </p:nvSpPr>
        <p:spPr>
          <a:xfrm>
            <a:off x="3813048" y="3529584"/>
            <a:ext cx="2240279" cy="457200"/>
          </a:xfrm>
          <a:prstGeom prst="rect">
            <a:avLst/>
          </a:prstGeom>
          <a:noFill/>
        </p:spPr>
        <p:txBody>
          <a:bodyPr wrap="square" anchor="t" lIns="0" rIns="0" tIns="0" bIns="0">
            <a:spAutoFit/>
          </a:bodyPr>
          <a:lstStyle/>
          <a:p>
            <a:pPr algn="l">
              <a:lnSpc>
                <a:spcPct val="98000"/>
              </a:lnSpc>
            </a:pPr>
            <a:r>
              <a:rPr sz="1500" b="1" i="0">
                <a:solidFill>
                  <a:srgbClr val="13221C"/>
                </a:solidFill>
                <a:latin typeface="Avenir Next"/>
              </a:rPr>
              <a:t>Prove the loop</a:t>
            </a:r>
          </a:p>
        </p:txBody>
      </p:sp>
      <p:sp>
        <p:nvSpPr>
          <p:cNvPr id="18" name="TextBox 17"/>
          <p:cNvSpPr txBox="1"/>
          <p:nvPr/>
        </p:nvSpPr>
        <p:spPr>
          <a:xfrm>
            <a:off x="3813048" y="4069080"/>
            <a:ext cx="2240279" cy="1280160"/>
          </a:xfrm>
          <a:prstGeom prst="rect">
            <a:avLst/>
          </a:prstGeom>
          <a:noFill/>
        </p:spPr>
        <p:txBody>
          <a:bodyPr wrap="square" anchor="t" lIns="0" rIns="0" tIns="0" bIns="0">
            <a:spAutoFit/>
          </a:bodyPr>
          <a:lstStyle/>
          <a:p>
            <a:pPr algn="l">
              <a:lnSpc>
                <a:spcPct val="106000"/>
              </a:lnSpc>
            </a:pPr>
            <a:r>
              <a:rPr sz="1100" b="0" i="0">
                <a:solidFill>
                  <a:srgbClr val="53635C"/>
                </a:solidFill>
                <a:latin typeface="Helvetica Neue"/>
              </a:rPr>
              <a:t>Ship the spec + learning-brief generator with one friendly team. One experiment, start to finish.</a:t>
            </a:r>
          </a:p>
        </p:txBody>
      </p:sp>
      <p:sp>
        <p:nvSpPr>
          <p:cNvPr id="19" name="Rounded Rectangle 18"/>
          <p:cNvSpPr/>
          <p:nvPr/>
        </p:nvSpPr>
        <p:spPr>
          <a:xfrm>
            <a:off x="3813048" y="5257800"/>
            <a:ext cx="2212848" cy="411480"/>
          </a:xfrm>
          <a:prstGeom prst="roundRect">
            <a:avLst>
              <a:gd name="adj" fmla="val 6000"/>
            </a:avLst>
          </a:prstGeom>
          <a:solidFill>
            <a:srgbClr val="F5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13048" y="5257800"/>
            <a:ext cx="2212848" cy="411480"/>
          </a:xfrm>
          <a:prstGeom prst="rect">
            <a:avLst/>
          </a:prstGeom>
          <a:noFill/>
        </p:spPr>
        <p:txBody>
          <a:bodyPr wrap="square" anchor="ctr" lIns="0" rIns="0" tIns="0" bIns="0">
            <a:spAutoFit/>
          </a:bodyPr>
          <a:lstStyle/>
          <a:p>
            <a:pPr algn="ctr">
              <a:lnSpc>
                <a:spcPct val="100000"/>
              </a:lnSpc>
            </a:pPr>
            <a:r>
              <a:rPr sz="950" b="1" i="0">
                <a:solidFill>
                  <a:srgbClr val="00543D"/>
                </a:solidFill>
                <a:latin typeface="Avenir Next"/>
              </a:rPr>
              <a:t>1 engineer, 1 team</a:t>
            </a:r>
          </a:p>
        </p:txBody>
      </p:sp>
      <p:sp>
        <p:nvSpPr>
          <p:cNvPr id="21" name="Rounded Rectangle 20"/>
          <p:cNvSpPr/>
          <p:nvPr/>
        </p:nvSpPr>
        <p:spPr>
          <a:xfrm>
            <a:off x="6409944" y="2926080"/>
            <a:ext cx="2651760" cy="288036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9944" y="2926080"/>
            <a:ext cx="2651760" cy="82296"/>
          </a:xfrm>
          <a:prstGeom prst="rect">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29400" y="3182112"/>
            <a:ext cx="2286000" cy="320040"/>
          </a:xfrm>
          <a:prstGeom prst="rect">
            <a:avLst/>
          </a:prstGeom>
          <a:noFill/>
        </p:spPr>
        <p:txBody>
          <a:bodyPr wrap="square" anchor="t" lIns="0" rIns="0" tIns="0" bIns="0">
            <a:spAutoFit/>
          </a:bodyPr>
          <a:lstStyle/>
          <a:p>
            <a:pPr algn="l">
              <a:lnSpc>
                <a:spcPct val="100000"/>
              </a:lnSpc>
            </a:pPr>
            <a:r>
              <a:rPr sz="1050" b="1" i="0">
                <a:solidFill>
                  <a:srgbClr val="00976E"/>
                </a:solidFill>
                <a:latin typeface="Avenir Next"/>
              </a:rPr>
              <a:t>WEEKS 10–20</a:t>
            </a:r>
          </a:p>
        </p:txBody>
      </p:sp>
      <p:sp>
        <p:nvSpPr>
          <p:cNvPr id="24" name="TextBox 23"/>
          <p:cNvSpPr txBox="1"/>
          <p:nvPr/>
        </p:nvSpPr>
        <p:spPr>
          <a:xfrm>
            <a:off x="6629400" y="3529584"/>
            <a:ext cx="2240279" cy="457200"/>
          </a:xfrm>
          <a:prstGeom prst="rect">
            <a:avLst/>
          </a:prstGeom>
          <a:noFill/>
        </p:spPr>
        <p:txBody>
          <a:bodyPr wrap="square" anchor="t" lIns="0" rIns="0" tIns="0" bIns="0">
            <a:spAutoFit/>
          </a:bodyPr>
          <a:lstStyle/>
          <a:p>
            <a:pPr algn="l">
              <a:lnSpc>
                <a:spcPct val="98000"/>
              </a:lnSpc>
            </a:pPr>
            <a:r>
              <a:rPr sz="1500" b="1" i="0">
                <a:solidFill>
                  <a:srgbClr val="13221C"/>
                </a:solidFill>
                <a:latin typeface="Avenir Next"/>
              </a:rPr>
              <a:t>Prove the value</a:t>
            </a:r>
          </a:p>
        </p:txBody>
      </p:sp>
      <p:sp>
        <p:nvSpPr>
          <p:cNvPr id="25" name="TextBox 24"/>
          <p:cNvSpPr txBox="1"/>
          <p:nvPr/>
        </p:nvSpPr>
        <p:spPr>
          <a:xfrm>
            <a:off x="6629400" y="4069080"/>
            <a:ext cx="2240279" cy="1280160"/>
          </a:xfrm>
          <a:prstGeom prst="rect">
            <a:avLst/>
          </a:prstGeom>
          <a:noFill/>
        </p:spPr>
        <p:txBody>
          <a:bodyPr wrap="square" anchor="t" lIns="0" rIns="0" tIns="0" bIns="0">
            <a:spAutoFit/>
          </a:bodyPr>
          <a:lstStyle/>
          <a:p>
            <a:pPr algn="l">
              <a:lnSpc>
                <a:spcPct val="106000"/>
              </a:lnSpc>
            </a:pPr>
            <a:r>
              <a:rPr sz="1100" b="0" i="0">
                <a:solidFill>
                  <a:srgbClr val="53635C"/>
                </a:solidFill>
                <a:latin typeface="Helvetica Neue"/>
              </a:rPr>
              <a:t>Show time-to-launch down and a saving from the repeat-customer holdout. Take it to Finance.</a:t>
            </a:r>
          </a:p>
        </p:txBody>
      </p:sp>
      <p:sp>
        <p:nvSpPr>
          <p:cNvPr id="26" name="Rounded Rectangle 25"/>
          <p:cNvSpPr/>
          <p:nvPr/>
        </p:nvSpPr>
        <p:spPr>
          <a:xfrm>
            <a:off x="6629400" y="5257800"/>
            <a:ext cx="2212848" cy="411480"/>
          </a:xfrm>
          <a:prstGeom prst="roundRect">
            <a:avLst>
              <a:gd name="adj" fmla="val 6000"/>
            </a:avLst>
          </a:prstGeom>
          <a:solidFill>
            <a:srgbClr val="F5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29400" y="5257800"/>
            <a:ext cx="2212848" cy="411480"/>
          </a:xfrm>
          <a:prstGeom prst="rect">
            <a:avLst/>
          </a:prstGeom>
          <a:noFill/>
        </p:spPr>
        <p:txBody>
          <a:bodyPr wrap="square" anchor="ctr" lIns="0" rIns="0" tIns="0" bIns="0">
            <a:spAutoFit/>
          </a:bodyPr>
          <a:lstStyle/>
          <a:p>
            <a:pPr algn="ctr">
              <a:lnSpc>
                <a:spcPct val="100000"/>
              </a:lnSpc>
            </a:pPr>
            <a:r>
              <a:rPr sz="950" b="1" i="0">
                <a:solidFill>
                  <a:srgbClr val="00543D"/>
                </a:solidFill>
                <a:latin typeface="Avenir Next"/>
              </a:rPr>
              <a:t>Exec sponsor, scorecard</a:t>
            </a:r>
          </a:p>
        </p:txBody>
      </p:sp>
      <p:sp>
        <p:nvSpPr>
          <p:cNvPr id="28" name="Rounded Rectangle 27"/>
          <p:cNvSpPr/>
          <p:nvPr/>
        </p:nvSpPr>
        <p:spPr>
          <a:xfrm>
            <a:off x="9226296" y="2926080"/>
            <a:ext cx="2651760" cy="2880360"/>
          </a:xfrm>
          <a:prstGeom prst="roundRect">
            <a:avLst>
              <a:gd name="adj" fmla="val 6000"/>
            </a:avLst>
          </a:prstGeom>
          <a:solidFill>
            <a:srgbClr val="FFFFFF"/>
          </a:solidFill>
          <a:ln w="12700">
            <a:solidFill>
              <a:srgbClr val="DDE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226296" y="2926080"/>
            <a:ext cx="2651760" cy="82296"/>
          </a:xfrm>
          <a:prstGeom prst="rect">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45752" y="3182112"/>
            <a:ext cx="2286000" cy="320040"/>
          </a:xfrm>
          <a:prstGeom prst="rect">
            <a:avLst/>
          </a:prstGeom>
          <a:noFill/>
        </p:spPr>
        <p:txBody>
          <a:bodyPr wrap="square" anchor="t" lIns="0" rIns="0" tIns="0" bIns="0">
            <a:spAutoFit/>
          </a:bodyPr>
          <a:lstStyle/>
          <a:p>
            <a:pPr algn="l">
              <a:lnSpc>
                <a:spcPct val="100000"/>
              </a:lnSpc>
            </a:pPr>
            <a:r>
              <a:rPr sz="1050" b="1" i="0">
                <a:solidFill>
                  <a:srgbClr val="00976E"/>
                </a:solidFill>
                <a:latin typeface="Avenir Next"/>
              </a:rPr>
              <a:t>QUARTER 2+</a:t>
            </a:r>
          </a:p>
        </p:txBody>
      </p:sp>
      <p:sp>
        <p:nvSpPr>
          <p:cNvPr id="31" name="TextBox 30"/>
          <p:cNvSpPr txBox="1"/>
          <p:nvPr/>
        </p:nvSpPr>
        <p:spPr>
          <a:xfrm>
            <a:off x="9445752" y="3529584"/>
            <a:ext cx="2240279" cy="457200"/>
          </a:xfrm>
          <a:prstGeom prst="rect">
            <a:avLst/>
          </a:prstGeom>
          <a:noFill/>
        </p:spPr>
        <p:txBody>
          <a:bodyPr wrap="square" anchor="t" lIns="0" rIns="0" tIns="0" bIns="0">
            <a:spAutoFit/>
          </a:bodyPr>
          <a:lstStyle/>
          <a:p>
            <a:pPr algn="l">
              <a:lnSpc>
                <a:spcPct val="98000"/>
              </a:lnSpc>
            </a:pPr>
            <a:r>
              <a:rPr sz="1500" b="1" i="0">
                <a:solidFill>
                  <a:srgbClr val="13221C"/>
                </a:solidFill>
                <a:latin typeface="Avenir Next"/>
              </a:rPr>
              <a:t>Expand</a:t>
            </a:r>
          </a:p>
        </p:txBody>
      </p:sp>
      <p:sp>
        <p:nvSpPr>
          <p:cNvPr id="32" name="TextBox 31"/>
          <p:cNvSpPr txBox="1"/>
          <p:nvPr/>
        </p:nvSpPr>
        <p:spPr>
          <a:xfrm>
            <a:off x="9445752" y="4069080"/>
            <a:ext cx="2240279" cy="1280160"/>
          </a:xfrm>
          <a:prstGeom prst="rect">
            <a:avLst/>
          </a:prstGeom>
          <a:noFill/>
        </p:spPr>
        <p:txBody>
          <a:bodyPr wrap="square" anchor="t" lIns="0" rIns="0" tIns="0" bIns="0">
            <a:spAutoFit/>
          </a:bodyPr>
          <a:lstStyle/>
          <a:p>
            <a:pPr algn="l">
              <a:lnSpc>
                <a:spcPct val="106000"/>
              </a:lnSpc>
            </a:pPr>
            <a:r>
              <a:rPr sz="1100" b="0" i="0">
                <a:solidFill>
                  <a:srgbClr val="53635C"/>
                </a:solidFill>
                <a:latin typeface="Helvetica Neue"/>
              </a:rPr>
              <a:t>Add QA, then earn the recommendation engine. Widen to more markets and teams.</a:t>
            </a:r>
          </a:p>
        </p:txBody>
      </p:sp>
      <p:sp>
        <p:nvSpPr>
          <p:cNvPr id="33" name="Rounded Rectangle 32"/>
          <p:cNvSpPr/>
          <p:nvPr/>
        </p:nvSpPr>
        <p:spPr>
          <a:xfrm>
            <a:off x="9445752" y="5257800"/>
            <a:ext cx="2212848" cy="411480"/>
          </a:xfrm>
          <a:prstGeom prst="roundRect">
            <a:avLst>
              <a:gd name="adj" fmla="val 6000"/>
            </a:avLst>
          </a:prstGeom>
          <a:solidFill>
            <a:srgbClr val="F5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45752" y="5257800"/>
            <a:ext cx="2212848" cy="411480"/>
          </a:xfrm>
          <a:prstGeom prst="rect">
            <a:avLst/>
          </a:prstGeom>
          <a:noFill/>
        </p:spPr>
        <p:txBody>
          <a:bodyPr wrap="square" anchor="ctr" lIns="0" rIns="0" tIns="0" bIns="0">
            <a:spAutoFit/>
          </a:bodyPr>
          <a:lstStyle/>
          <a:p>
            <a:pPr algn="ctr">
              <a:lnSpc>
                <a:spcPct val="100000"/>
              </a:lnSpc>
            </a:pPr>
            <a:r>
              <a:rPr sz="950" b="1" i="0">
                <a:solidFill>
                  <a:srgbClr val="00543D"/>
                </a:solidFill>
                <a:latin typeface="Avenir Next"/>
              </a:rPr>
              <a:t>Wider resource, on evidence</a:t>
            </a:r>
          </a:p>
        </p:txBody>
      </p:sp>
      <p:sp>
        <p:nvSpPr>
          <p:cNvPr id="35" name="TextBox 34"/>
          <p:cNvSpPr txBox="1"/>
          <p:nvPr/>
        </p:nvSpPr>
        <p:spPr>
          <a:xfrm>
            <a:off x="548640" y="6400800"/>
            <a:ext cx="7315200" cy="274320"/>
          </a:xfrm>
          <a:prstGeom prst="rect">
            <a:avLst/>
          </a:prstGeom>
          <a:noFill/>
        </p:spPr>
        <p:txBody>
          <a:bodyPr wrap="square" anchor="t" lIns="0" rIns="0" tIns="0" bIns="0">
            <a:spAutoFit/>
          </a:bodyPr>
          <a:lstStyle/>
          <a:p>
            <a:pPr algn="l">
              <a:lnSpc>
                <a:spcPct val="100000"/>
              </a:lnSpc>
            </a:pPr>
            <a:r>
              <a:rPr sz="900" b="0" i="0">
                <a:solidFill>
                  <a:srgbClr val="53635C"/>
                </a:solidFill>
                <a:latin typeface="Helvetica Neue"/>
              </a:rPr>
              <a:t>Adrien Enjalbert  ·  AI Systems, Personalization &amp; Growth</a:t>
            </a:r>
          </a:p>
        </p:txBody>
      </p:sp>
      <p:sp>
        <p:nvSpPr>
          <p:cNvPr id="36" name="TextBox 35"/>
          <p:cNvSpPr txBox="1"/>
          <p:nvPr/>
        </p:nvSpPr>
        <p:spPr>
          <a:xfrm>
            <a:off x="10911535" y="6400800"/>
            <a:ext cx="731520" cy="274320"/>
          </a:xfrm>
          <a:prstGeom prst="rect">
            <a:avLst/>
          </a:prstGeom>
          <a:noFill/>
        </p:spPr>
        <p:txBody>
          <a:bodyPr wrap="square" anchor="t" lIns="0" rIns="0" tIns="0" bIns="0">
            <a:spAutoFit/>
          </a:bodyPr>
          <a:lstStyle/>
          <a:p>
            <a:pPr algn="r">
              <a:lnSpc>
                <a:spcPct val="100000"/>
              </a:lnSpc>
            </a:pPr>
            <a:r>
              <a:rPr sz="900" b="1" i="0">
                <a:solidFill>
                  <a:srgbClr val="53635C"/>
                </a:solidFill>
                <a:latin typeface="Avenir Nex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41280" y="548640"/>
            <a:ext cx="1645920" cy="1645920"/>
          </a:xfrm>
          <a:prstGeom prst="ellipse">
            <a:avLst/>
          </a:prstGeom>
          <a:solidFill>
            <a:srgbClr val="122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338560" y="4480560"/>
            <a:ext cx="1005840" cy="1005840"/>
          </a:xfrm>
          <a:prstGeom prst="ellipse">
            <a:avLst/>
          </a:prstGeom>
          <a:solidFill>
            <a:srgbClr val="005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326880" y="5577840"/>
            <a:ext cx="822960" cy="822960"/>
          </a:xfrm>
          <a:prstGeom prst="ellipse">
            <a:avLst/>
          </a:prstGeom>
          <a:solidFill>
            <a:srgbClr val="122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234440"/>
            <a:ext cx="502920" cy="50292"/>
          </a:xfrm>
          <a:prstGeom prst="rect">
            <a:avLst/>
          </a:prstGeom>
          <a:solidFill>
            <a:srgbClr val="34E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63040"/>
            <a:ext cx="7315200" cy="320040"/>
          </a:xfrm>
          <a:prstGeom prst="rect">
            <a:avLst/>
          </a:prstGeom>
          <a:noFill/>
        </p:spPr>
        <p:txBody>
          <a:bodyPr wrap="square" anchor="t" lIns="0" rIns="0" tIns="0" bIns="0">
            <a:spAutoFit/>
          </a:bodyPr>
          <a:lstStyle/>
          <a:p>
            <a:pPr algn="l">
              <a:lnSpc>
                <a:spcPct val="100000"/>
              </a:lnSpc>
            </a:pPr>
            <a:r>
              <a:rPr sz="1200" b="1" i="0">
                <a:solidFill>
                  <a:srgbClr val="34E0A1"/>
                </a:solidFill>
                <a:latin typeface="Avenir Next"/>
              </a:rPr>
              <a:t>THE ONE IDEA</a:t>
            </a:r>
          </a:p>
        </p:txBody>
      </p:sp>
      <p:sp>
        <p:nvSpPr>
          <p:cNvPr id="8" name="TextBox 7"/>
          <p:cNvSpPr txBox="1"/>
          <p:nvPr/>
        </p:nvSpPr>
        <p:spPr>
          <a:xfrm>
            <a:off x="731520" y="1828800"/>
            <a:ext cx="10241280" cy="2103120"/>
          </a:xfrm>
          <a:prstGeom prst="rect">
            <a:avLst/>
          </a:prstGeom>
          <a:noFill/>
        </p:spPr>
        <p:txBody>
          <a:bodyPr wrap="square" anchor="t" lIns="0" rIns="0" tIns="0" bIns="0">
            <a:spAutoFit/>
          </a:bodyPr>
          <a:lstStyle/>
          <a:p>
            <a:pPr algn="l">
              <a:lnSpc>
                <a:spcPct val="105000"/>
              </a:lnSpc>
            </a:pPr>
            <a:r>
              <a:rPr sz="3000" b="1" i="0">
                <a:solidFill>
                  <a:srgbClr val="FFFFFF"/>
                </a:solidFill>
                <a:latin typeface="Avenir Next"/>
              </a:rPr>
              <a:t>The flat 15% isn't a discount strategy.</a:t>
            </a:r>
          </a:p>
          <a:p>
            <a:pPr algn="l">
              <a:lnSpc>
                <a:spcPct val="105000"/>
              </a:lnSpc>
            </a:pPr>
            <a:r>
              <a:rPr sz="3000" b="1" i="0">
                <a:solidFill>
                  <a:srgbClr val="FFFFFF"/>
                </a:solidFill>
                <a:latin typeface="Avenir Next"/>
              </a:rPr>
              <a:t>It's an </a:t>
            </a:r>
            <a:r>
              <a:rPr sz="3000" b="1" i="0">
                <a:solidFill>
                  <a:srgbClr val="34E0A1"/>
                </a:solidFill>
                <a:latin typeface="Avenir Next"/>
              </a:rPr>
              <a:t>un-tested assumption</a:t>
            </a:r>
            <a:r>
              <a:rPr sz="3000" b="1" i="0">
                <a:solidFill>
                  <a:srgbClr val="FFFFFF"/>
                </a:solidFill>
                <a:latin typeface="Avenir Next"/>
              </a:rPr>
              <a:t> running across nine segments.</a:t>
            </a:r>
          </a:p>
        </p:txBody>
      </p:sp>
      <p:sp>
        <p:nvSpPr>
          <p:cNvPr id="9" name="TextBox 8"/>
          <p:cNvSpPr txBox="1"/>
          <p:nvPr/>
        </p:nvSpPr>
        <p:spPr>
          <a:xfrm>
            <a:off x="777240" y="3977639"/>
            <a:ext cx="9875520" cy="822960"/>
          </a:xfrm>
          <a:prstGeom prst="rect">
            <a:avLst/>
          </a:prstGeom>
          <a:noFill/>
        </p:spPr>
        <p:txBody>
          <a:bodyPr wrap="square" anchor="t" lIns="0" rIns="0" tIns="0" bIns="0">
            <a:spAutoFit/>
          </a:bodyPr>
          <a:lstStyle/>
          <a:p>
            <a:pPr algn="l">
              <a:lnSpc>
                <a:spcPct val="112000"/>
              </a:lnSpc>
            </a:pPr>
            <a:r>
              <a:rPr sz="1500" b="0" i="0">
                <a:solidFill>
                  <a:srgbClr val="A7C3B8"/>
                </a:solidFill>
                <a:latin typeface="Helvetica Neue"/>
              </a:rPr>
              <a:t>My whole submission is one move: make the assumption testable, build the loop that learns faster than we can argue, and land it with the data, integration, UX and buy-in that make it stick.</a:t>
            </a:r>
          </a:p>
        </p:txBody>
      </p:sp>
      <p:sp>
        <p:nvSpPr>
          <p:cNvPr id="10" name="Rounded Rectangle 9"/>
          <p:cNvSpPr/>
          <p:nvPr/>
        </p:nvSpPr>
        <p:spPr>
          <a:xfrm>
            <a:off x="777240" y="5029200"/>
            <a:ext cx="10652760" cy="960120"/>
          </a:xfrm>
          <a:prstGeom prst="roundRect">
            <a:avLst>
              <a:gd name="adj" fmla="val 6000"/>
            </a:avLst>
          </a:prstGeom>
          <a:solidFill>
            <a:srgbClr val="0E1F18"/>
          </a:solidFill>
          <a:ln w="12700">
            <a:solidFill>
              <a:srgbClr val="0054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5138928"/>
            <a:ext cx="2743200" cy="365760"/>
          </a:xfrm>
          <a:prstGeom prst="rect">
            <a:avLst/>
          </a:prstGeom>
          <a:noFill/>
        </p:spPr>
        <p:txBody>
          <a:bodyPr wrap="square" anchor="t" lIns="0" rIns="0" tIns="0" bIns="0">
            <a:spAutoFit/>
          </a:bodyPr>
          <a:lstStyle/>
          <a:p>
            <a:pPr algn="l">
              <a:lnSpc>
                <a:spcPct val="100000"/>
              </a:lnSpc>
            </a:pPr>
            <a:r>
              <a:rPr sz="1100" b="1" i="0">
                <a:solidFill>
                  <a:srgbClr val="34E0A1"/>
                </a:solidFill>
                <a:latin typeface="Avenir Next"/>
              </a:rPr>
              <a:t>TO START, I'D NEED</a:t>
            </a:r>
          </a:p>
        </p:txBody>
      </p:sp>
      <p:sp>
        <p:nvSpPr>
          <p:cNvPr id="12" name="TextBox 11"/>
          <p:cNvSpPr txBox="1"/>
          <p:nvPr/>
        </p:nvSpPr>
        <p:spPr>
          <a:xfrm>
            <a:off x="1051560" y="5468112"/>
            <a:ext cx="10241280" cy="457200"/>
          </a:xfrm>
          <a:prstGeom prst="rect">
            <a:avLst/>
          </a:prstGeom>
          <a:noFill/>
        </p:spPr>
        <p:txBody>
          <a:bodyPr wrap="square" anchor="t" lIns="0" rIns="0" tIns="0" bIns="0">
            <a:spAutoFit/>
          </a:bodyPr>
          <a:lstStyle/>
          <a:p>
            <a:pPr algn="l">
              <a:lnSpc>
                <a:spcPct val="100000"/>
              </a:lnSpc>
            </a:pPr>
            <a:r>
              <a:rPr sz="1200" b="0" i="0">
                <a:solidFill>
                  <a:srgbClr val="FFFFFF"/>
                </a:solidFill>
                <a:latin typeface="Helvetica Neue"/>
              </a:rPr>
              <a:t>✓ Access to warehouse &amp; experiment data      </a:t>
            </a:r>
            <a:r>
              <a:rPr sz="1200" b="0" i="0">
                <a:solidFill>
                  <a:srgbClr val="FFFFFF"/>
                </a:solidFill>
                <a:latin typeface="Helvetica Neue"/>
              </a:rPr>
              <a:t>✓ One engineer for the loop      </a:t>
            </a:r>
            <a:r>
              <a:rPr sz="1200" b="0" i="0">
                <a:solidFill>
                  <a:srgbClr val="FFFFFF"/>
                </a:solidFill>
                <a:latin typeface="Helvetica Neue"/>
              </a:rPr>
              <a:t>✓ An exec sponsor + a friendly first team</a:t>
            </a:r>
          </a:p>
        </p:txBody>
      </p:sp>
      <p:sp>
        <p:nvSpPr>
          <p:cNvPr id="13" name="TextBox 12"/>
          <p:cNvSpPr txBox="1"/>
          <p:nvPr/>
        </p:nvSpPr>
        <p:spPr>
          <a:xfrm>
            <a:off x="548640" y="6400800"/>
            <a:ext cx="7315200" cy="274320"/>
          </a:xfrm>
          <a:prstGeom prst="rect">
            <a:avLst/>
          </a:prstGeom>
          <a:noFill/>
        </p:spPr>
        <p:txBody>
          <a:bodyPr wrap="square" anchor="t" lIns="0" rIns="0" tIns="0" bIns="0">
            <a:spAutoFit/>
          </a:bodyPr>
          <a:lstStyle/>
          <a:p>
            <a:pPr algn="l">
              <a:lnSpc>
                <a:spcPct val="100000"/>
              </a:lnSpc>
            </a:pPr>
            <a:r>
              <a:rPr sz="900" b="0" i="0">
                <a:solidFill>
                  <a:srgbClr val="A7C3B8"/>
                </a:solidFill>
                <a:latin typeface="Helvetica Neue"/>
              </a:rPr>
              <a:t>Adrien Enjalbert  ·  AI Systems, Personalization &amp; Growth</a:t>
            </a:r>
          </a:p>
        </p:txBody>
      </p:sp>
      <p:sp>
        <p:nvSpPr>
          <p:cNvPr id="14" name="TextBox 13"/>
          <p:cNvSpPr txBox="1"/>
          <p:nvPr/>
        </p:nvSpPr>
        <p:spPr>
          <a:xfrm>
            <a:off x="10911535" y="6400800"/>
            <a:ext cx="731520" cy="274320"/>
          </a:xfrm>
          <a:prstGeom prst="rect">
            <a:avLst/>
          </a:prstGeom>
          <a:noFill/>
        </p:spPr>
        <p:txBody>
          <a:bodyPr wrap="square" anchor="t" lIns="0" rIns="0" tIns="0" bIns="0">
            <a:spAutoFit/>
          </a:bodyPr>
          <a:lstStyle/>
          <a:p>
            <a:pPr algn="r">
              <a:lnSpc>
                <a:spcPct val="100000"/>
              </a:lnSpc>
            </a:pPr>
            <a:r>
              <a:rPr sz="900" b="1" i="0">
                <a:solidFill>
                  <a:srgbClr val="A7C3B8"/>
                </a:solidFill>
                <a:latin typeface="Avenir Next"/>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